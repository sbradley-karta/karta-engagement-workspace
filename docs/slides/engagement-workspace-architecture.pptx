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left to right. The consultant only touches the browser, Claude, PowerPoint and Teams. Karta hosts two new things: the pages in our Claude account and a small deck builder on Google Cloud, at effectively zero cost. Every read of Asana or SharePoint runs as the person looking, so nobody sees an engagement they are not on. The only thing that leaves is a deck a named person approved, and a person sends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365760" y="292608"/>
            <a:ext cx="310896" cy="310896"/>
          </a:xfrm>
          <a:prstGeom prst="rect">
            <a:avLst/>
          </a:prstGeom>
        </p:spPr>
      </p:pic>
      <p:sp>
        <p:nvSpPr>
          <p:cNvPr id="3" name="Text 0"/>
          <p:cNvSpPr txBox="1"/>
          <p:nvPr/>
        </p:nvSpPr>
        <p:spPr>
          <a:xfrm>
            <a:off x="777240" y="228600"/>
            <a:ext cx="9326880" cy="438912"/>
          </a:xfrm>
          <a:prstGeom prst="rect">
            <a:avLst/>
          </a:prstGeom>
          <a:noFill/>
          <a:ln/>
        </p:spPr>
        <p:txBody>
          <a:bodyPr wrap="square" lIns="0" tIns="0" rIns="0" bIns="0" rtlCol="0" anchor="ctr"/>
          <a:lstStyle/>
          <a:p>
            <a:pPr indent="0" marL="0">
              <a:buNone/>
            </a:pPr>
            <a:r>
              <a:rPr lang="en-US" sz="2200" b="1" dirty="0">
                <a:solidFill>
                  <a:srgbClr val="113A2A"/>
                </a:solidFill>
                <a:latin typeface="Arial" pitchFamily="34" charset="0"/>
                <a:ea typeface="Arial" pitchFamily="34" charset="-122"/>
                <a:cs typeface="Arial" pitchFamily="34" charset="-120"/>
              </a:rPr>
              <a:t>Karta Engagement Workspace: what it is and where it lives</a:t>
            </a:r>
            <a:endParaRPr lang="en-US" sz="2200" dirty="0"/>
          </a:p>
        </p:txBody>
      </p:sp>
      <p:sp>
        <p:nvSpPr>
          <p:cNvPr id="4" name="Text 1"/>
          <p:cNvSpPr txBox="1"/>
          <p:nvPr/>
        </p:nvSpPr>
        <p:spPr>
          <a:xfrm>
            <a:off x="777240" y="694944"/>
            <a:ext cx="10972800" cy="384048"/>
          </a:xfrm>
          <a:prstGeom prst="rect">
            <a:avLst/>
          </a:prstGeom>
          <a:noFill/>
          <a:ln/>
        </p:spPr>
        <p:txBody>
          <a:bodyPr wrap="square" lIns="0" tIns="0" rIns="0" bIns="0" rtlCol="0" anchor="ctr"/>
          <a:lstStyle/>
          <a:p>
            <a:pPr indent="0" marL="0">
              <a:buNone/>
            </a:pPr>
            <a:r>
              <a:rPr lang="en-US" sz="1050" dirty="0">
                <a:solidFill>
                  <a:srgbClr val="6E6961"/>
                </a:solidFill>
                <a:latin typeface="Arial" pitchFamily="34" charset="0"/>
                <a:ea typeface="Arial" pitchFamily="34" charset="-122"/>
                <a:cs typeface="Arial" pitchFamily="34" charset="-120"/>
              </a:rPr>
              <a:t>One workspace page per engagement reads the tools we already use, drafts the weekly status with Claude, and hands a finished deck to a named person who approves it. Client data stays where it lives today.</a:t>
            </a:r>
            <a:endParaRPr lang="en-US" sz="1050" dirty="0"/>
          </a:p>
        </p:txBody>
      </p:sp>
      <p:sp>
        <p:nvSpPr>
          <p:cNvPr id="5" name="Shape 2"/>
          <p:cNvSpPr/>
          <p:nvPr/>
        </p:nvSpPr>
        <p:spPr>
          <a:xfrm>
            <a:off x="365760" y="1170432"/>
            <a:ext cx="2194560" cy="4160520"/>
          </a:xfrm>
          <a:prstGeom prst="roundRect">
            <a:avLst>
              <a:gd name="adj" fmla="val 5000"/>
            </a:avLst>
          </a:prstGeom>
          <a:solidFill>
            <a:srgbClr val="FFFFFF"/>
          </a:solidFill>
          <a:ln w="12700">
            <a:solidFill>
              <a:srgbClr val="C9C5BE"/>
            </a:solidFill>
            <a:prstDash val="sysDot"/>
          </a:ln>
        </p:spPr>
      </p:sp>
      <p:sp>
        <p:nvSpPr>
          <p:cNvPr id="6" name="Text 3"/>
          <p:cNvSpPr txBox="1"/>
          <p:nvPr/>
        </p:nvSpPr>
        <p:spPr>
          <a:xfrm>
            <a:off x="475488" y="1225296"/>
            <a:ext cx="1975104" cy="201168"/>
          </a:xfrm>
          <a:prstGeom prst="rect">
            <a:avLst/>
          </a:prstGeom>
          <a:noFill/>
          <a:ln/>
        </p:spPr>
        <p:txBody>
          <a:bodyPr wrap="square" lIns="0" tIns="0" rIns="0" bIns="0" rtlCol="0" anchor="ctr"/>
          <a:lstStyle/>
          <a:p>
            <a:pPr indent="0" marL="0">
              <a:buNone/>
            </a:pPr>
            <a:r>
              <a:rPr lang="en-US" sz="750" b="1" spc="150" kern="0" dirty="0">
                <a:solidFill>
                  <a:srgbClr val="979187"/>
                </a:solidFill>
                <a:latin typeface="Arial" pitchFamily="34" charset="0"/>
                <a:ea typeface="Arial" pitchFamily="34" charset="-122"/>
                <a:cs typeface="Arial" pitchFamily="34" charset="-120"/>
              </a:rPr>
              <a:t>THE CONSULTANT'S DESK</a:t>
            </a:r>
            <a:endParaRPr lang="en-US" sz="750" dirty="0"/>
          </a:p>
        </p:txBody>
      </p:sp>
      <p:sp>
        <p:nvSpPr>
          <p:cNvPr id="7" name="Shape 4"/>
          <p:cNvSpPr/>
          <p:nvPr/>
        </p:nvSpPr>
        <p:spPr>
          <a:xfrm>
            <a:off x="2743200" y="1170432"/>
            <a:ext cx="2926080" cy="4160520"/>
          </a:xfrm>
          <a:prstGeom prst="roundRect">
            <a:avLst>
              <a:gd name="adj" fmla="val 3750"/>
            </a:avLst>
          </a:prstGeom>
          <a:solidFill>
            <a:srgbClr val="FFFFFF"/>
          </a:solidFill>
          <a:ln w="15875">
            <a:solidFill>
              <a:srgbClr val="2A654E"/>
            </a:solidFill>
            <a:prstDash val="dash"/>
          </a:ln>
        </p:spPr>
      </p:sp>
      <p:sp>
        <p:nvSpPr>
          <p:cNvPr id="8" name="Text 5"/>
          <p:cNvSpPr txBox="1"/>
          <p:nvPr/>
        </p:nvSpPr>
        <p:spPr>
          <a:xfrm>
            <a:off x="2852928" y="1225296"/>
            <a:ext cx="2706624" cy="201168"/>
          </a:xfrm>
          <a:prstGeom prst="rect">
            <a:avLst/>
          </a:prstGeom>
          <a:noFill/>
          <a:ln/>
        </p:spPr>
        <p:txBody>
          <a:bodyPr wrap="square" lIns="0" tIns="0" rIns="0" bIns="0" rtlCol="0" anchor="ctr"/>
          <a:lstStyle/>
          <a:p>
            <a:pPr indent="0" marL="0">
              <a:buNone/>
            </a:pPr>
            <a:r>
              <a:rPr lang="en-US" sz="750" b="1" spc="150" kern="0" dirty="0">
                <a:solidFill>
                  <a:srgbClr val="979187"/>
                </a:solidFill>
                <a:latin typeface="Arial" pitchFamily="34" charset="0"/>
                <a:ea typeface="Arial" pitchFamily="34" charset="-122"/>
                <a:cs typeface="Arial" pitchFamily="34" charset="-120"/>
              </a:rPr>
              <a:t>KARTA'S CLAUDE TEAM ACCOUNT · ANTHROPIC</a:t>
            </a:r>
            <a:endParaRPr lang="en-US" sz="750" dirty="0"/>
          </a:p>
        </p:txBody>
      </p:sp>
      <p:sp>
        <p:nvSpPr>
          <p:cNvPr id="9" name="Shape 6"/>
          <p:cNvSpPr/>
          <p:nvPr/>
        </p:nvSpPr>
        <p:spPr>
          <a:xfrm>
            <a:off x="5852160" y="1170432"/>
            <a:ext cx="2926080" cy="4160520"/>
          </a:xfrm>
          <a:prstGeom prst="roundRect">
            <a:avLst>
              <a:gd name="adj" fmla="val 3750"/>
            </a:avLst>
          </a:prstGeom>
          <a:solidFill>
            <a:srgbClr val="FFFFFF"/>
          </a:solidFill>
          <a:ln w="12700">
            <a:solidFill>
              <a:srgbClr val="C9C5BE"/>
            </a:solidFill>
            <a:prstDash val="sysDot"/>
          </a:ln>
        </p:spPr>
      </p:sp>
      <p:sp>
        <p:nvSpPr>
          <p:cNvPr id="10" name="Text 7"/>
          <p:cNvSpPr txBox="1"/>
          <p:nvPr/>
        </p:nvSpPr>
        <p:spPr>
          <a:xfrm>
            <a:off x="5961888" y="1225296"/>
            <a:ext cx="2706624" cy="201168"/>
          </a:xfrm>
          <a:prstGeom prst="rect">
            <a:avLst/>
          </a:prstGeom>
          <a:noFill/>
          <a:ln/>
        </p:spPr>
        <p:txBody>
          <a:bodyPr wrap="square" lIns="0" tIns="0" rIns="0" bIns="0" rtlCol="0" anchor="ctr"/>
          <a:lstStyle/>
          <a:p>
            <a:pPr indent="0" marL="0">
              <a:buNone/>
            </a:pPr>
            <a:r>
              <a:rPr lang="en-US" sz="750" b="1" spc="150" kern="0" dirty="0">
                <a:solidFill>
                  <a:srgbClr val="979187"/>
                </a:solidFill>
                <a:latin typeface="Arial" pitchFamily="34" charset="0"/>
                <a:ea typeface="Arial" pitchFamily="34" charset="-122"/>
                <a:cs typeface="Arial" pitchFamily="34" charset="-120"/>
              </a:rPr>
              <a:t>KARTA'S SYSTEMS OF RECORD</a:t>
            </a:r>
            <a:endParaRPr lang="en-US" sz="750" dirty="0"/>
          </a:p>
        </p:txBody>
      </p:sp>
      <p:sp>
        <p:nvSpPr>
          <p:cNvPr id="11" name="Shape 8"/>
          <p:cNvSpPr/>
          <p:nvPr/>
        </p:nvSpPr>
        <p:spPr>
          <a:xfrm>
            <a:off x="8961120" y="1170432"/>
            <a:ext cx="2862072" cy="2514600"/>
          </a:xfrm>
          <a:prstGeom prst="roundRect">
            <a:avLst>
              <a:gd name="adj" fmla="val 4364"/>
            </a:avLst>
          </a:prstGeom>
          <a:solidFill>
            <a:srgbClr val="FFFFFF"/>
          </a:solidFill>
          <a:ln w="15875">
            <a:solidFill>
              <a:srgbClr val="2A654E"/>
            </a:solidFill>
            <a:prstDash val="dash"/>
          </a:ln>
        </p:spPr>
      </p:sp>
      <p:sp>
        <p:nvSpPr>
          <p:cNvPr id="12" name="Text 9"/>
          <p:cNvSpPr txBox="1"/>
          <p:nvPr/>
        </p:nvSpPr>
        <p:spPr>
          <a:xfrm>
            <a:off x="9070848" y="1225296"/>
            <a:ext cx="2642616" cy="201168"/>
          </a:xfrm>
          <a:prstGeom prst="rect">
            <a:avLst/>
          </a:prstGeom>
          <a:noFill/>
          <a:ln/>
        </p:spPr>
        <p:txBody>
          <a:bodyPr wrap="square" lIns="0" tIns="0" rIns="0" bIns="0" rtlCol="0" anchor="ctr"/>
          <a:lstStyle/>
          <a:p>
            <a:pPr indent="0" marL="0">
              <a:buNone/>
            </a:pPr>
            <a:r>
              <a:rPr lang="en-US" sz="750" b="1" spc="150" kern="0" dirty="0">
                <a:solidFill>
                  <a:srgbClr val="979187"/>
                </a:solidFill>
                <a:latin typeface="Arial" pitchFamily="34" charset="0"/>
                <a:ea typeface="Arial" pitchFamily="34" charset="-122"/>
                <a:cs typeface="Arial" pitchFamily="34" charset="-120"/>
              </a:rPr>
              <a:t>KARTA-OWNED CLOUD</a:t>
            </a:r>
            <a:endParaRPr lang="en-US" sz="750" dirty="0"/>
          </a:p>
        </p:txBody>
      </p:sp>
      <p:sp>
        <p:nvSpPr>
          <p:cNvPr id="13" name="Shape 10"/>
          <p:cNvSpPr/>
          <p:nvPr/>
        </p:nvSpPr>
        <p:spPr>
          <a:xfrm>
            <a:off x="8961120" y="3840480"/>
            <a:ext cx="2862072" cy="1490472"/>
          </a:xfrm>
          <a:prstGeom prst="roundRect">
            <a:avLst>
              <a:gd name="adj" fmla="val 7362"/>
            </a:avLst>
          </a:prstGeom>
          <a:solidFill>
            <a:srgbClr val="FFFFFF"/>
          </a:solidFill>
          <a:ln w="12700">
            <a:solidFill>
              <a:srgbClr val="C9C5BE"/>
            </a:solidFill>
            <a:prstDash val="sysDot"/>
          </a:ln>
        </p:spPr>
      </p:sp>
      <p:sp>
        <p:nvSpPr>
          <p:cNvPr id="14" name="Text 11"/>
          <p:cNvSpPr txBox="1"/>
          <p:nvPr/>
        </p:nvSpPr>
        <p:spPr>
          <a:xfrm>
            <a:off x="9070848" y="3895344"/>
            <a:ext cx="2642616" cy="201168"/>
          </a:xfrm>
          <a:prstGeom prst="rect">
            <a:avLst/>
          </a:prstGeom>
          <a:noFill/>
          <a:ln/>
        </p:spPr>
        <p:txBody>
          <a:bodyPr wrap="square" lIns="0" tIns="0" rIns="0" bIns="0" rtlCol="0" anchor="ctr"/>
          <a:lstStyle/>
          <a:p>
            <a:pPr indent="0" marL="0">
              <a:buNone/>
            </a:pPr>
            <a:r>
              <a:rPr lang="en-US" sz="750" b="1" spc="150" kern="0" dirty="0">
                <a:solidFill>
                  <a:srgbClr val="979187"/>
                </a:solidFill>
                <a:latin typeface="Arial" pitchFamily="34" charset="0"/>
                <a:ea typeface="Arial" pitchFamily="34" charset="-122"/>
                <a:cs typeface="Arial" pitchFamily="34" charset="-120"/>
              </a:rPr>
              <a:t>THE CLIENT</a:t>
            </a:r>
            <a:endParaRPr lang="en-US" sz="750" dirty="0"/>
          </a:p>
        </p:txBody>
      </p:sp>
      <p:sp>
        <p:nvSpPr>
          <p:cNvPr id="15" name="Shape 12"/>
          <p:cNvSpPr/>
          <p:nvPr/>
        </p:nvSpPr>
        <p:spPr>
          <a:xfrm>
            <a:off x="475488" y="1481328"/>
            <a:ext cx="1975104" cy="713232"/>
          </a:xfrm>
          <a:prstGeom prst="roundRect">
            <a:avLst>
              <a:gd name="adj" fmla="val 7692"/>
            </a:avLst>
          </a:prstGeom>
          <a:solidFill>
            <a:srgbClr val="F5F4F2"/>
          </a:solidFill>
          <a:ln w="9525">
            <a:solidFill>
              <a:srgbClr val="C9C5BE"/>
            </a:solidFill>
            <a:prstDash val="solid"/>
          </a:ln>
        </p:spPr>
      </p:sp>
      <p:sp>
        <p:nvSpPr>
          <p:cNvPr id="16" name="Text 13"/>
          <p:cNvSpPr txBox="1"/>
          <p:nvPr/>
        </p:nvSpPr>
        <p:spPr>
          <a:xfrm>
            <a:off x="548640" y="1517904"/>
            <a:ext cx="1828800" cy="640080"/>
          </a:xfrm>
          <a:prstGeom prst="rect">
            <a:avLst/>
          </a:prstGeom>
          <a:noFill/>
          <a:ln/>
        </p:spPr>
        <p:txBody>
          <a:bodyPr wrap="square" lIns="0" tIns="0" rIns="0" bIns="0" rtlCol="0" anchor="t"/>
          <a:lstStyle/>
          <a:p>
            <a:pPr indent="0" marL="0">
              <a:buNone/>
            </a:pPr>
            <a:r>
              <a:rPr lang="en-US" sz="950" b="1" dirty="0">
                <a:solidFill>
                  <a:srgbClr val="113A2A"/>
                </a:solidFill>
                <a:latin typeface="Arial" pitchFamily="34" charset="0"/>
                <a:ea typeface="Arial" pitchFamily="34" charset="-122"/>
                <a:cs typeface="Arial" pitchFamily="34" charset="-120"/>
              </a:rPr>
              <a:t>Browser · claude.ai</a:t>
            </a:r>
            <a:endParaRPr lang="en-US" sz="950" dirty="0"/>
          </a:p>
          <a:p>
            <a:pPr indent="0" marL="0">
              <a:buNone/>
            </a:pPr>
            <a:r>
              <a:rPr lang="en-US" sz="800" dirty="0">
                <a:solidFill>
                  <a:srgbClr val="6E6961"/>
                </a:solidFill>
                <a:latin typeface="Arial" pitchFamily="34" charset="0"/>
                <a:ea typeface="Arial" pitchFamily="34" charset="-122"/>
                <a:cs typeface="Arial" pitchFamily="34" charset="-120"/>
              </a:rPr>
              <a:t>Opens the engagement workspace page with their own Karta seat.</a:t>
            </a:r>
            <a:endParaRPr lang="en-US" sz="950" dirty="0"/>
          </a:p>
        </p:txBody>
      </p:sp>
      <p:sp>
        <p:nvSpPr>
          <p:cNvPr id="17" name="Shape 14"/>
          <p:cNvSpPr/>
          <p:nvPr/>
        </p:nvSpPr>
        <p:spPr>
          <a:xfrm>
            <a:off x="475488" y="2286000"/>
            <a:ext cx="1975104" cy="640080"/>
          </a:xfrm>
          <a:prstGeom prst="roundRect">
            <a:avLst>
              <a:gd name="adj" fmla="val 8571"/>
            </a:avLst>
          </a:prstGeom>
          <a:solidFill>
            <a:srgbClr val="F5F4F2"/>
          </a:solidFill>
          <a:ln w="9525">
            <a:solidFill>
              <a:srgbClr val="C9C5BE"/>
            </a:solidFill>
            <a:prstDash val="solid"/>
          </a:ln>
        </p:spPr>
      </p:sp>
      <p:sp>
        <p:nvSpPr>
          <p:cNvPr id="18" name="Text 15"/>
          <p:cNvSpPr txBox="1"/>
          <p:nvPr/>
        </p:nvSpPr>
        <p:spPr>
          <a:xfrm>
            <a:off x="548640" y="2322576"/>
            <a:ext cx="1828800" cy="566928"/>
          </a:xfrm>
          <a:prstGeom prst="rect">
            <a:avLst/>
          </a:prstGeom>
          <a:noFill/>
          <a:ln/>
        </p:spPr>
        <p:txBody>
          <a:bodyPr wrap="square" lIns="0" tIns="0" rIns="0" bIns="0" rtlCol="0" anchor="t"/>
          <a:lstStyle/>
          <a:p>
            <a:pPr indent="0" marL="0">
              <a:buNone/>
            </a:pPr>
            <a:r>
              <a:rPr lang="en-US" sz="950" b="1" dirty="0">
                <a:solidFill>
                  <a:srgbClr val="113A2A"/>
                </a:solidFill>
                <a:latin typeface="Arial" pitchFamily="34" charset="0"/>
                <a:ea typeface="Arial" pitchFamily="34" charset="-122"/>
                <a:cs typeface="Arial" pitchFamily="34" charset="-120"/>
              </a:rPr>
              <a:t>Claude Desktop / Claude Code</a:t>
            </a:r>
            <a:endParaRPr lang="en-US" sz="950" dirty="0"/>
          </a:p>
          <a:p>
            <a:pPr indent="0" marL="0">
              <a:buNone/>
            </a:pPr>
            <a:r>
              <a:rPr lang="en-US" sz="800" dirty="0">
                <a:solidFill>
                  <a:srgbClr val="6E6961"/>
                </a:solidFill>
                <a:latin typeface="Arial" pitchFamily="34" charset="0"/>
                <a:ea typeface="Arial" pitchFamily="34" charset="-122"/>
                <a:cs typeface="Arial" pitchFamily="34" charset="-120"/>
              </a:rPr>
              <a:t>Karta skills for ad hoc work, same connectors.</a:t>
            </a:r>
            <a:endParaRPr lang="en-US" sz="950" dirty="0"/>
          </a:p>
        </p:txBody>
      </p:sp>
      <p:sp>
        <p:nvSpPr>
          <p:cNvPr id="19" name="Shape 16"/>
          <p:cNvSpPr/>
          <p:nvPr/>
        </p:nvSpPr>
        <p:spPr>
          <a:xfrm>
            <a:off x="475488" y="3017520"/>
            <a:ext cx="1975104" cy="502920"/>
          </a:xfrm>
          <a:prstGeom prst="roundRect">
            <a:avLst>
              <a:gd name="adj" fmla="val 10909"/>
            </a:avLst>
          </a:prstGeom>
          <a:solidFill>
            <a:srgbClr val="F5F4F2"/>
          </a:solidFill>
          <a:ln w="9525">
            <a:solidFill>
              <a:srgbClr val="C9C5BE"/>
            </a:solidFill>
            <a:prstDash val="solid"/>
          </a:ln>
        </p:spPr>
      </p:sp>
      <p:sp>
        <p:nvSpPr>
          <p:cNvPr id="20" name="Text 17"/>
          <p:cNvSpPr txBox="1"/>
          <p:nvPr/>
        </p:nvSpPr>
        <p:spPr>
          <a:xfrm>
            <a:off x="548640" y="3054096"/>
            <a:ext cx="1828800" cy="429768"/>
          </a:xfrm>
          <a:prstGeom prst="rect">
            <a:avLst/>
          </a:prstGeom>
          <a:noFill/>
          <a:ln/>
        </p:spPr>
        <p:txBody>
          <a:bodyPr wrap="square" lIns="0" tIns="0" rIns="0" bIns="0" rtlCol="0" anchor="t"/>
          <a:lstStyle/>
          <a:p>
            <a:pPr indent="0" marL="0">
              <a:buNone/>
            </a:pPr>
            <a:r>
              <a:rPr lang="en-US" sz="950" b="1" dirty="0">
                <a:solidFill>
                  <a:srgbClr val="113A2A"/>
                </a:solidFill>
                <a:latin typeface="Arial" pitchFamily="34" charset="0"/>
                <a:ea typeface="Arial" pitchFamily="34" charset="-122"/>
                <a:cs typeface="Arial" pitchFamily="34" charset="-120"/>
              </a:rPr>
              <a:t>PowerPoint</a:t>
            </a:r>
            <a:endParaRPr lang="en-US" sz="950" dirty="0"/>
          </a:p>
          <a:p>
            <a:pPr indent="0" marL="0">
              <a:buNone/>
            </a:pPr>
            <a:r>
              <a:rPr lang="en-US" sz="800" dirty="0">
                <a:solidFill>
                  <a:srgbClr val="6E6961"/>
                </a:solidFill>
                <a:latin typeface="Arial" pitchFamily="34" charset="0"/>
                <a:ea typeface="Arial" pitchFamily="34" charset="-122"/>
                <a:cs typeface="Arial" pitchFamily="34" charset="-120"/>
              </a:rPr>
              <a:t>Opens the finished deck.</a:t>
            </a:r>
            <a:endParaRPr lang="en-US" sz="950" dirty="0"/>
          </a:p>
        </p:txBody>
      </p:sp>
      <p:sp>
        <p:nvSpPr>
          <p:cNvPr id="21" name="Shape 18"/>
          <p:cNvSpPr/>
          <p:nvPr/>
        </p:nvSpPr>
        <p:spPr>
          <a:xfrm>
            <a:off x="475488" y="3611880"/>
            <a:ext cx="1975104" cy="640080"/>
          </a:xfrm>
          <a:prstGeom prst="roundRect">
            <a:avLst>
              <a:gd name="adj" fmla="val 8571"/>
            </a:avLst>
          </a:prstGeom>
          <a:solidFill>
            <a:srgbClr val="F5F4F2"/>
          </a:solidFill>
          <a:ln w="9525">
            <a:solidFill>
              <a:srgbClr val="C9C5BE"/>
            </a:solidFill>
            <a:prstDash val="solid"/>
          </a:ln>
        </p:spPr>
      </p:sp>
      <p:sp>
        <p:nvSpPr>
          <p:cNvPr id="22" name="Text 19"/>
          <p:cNvSpPr txBox="1"/>
          <p:nvPr/>
        </p:nvSpPr>
        <p:spPr>
          <a:xfrm>
            <a:off x="548640" y="3648456"/>
            <a:ext cx="1828800" cy="566928"/>
          </a:xfrm>
          <a:prstGeom prst="rect">
            <a:avLst/>
          </a:prstGeom>
          <a:noFill/>
          <a:ln/>
        </p:spPr>
        <p:txBody>
          <a:bodyPr wrap="square" lIns="0" tIns="0" rIns="0" bIns="0" rtlCol="0" anchor="t"/>
          <a:lstStyle/>
          <a:p>
            <a:pPr indent="0" marL="0">
              <a:buNone/>
            </a:pPr>
            <a:r>
              <a:rPr lang="en-US" sz="950" b="1" dirty="0">
                <a:solidFill>
                  <a:srgbClr val="113A2A"/>
                </a:solidFill>
                <a:latin typeface="Arial" pitchFamily="34" charset="0"/>
                <a:ea typeface="Arial" pitchFamily="34" charset="-122"/>
                <a:cs typeface="Arial" pitchFamily="34" charset="-120"/>
              </a:rPr>
              <a:t>Outlook and Teams</a:t>
            </a:r>
            <a:endParaRPr lang="en-US" sz="950" dirty="0"/>
          </a:p>
          <a:p>
            <a:pPr indent="0" marL="0">
              <a:buNone/>
            </a:pPr>
            <a:r>
              <a:rPr lang="en-US" sz="800" dirty="0">
                <a:solidFill>
                  <a:srgbClr val="6E6961"/>
                </a:solidFill>
                <a:latin typeface="Arial" pitchFamily="34" charset="0"/>
                <a:ea typeface="Arial" pitchFamily="34" charset="-122"/>
                <a:cs typeface="Arial" pitchFamily="34" charset="-120"/>
              </a:rPr>
              <a:t>Where a person sends the deck. The workspace never sends.</a:t>
            </a:r>
            <a:endParaRPr lang="en-US" sz="950" dirty="0"/>
          </a:p>
        </p:txBody>
      </p:sp>
      <p:sp>
        <p:nvSpPr>
          <p:cNvPr id="23" name="Text 20"/>
          <p:cNvSpPr txBox="1"/>
          <p:nvPr/>
        </p:nvSpPr>
        <p:spPr>
          <a:xfrm>
            <a:off x="475488" y="4846320"/>
            <a:ext cx="1975104" cy="274320"/>
          </a:xfrm>
          <a:prstGeom prst="rect">
            <a:avLst/>
          </a:prstGeom>
          <a:noFill/>
          <a:ln/>
        </p:spPr>
        <p:txBody>
          <a:bodyPr wrap="square" lIns="0" tIns="0" rIns="0" bIns="0" rtlCol="0" anchor="ctr"/>
          <a:lstStyle/>
          <a:p>
            <a:pPr indent="0" marL="0">
              <a:buNone/>
            </a:pPr>
            <a:r>
              <a:rPr lang="en-US" sz="750" i="1" dirty="0">
                <a:solidFill>
                  <a:srgbClr val="6E6961"/>
                </a:solidFill>
                <a:latin typeface="Arial" pitchFamily="34" charset="0"/>
                <a:ea typeface="Arial" pitchFamily="34" charset="-122"/>
                <a:cs typeface="Arial" pitchFamily="34" charset="-120"/>
              </a:rPr>
              <a:t>Nothing is installed on the laptop.</a:t>
            </a:r>
            <a:endParaRPr lang="en-US" sz="750" dirty="0"/>
          </a:p>
        </p:txBody>
      </p:sp>
      <p:sp>
        <p:nvSpPr>
          <p:cNvPr id="24" name="Shape 21"/>
          <p:cNvSpPr/>
          <p:nvPr/>
        </p:nvSpPr>
        <p:spPr>
          <a:xfrm>
            <a:off x="2852928" y="1481328"/>
            <a:ext cx="2706624" cy="713232"/>
          </a:xfrm>
          <a:prstGeom prst="roundRect">
            <a:avLst>
              <a:gd name="adj" fmla="val 7692"/>
            </a:avLst>
          </a:prstGeom>
          <a:solidFill>
            <a:srgbClr val="EAF1ED"/>
          </a:solidFill>
          <a:ln w="12700">
            <a:solidFill>
              <a:srgbClr val="2A654E"/>
            </a:solidFill>
            <a:prstDash val="solid"/>
          </a:ln>
        </p:spPr>
      </p:sp>
      <p:sp>
        <p:nvSpPr>
          <p:cNvPr id="25" name="Text 22"/>
          <p:cNvSpPr txBox="1"/>
          <p:nvPr/>
        </p:nvSpPr>
        <p:spPr>
          <a:xfrm>
            <a:off x="2926080" y="1517904"/>
            <a:ext cx="2560320" cy="640080"/>
          </a:xfrm>
          <a:prstGeom prst="rect">
            <a:avLst/>
          </a:prstGeom>
          <a:noFill/>
          <a:ln/>
        </p:spPr>
        <p:txBody>
          <a:bodyPr wrap="square" lIns="0" tIns="0" rIns="0" bIns="0" rtlCol="0" anchor="t"/>
          <a:lstStyle/>
          <a:p>
            <a:pPr indent="0" marL="0">
              <a:buNone/>
            </a:pPr>
            <a:r>
              <a:rPr lang="en-US" sz="950" b="1" dirty="0">
                <a:solidFill>
                  <a:srgbClr val="113A2A"/>
                </a:solidFill>
                <a:latin typeface="Arial" pitchFamily="34" charset="0"/>
                <a:ea typeface="Arial" pitchFamily="34" charset="-122"/>
                <a:cs typeface="Arial" pitchFamily="34" charset="-120"/>
              </a:rPr>
              <a:t>Engagement workspace pages</a:t>
            </a:r>
            <a:endParaRPr lang="en-US" sz="950" dirty="0"/>
          </a:p>
          <a:p>
            <a:pPr indent="0" marL="0">
              <a:buNone/>
            </a:pPr>
            <a:r>
              <a:rPr lang="en-US" sz="800" dirty="0">
                <a:solidFill>
                  <a:srgbClr val="6E6961"/>
                </a:solidFill>
                <a:latin typeface="Arial" pitchFamily="34" charset="0"/>
                <a:ea typeface="Arial" pitchFamily="34" charset="-122"/>
                <a:cs typeface="Arial" pitchFamily="34" charset="-120"/>
              </a:rPr>
              <a:t>One published page per engagement, shared only with the staffed team. Live: Legend · Continuous Support.</a:t>
            </a:r>
            <a:endParaRPr lang="en-US" sz="950" dirty="0"/>
          </a:p>
        </p:txBody>
      </p:sp>
      <p:sp>
        <p:nvSpPr>
          <p:cNvPr id="26" name="Shape 23"/>
          <p:cNvSpPr/>
          <p:nvPr/>
        </p:nvSpPr>
        <p:spPr>
          <a:xfrm>
            <a:off x="2852928" y="2286000"/>
            <a:ext cx="2706624" cy="566928"/>
          </a:xfrm>
          <a:prstGeom prst="roundRect">
            <a:avLst>
              <a:gd name="adj" fmla="val 9677"/>
            </a:avLst>
          </a:prstGeom>
          <a:solidFill>
            <a:srgbClr val="F5F4F2"/>
          </a:solidFill>
          <a:ln w="9525">
            <a:solidFill>
              <a:srgbClr val="C9C5BE"/>
            </a:solidFill>
            <a:prstDash val="solid"/>
          </a:ln>
        </p:spPr>
      </p:sp>
      <p:sp>
        <p:nvSpPr>
          <p:cNvPr id="27" name="Text 24"/>
          <p:cNvSpPr txBox="1"/>
          <p:nvPr/>
        </p:nvSpPr>
        <p:spPr>
          <a:xfrm>
            <a:off x="2926080" y="2322576"/>
            <a:ext cx="2560320" cy="493776"/>
          </a:xfrm>
          <a:prstGeom prst="rect">
            <a:avLst/>
          </a:prstGeom>
          <a:noFill/>
          <a:ln/>
        </p:spPr>
        <p:txBody>
          <a:bodyPr wrap="square" lIns="0" tIns="0" rIns="0" bIns="0" rtlCol="0" anchor="t"/>
          <a:lstStyle/>
          <a:p>
            <a:pPr indent="0" marL="0">
              <a:buNone/>
            </a:pPr>
            <a:r>
              <a:rPr lang="en-US" sz="950" b="1" dirty="0">
                <a:solidFill>
                  <a:srgbClr val="113A2A"/>
                </a:solidFill>
                <a:latin typeface="Arial" pitchFamily="34" charset="0"/>
                <a:ea typeface="Arial" pitchFamily="34" charset="-122"/>
                <a:cs typeface="Arial" pitchFamily="34" charset="-120"/>
              </a:rPr>
              <a:t>Claude</a:t>
            </a:r>
            <a:endParaRPr lang="en-US" sz="950" dirty="0"/>
          </a:p>
          <a:p>
            <a:pPr indent="0" marL="0">
              <a:buNone/>
            </a:pPr>
            <a:r>
              <a:rPr lang="en-US" sz="800" dirty="0">
                <a:solidFill>
                  <a:srgbClr val="6E6961"/>
                </a:solidFill>
                <a:latin typeface="Arial" pitchFamily="34" charset="0"/>
                <a:ea typeface="Arial" pitchFamily="34" charset="-122"/>
                <a:cs typeface="Arial" pitchFamily="34" charset="-120"/>
              </a:rPr>
              <a:t>Drafts the words and suggests a status, only when a consultant clicks Draft.</a:t>
            </a:r>
            <a:endParaRPr lang="en-US" sz="950" dirty="0"/>
          </a:p>
        </p:txBody>
      </p:sp>
      <p:sp>
        <p:nvSpPr>
          <p:cNvPr id="28" name="Shape 25"/>
          <p:cNvSpPr/>
          <p:nvPr/>
        </p:nvSpPr>
        <p:spPr>
          <a:xfrm>
            <a:off x="2852928" y="2944368"/>
            <a:ext cx="2706624" cy="1097280"/>
          </a:xfrm>
          <a:prstGeom prst="roundRect">
            <a:avLst>
              <a:gd name="adj" fmla="val 5000"/>
            </a:avLst>
          </a:prstGeom>
          <a:solidFill>
            <a:srgbClr val="F5F4F2"/>
          </a:solidFill>
          <a:ln w="9525">
            <a:solidFill>
              <a:srgbClr val="C9C5BE"/>
            </a:solidFill>
            <a:prstDash val="solid"/>
          </a:ln>
        </p:spPr>
      </p:sp>
      <p:sp>
        <p:nvSpPr>
          <p:cNvPr id="29" name="Text 26"/>
          <p:cNvSpPr txBox="1"/>
          <p:nvPr/>
        </p:nvSpPr>
        <p:spPr>
          <a:xfrm>
            <a:off x="2926080" y="2980944"/>
            <a:ext cx="2560320" cy="1024128"/>
          </a:xfrm>
          <a:prstGeom prst="rect">
            <a:avLst/>
          </a:prstGeom>
          <a:noFill/>
          <a:ln/>
        </p:spPr>
        <p:txBody>
          <a:bodyPr wrap="square" lIns="0" tIns="0" rIns="0" bIns="0" rtlCol="0" anchor="t"/>
          <a:lstStyle/>
          <a:p>
            <a:pPr indent="0" marL="0">
              <a:buNone/>
            </a:pPr>
            <a:r>
              <a:rPr lang="en-US" sz="950" b="1" dirty="0">
                <a:solidFill>
                  <a:srgbClr val="113A2A"/>
                </a:solidFill>
                <a:latin typeface="Arial" pitchFamily="34" charset="0"/>
                <a:ea typeface="Arial" pitchFamily="34" charset="-122"/>
                <a:cs typeface="Arial" pitchFamily="34" charset="-120"/>
              </a:rPr>
              <a:t>Connectors</a:t>
            </a:r>
            <a:endParaRPr lang="en-US" sz="950" dirty="0"/>
          </a:p>
          <a:p>
            <a:pPr indent="0" marL="0">
              <a:buNone/>
            </a:pPr>
            <a:r>
              <a:rPr lang="en-US" sz="800" dirty="0">
                <a:solidFill>
                  <a:srgbClr val="6E6961"/>
                </a:solidFill>
                <a:latin typeface="Arial" pitchFamily="34" charset="0"/>
                <a:ea typeface="Arial" pitchFamily="34" charset="-122"/>
                <a:cs typeface="Arial" pitchFamily="34" charset="-120"/>
              </a:rPr>
              <a:t>Asana · Microsoft 365 · Granola · Harvest · Karta Assembly. Every call runs as the consultant who is looking, with their own access.</a:t>
            </a:r>
            <a:endParaRPr lang="en-US" sz="950" dirty="0"/>
          </a:p>
        </p:txBody>
      </p:sp>
      <p:sp>
        <p:nvSpPr>
          <p:cNvPr id="30" name="Shape 27"/>
          <p:cNvSpPr/>
          <p:nvPr/>
        </p:nvSpPr>
        <p:spPr>
          <a:xfrm>
            <a:off x="2852928" y="4133088"/>
            <a:ext cx="2706624" cy="1097280"/>
          </a:xfrm>
          <a:prstGeom prst="roundRect">
            <a:avLst>
              <a:gd name="adj" fmla="val 5000"/>
            </a:avLst>
          </a:prstGeom>
          <a:solidFill>
            <a:srgbClr val="F5F4F2"/>
          </a:solidFill>
          <a:ln w="9525">
            <a:solidFill>
              <a:srgbClr val="C9C5BE"/>
            </a:solidFill>
            <a:prstDash val="solid"/>
          </a:ln>
        </p:spPr>
      </p:sp>
      <p:sp>
        <p:nvSpPr>
          <p:cNvPr id="31" name="Text 28"/>
          <p:cNvSpPr txBox="1"/>
          <p:nvPr/>
        </p:nvSpPr>
        <p:spPr>
          <a:xfrm>
            <a:off x="2926080" y="4169664"/>
            <a:ext cx="2560320" cy="1024128"/>
          </a:xfrm>
          <a:prstGeom prst="rect">
            <a:avLst/>
          </a:prstGeom>
          <a:noFill/>
          <a:ln/>
        </p:spPr>
        <p:txBody>
          <a:bodyPr wrap="square" lIns="0" tIns="0" rIns="0" bIns="0" rtlCol="0" anchor="t"/>
          <a:lstStyle/>
          <a:p>
            <a:pPr indent="0" marL="0">
              <a:buNone/>
            </a:pPr>
            <a:r>
              <a:rPr lang="en-US" sz="950" b="1" dirty="0">
                <a:solidFill>
                  <a:srgbClr val="113A2A"/>
                </a:solidFill>
                <a:latin typeface="Arial" pitchFamily="34" charset="0"/>
                <a:ea typeface="Arial" pitchFamily="34" charset="-122"/>
                <a:cs typeface="Arial" pitchFamily="34" charset="-120"/>
              </a:rPr>
              <a:t>Page database</a:t>
            </a:r>
            <a:endParaRPr lang="en-US" sz="950" dirty="0"/>
          </a:p>
          <a:p>
            <a:pPr indent="0" marL="0">
              <a:buNone/>
            </a:pPr>
            <a:r>
              <a:rPr lang="en-US" sz="800" dirty="0">
                <a:solidFill>
                  <a:srgbClr val="6E6961"/>
                </a:solidFill>
                <a:latin typeface="Arial" pitchFamily="34" charset="0"/>
                <a:ea typeface="Arial" pitchFamily="34" charset="-122"/>
                <a:cs typeface="Arial" pitchFamily="34" charset="-120"/>
              </a:rPr>
              <a:t>Approved status values with the approver's name, the engagement configuration, deck history. Visible to the staffed team. Holds only what a person approved.</a:t>
            </a:r>
            <a:endParaRPr lang="en-US" sz="950" dirty="0"/>
          </a:p>
        </p:txBody>
      </p:sp>
      <p:sp>
        <p:nvSpPr>
          <p:cNvPr id="32" name="Shape 29"/>
          <p:cNvSpPr/>
          <p:nvPr/>
        </p:nvSpPr>
        <p:spPr>
          <a:xfrm>
            <a:off x="5961888" y="1481328"/>
            <a:ext cx="2706624" cy="1371600"/>
          </a:xfrm>
          <a:prstGeom prst="roundRect">
            <a:avLst>
              <a:gd name="adj" fmla="val 4000"/>
            </a:avLst>
          </a:prstGeom>
          <a:solidFill>
            <a:srgbClr val="F5F4F2"/>
          </a:solidFill>
          <a:ln w="9525">
            <a:solidFill>
              <a:srgbClr val="C9C5BE"/>
            </a:solidFill>
            <a:prstDash val="solid"/>
          </a:ln>
        </p:spPr>
      </p:sp>
      <p:sp>
        <p:nvSpPr>
          <p:cNvPr id="33" name="Text 30"/>
          <p:cNvSpPr txBox="1"/>
          <p:nvPr/>
        </p:nvSpPr>
        <p:spPr>
          <a:xfrm>
            <a:off x="6035040" y="1517904"/>
            <a:ext cx="2560320" cy="1298448"/>
          </a:xfrm>
          <a:prstGeom prst="rect">
            <a:avLst/>
          </a:prstGeom>
          <a:noFill/>
          <a:ln/>
        </p:spPr>
        <p:txBody>
          <a:bodyPr wrap="square" lIns="0" tIns="0" rIns="0" bIns="0" rtlCol="0" anchor="t"/>
          <a:lstStyle/>
          <a:p>
            <a:pPr indent="0" marL="0">
              <a:buNone/>
            </a:pPr>
            <a:r>
              <a:rPr lang="en-US" sz="950" b="1" dirty="0">
                <a:solidFill>
                  <a:srgbClr val="113A2A"/>
                </a:solidFill>
                <a:latin typeface="Arial" pitchFamily="34" charset="0"/>
                <a:ea typeface="Arial" pitchFamily="34" charset="-122"/>
                <a:cs typeface="Arial" pitchFamily="34" charset="-120"/>
              </a:rPr>
              <a:t>Microsoft 365 · Karta tenant</a:t>
            </a:r>
            <a:endParaRPr lang="en-US" sz="950" dirty="0"/>
          </a:p>
          <a:p>
            <a:pPr indent="0" marL="0">
              <a:buNone/>
            </a:pPr>
            <a:r>
              <a:rPr lang="en-US" sz="800" dirty="0">
                <a:solidFill>
                  <a:srgbClr val="6E6961"/>
                </a:solidFill>
                <a:latin typeface="Arial" pitchFamily="34" charset="0"/>
                <a:ea typeface="Arial" pitchFamily="34" charset="-122"/>
                <a:cs typeface="Arial" pitchFamily="34" charset="-120"/>
              </a:rPr>
              <a:t>SharePoint client folders: last deck read, new deck saved.</a:t>
            </a:r>
            <a:endParaRPr lang="en-US" sz="950" dirty="0"/>
          </a:p>
          <a:p>
            <a:pPr indent="0" marL="0">
              <a:buNone/>
            </a:pPr>
            <a:r>
              <a:rPr lang="en-US" sz="800" dirty="0">
                <a:solidFill>
                  <a:srgbClr val="6E6961"/>
                </a:solidFill>
                <a:latin typeface="Arial" pitchFamily="34" charset="0"/>
                <a:ea typeface="Arial" pitchFamily="34" charset="-122"/>
                <a:cs typeface="Arial" pitchFamily="34" charset="-120"/>
              </a:rPr>
              <a:t>Entra ID: sign-in for the deck builder, once IT approves.</a:t>
            </a:r>
            <a:endParaRPr lang="en-US" sz="950" dirty="0"/>
          </a:p>
          <a:p>
            <a:pPr indent="0" marL="0">
              <a:buNone/>
            </a:pPr>
            <a:r>
              <a:rPr lang="en-US" sz="800" dirty="0">
                <a:solidFill>
                  <a:srgbClr val="6E6961"/>
                </a:solidFill>
                <a:latin typeface="Arial" pitchFamily="34" charset="0"/>
                <a:ea typeface="Arial" pitchFamily="34" charset="-122"/>
                <a:cs typeface="Arial" pitchFamily="34" charset="-120"/>
              </a:rPr>
              <a:t>Outlook: planned evidence.  Teams: people send the deck.</a:t>
            </a:r>
            <a:endParaRPr lang="en-US" sz="950" dirty="0"/>
          </a:p>
        </p:txBody>
      </p:sp>
      <p:sp>
        <p:nvSpPr>
          <p:cNvPr id="34" name="Shape 31"/>
          <p:cNvSpPr/>
          <p:nvPr/>
        </p:nvSpPr>
        <p:spPr>
          <a:xfrm>
            <a:off x="5961888" y="2944368"/>
            <a:ext cx="2706624" cy="548640"/>
          </a:xfrm>
          <a:prstGeom prst="roundRect">
            <a:avLst>
              <a:gd name="adj" fmla="val 10000"/>
            </a:avLst>
          </a:prstGeom>
          <a:solidFill>
            <a:srgbClr val="F5F4F2"/>
          </a:solidFill>
          <a:ln w="9525">
            <a:solidFill>
              <a:srgbClr val="C9C5BE"/>
            </a:solidFill>
            <a:prstDash val="solid"/>
          </a:ln>
        </p:spPr>
      </p:sp>
      <p:sp>
        <p:nvSpPr>
          <p:cNvPr id="35" name="Text 32"/>
          <p:cNvSpPr txBox="1"/>
          <p:nvPr/>
        </p:nvSpPr>
        <p:spPr>
          <a:xfrm>
            <a:off x="6035040" y="2980944"/>
            <a:ext cx="2560320" cy="475488"/>
          </a:xfrm>
          <a:prstGeom prst="rect">
            <a:avLst/>
          </a:prstGeom>
          <a:noFill/>
          <a:ln/>
        </p:spPr>
        <p:txBody>
          <a:bodyPr wrap="square" lIns="0" tIns="0" rIns="0" bIns="0" rtlCol="0" anchor="t"/>
          <a:lstStyle/>
          <a:p>
            <a:pPr indent="0" marL="0">
              <a:buNone/>
            </a:pPr>
            <a:r>
              <a:rPr lang="en-US" sz="950" b="1" dirty="0">
                <a:solidFill>
                  <a:srgbClr val="113A2A"/>
                </a:solidFill>
                <a:latin typeface="Arial" pitchFamily="34" charset="0"/>
                <a:ea typeface="Arial" pitchFamily="34" charset="-122"/>
                <a:cs typeface="Arial" pitchFamily="34" charset="-120"/>
              </a:rPr>
              <a:t>Asana</a:t>
            </a:r>
            <a:endParaRPr lang="en-US" sz="950" dirty="0"/>
          </a:p>
          <a:p>
            <a:pPr indent="0" marL="0">
              <a:buNone/>
            </a:pPr>
            <a:r>
              <a:rPr lang="en-US" sz="800" dirty="0">
                <a:solidFill>
                  <a:srgbClr val="6E6961"/>
                </a:solidFill>
                <a:latin typeface="Arial" pitchFamily="34" charset="0"/>
                <a:ea typeface="Arial" pitchFamily="34" charset="-122"/>
                <a:cs typeface="Arial" pitchFamily="34" charset="-120"/>
              </a:rPr>
              <a:t>Projects, tasks, milestones. Read live on every open.</a:t>
            </a:r>
            <a:endParaRPr lang="en-US" sz="950" dirty="0"/>
          </a:p>
        </p:txBody>
      </p:sp>
      <p:sp>
        <p:nvSpPr>
          <p:cNvPr id="36" name="Shape 33"/>
          <p:cNvSpPr/>
          <p:nvPr/>
        </p:nvSpPr>
        <p:spPr>
          <a:xfrm>
            <a:off x="5961888" y="3584448"/>
            <a:ext cx="2706624" cy="548640"/>
          </a:xfrm>
          <a:prstGeom prst="roundRect">
            <a:avLst>
              <a:gd name="adj" fmla="val 10000"/>
            </a:avLst>
          </a:prstGeom>
          <a:solidFill>
            <a:srgbClr val="F5F4F2"/>
          </a:solidFill>
          <a:ln w="9525">
            <a:solidFill>
              <a:srgbClr val="C9C5BE"/>
            </a:solidFill>
            <a:prstDash val="solid"/>
          </a:ln>
        </p:spPr>
      </p:sp>
      <p:sp>
        <p:nvSpPr>
          <p:cNvPr id="37" name="Text 34"/>
          <p:cNvSpPr txBox="1"/>
          <p:nvPr/>
        </p:nvSpPr>
        <p:spPr>
          <a:xfrm>
            <a:off x="6035040" y="3621024"/>
            <a:ext cx="2560320" cy="475488"/>
          </a:xfrm>
          <a:prstGeom prst="rect">
            <a:avLst/>
          </a:prstGeom>
          <a:noFill/>
          <a:ln/>
        </p:spPr>
        <p:txBody>
          <a:bodyPr wrap="square" lIns="0" tIns="0" rIns="0" bIns="0" rtlCol="0" anchor="t"/>
          <a:lstStyle/>
          <a:p>
            <a:pPr indent="0" marL="0">
              <a:buNone/>
            </a:pPr>
            <a:r>
              <a:rPr lang="en-US" sz="950" b="1" dirty="0">
                <a:solidFill>
                  <a:srgbClr val="113A2A"/>
                </a:solidFill>
                <a:latin typeface="Arial" pitchFamily="34" charset="0"/>
                <a:ea typeface="Arial" pitchFamily="34" charset="-122"/>
                <a:cs typeface="Arial" pitchFamily="34" charset="-120"/>
              </a:rPr>
              <a:t>Granola</a:t>
            </a:r>
            <a:endParaRPr lang="en-US" sz="950" dirty="0"/>
          </a:p>
          <a:p>
            <a:pPr indent="0" marL="0">
              <a:buNone/>
            </a:pPr>
            <a:r>
              <a:rPr lang="en-US" sz="800" dirty="0">
                <a:solidFill>
                  <a:srgbClr val="6E6961"/>
                </a:solidFill>
                <a:latin typeface="Arial" pitchFamily="34" charset="0"/>
                <a:ea typeface="Arial" pitchFamily="34" charset="-122"/>
                <a:cs typeface="Arial" pitchFamily="34" charset="-120"/>
              </a:rPr>
              <a:t>Meeting notes. Folder linked; reads planned.</a:t>
            </a:r>
            <a:endParaRPr lang="en-US" sz="950" dirty="0"/>
          </a:p>
        </p:txBody>
      </p:sp>
      <p:sp>
        <p:nvSpPr>
          <p:cNvPr id="38" name="Shape 35"/>
          <p:cNvSpPr/>
          <p:nvPr/>
        </p:nvSpPr>
        <p:spPr>
          <a:xfrm>
            <a:off x="5961888" y="4224528"/>
            <a:ext cx="2706624" cy="548640"/>
          </a:xfrm>
          <a:prstGeom prst="roundRect">
            <a:avLst>
              <a:gd name="adj" fmla="val 10000"/>
            </a:avLst>
          </a:prstGeom>
          <a:solidFill>
            <a:srgbClr val="F5F4F2"/>
          </a:solidFill>
          <a:ln w="9525">
            <a:solidFill>
              <a:srgbClr val="C9C5BE"/>
            </a:solidFill>
            <a:prstDash val="solid"/>
          </a:ln>
        </p:spPr>
      </p:sp>
      <p:sp>
        <p:nvSpPr>
          <p:cNvPr id="39" name="Text 36"/>
          <p:cNvSpPr txBox="1"/>
          <p:nvPr/>
        </p:nvSpPr>
        <p:spPr>
          <a:xfrm>
            <a:off x="6035040" y="4261104"/>
            <a:ext cx="2560320" cy="475488"/>
          </a:xfrm>
          <a:prstGeom prst="rect">
            <a:avLst/>
          </a:prstGeom>
          <a:noFill/>
          <a:ln/>
        </p:spPr>
        <p:txBody>
          <a:bodyPr wrap="square" lIns="0" tIns="0" rIns="0" bIns="0" rtlCol="0" anchor="t"/>
          <a:lstStyle/>
          <a:p>
            <a:pPr indent="0" marL="0">
              <a:buNone/>
            </a:pPr>
            <a:r>
              <a:rPr lang="en-US" sz="950" b="1" dirty="0">
                <a:solidFill>
                  <a:srgbClr val="113A2A"/>
                </a:solidFill>
                <a:latin typeface="Arial" pitchFamily="34" charset="0"/>
                <a:ea typeface="Arial" pitchFamily="34" charset="-122"/>
                <a:cs typeface="Arial" pitchFamily="34" charset="-120"/>
              </a:rPr>
              <a:t>Harvest</a:t>
            </a:r>
            <a:endParaRPr lang="en-US" sz="950" dirty="0"/>
          </a:p>
          <a:p>
            <a:pPr indent="0" marL="0">
              <a:buNone/>
            </a:pPr>
            <a:r>
              <a:rPr lang="en-US" sz="800" dirty="0">
                <a:solidFill>
                  <a:srgbClr val="6E6961"/>
                </a:solidFill>
                <a:latin typeface="Arial" pitchFamily="34" charset="0"/>
                <a:ea typeface="Arial" pitchFamily="34" charset="-122"/>
                <a:cs typeface="Arial" pitchFamily="34" charset="-120"/>
              </a:rPr>
              <a:t>Time and budget. Project linked; reads planned.</a:t>
            </a:r>
            <a:endParaRPr lang="en-US" sz="950" dirty="0"/>
          </a:p>
        </p:txBody>
      </p:sp>
      <p:sp>
        <p:nvSpPr>
          <p:cNvPr id="40" name="Shape 37"/>
          <p:cNvSpPr/>
          <p:nvPr/>
        </p:nvSpPr>
        <p:spPr>
          <a:xfrm>
            <a:off x="5961888" y="4864608"/>
            <a:ext cx="2706624" cy="384048"/>
          </a:xfrm>
          <a:prstGeom prst="roundRect">
            <a:avLst>
              <a:gd name="adj" fmla="val 14286"/>
            </a:avLst>
          </a:prstGeom>
          <a:solidFill>
            <a:srgbClr val="F5F4F2"/>
          </a:solidFill>
          <a:ln w="9525">
            <a:solidFill>
              <a:srgbClr val="C9C5BE"/>
            </a:solidFill>
            <a:prstDash val="dash"/>
          </a:ln>
        </p:spPr>
      </p:sp>
      <p:sp>
        <p:nvSpPr>
          <p:cNvPr id="41" name="Text 38"/>
          <p:cNvSpPr txBox="1"/>
          <p:nvPr/>
        </p:nvSpPr>
        <p:spPr>
          <a:xfrm>
            <a:off x="6035040" y="4901184"/>
            <a:ext cx="2560320" cy="310896"/>
          </a:xfrm>
          <a:prstGeom prst="rect">
            <a:avLst/>
          </a:prstGeom>
          <a:noFill/>
          <a:ln/>
        </p:spPr>
        <p:txBody>
          <a:bodyPr wrap="square" lIns="0" tIns="0" rIns="0" bIns="0" rtlCol="0" anchor="t"/>
          <a:lstStyle/>
          <a:p>
            <a:pPr indent="0" marL="0">
              <a:buNone/>
            </a:pPr>
            <a:r>
              <a:rPr lang="en-US" sz="950" b="1" dirty="0">
                <a:solidFill>
                  <a:srgbClr val="113A2A"/>
                </a:solidFill>
                <a:latin typeface="Arial" pitchFamily="34" charset="0"/>
                <a:ea typeface="Arial" pitchFamily="34" charset="-122"/>
                <a:cs typeface="Arial" pitchFamily="34" charset="-120"/>
              </a:rPr>
              <a:t>RAID log · planned source</a:t>
            </a:r>
            <a:endParaRPr lang="en-US" sz="950" dirty="0"/>
          </a:p>
          <a:p>
            <a:pPr indent="0" marL="0">
              <a:buNone/>
            </a:pPr>
            <a:r>
              <a:rPr lang="en-US" sz="800" dirty="0">
                <a:solidFill>
                  <a:srgbClr val="6E6961"/>
                </a:solidFill>
                <a:latin typeface="Arial" pitchFamily="34" charset="0"/>
                <a:ea typeface="Arial" pitchFamily="34" charset="-122"/>
                <a:cs typeface="Arial" pitchFamily="34" charset="-120"/>
              </a:rPr>
              <a:t>Today risks are typed by the reviewer.</a:t>
            </a:r>
            <a:endParaRPr lang="en-US" sz="950" dirty="0"/>
          </a:p>
        </p:txBody>
      </p:sp>
      <p:sp>
        <p:nvSpPr>
          <p:cNvPr id="42" name="Shape 39"/>
          <p:cNvSpPr/>
          <p:nvPr/>
        </p:nvSpPr>
        <p:spPr>
          <a:xfrm>
            <a:off x="9070848" y="1481328"/>
            <a:ext cx="2642616" cy="841248"/>
          </a:xfrm>
          <a:prstGeom prst="roundRect">
            <a:avLst>
              <a:gd name="adj" fmla="val 6522"/>
            </a:avLst>
          </a:prstGeom>
          <a:solidFill>
            <a:srgbClr val="EAF1ED"/>
          </a:solidFill>
          <a:ln w="12700">
            <a:solidFill>
              <a:srgbClr val="2A654E"/>
            </a:solidFill>
            <a:prstDash val="solid"/>
          </a:ln>
        </p:spPr>
      </p:sp>
      <p:sp>
        <p:nvSpPr>
          <p:cNvPr id="43" name="Text 40"/>
          <p:cNvSpPr txBox="1"/>
          <p:nvPr/>
        </p:nvSpPr>
        <p:spPr>
          <a:xfrm>
            <a:off x="9144000" y="1517904"/>
            <a:ext cx="2496312" cy="768096"/>
          </a:xfrm>
          <a:prstGeom prst="rect">
            <a:avLst/>
          </a:prstGeom>
          <a:noFill/>
          <a:ln/>
        </p:spPr>
        <p:txBody>
          <a:bodyPr wrap="square" lIns="0" tIns="0" rIns="0" bIns="0" rtlCol="0" anchor="t"/>
          <a:lstStyle/>
          <a:p>
            <a:pPr indent="0" marL="0">
              <a:buNone/>
            </a:pPr>
            <a:r>
              <a:rPr lang="en-US" sz="950" b="1" dirty="0">
                <a:solidFill>
                  <a:srgbClr val="113A2A"/>
                </a:solidFill>
                <a:latin typeface="Arial" pitchFamily="34" charset="0"/>
                <a:ea typeface="Arial" pitchFamily="34" charset="-122"/>
                <a:cs typeface="Arial" pitchFamily="34" charset="-120"/>
              </a:rPr>
              <a:t>Karta Assembly · Google Cloud Run</a:t>
            </a:r>
            <a:endParaRPr lang="en-US" sz="950" dirty="0"/>
          </a:p>
          <a:p>
            <a:pPr indent="0" marL="0">
              <a:buNone/>
            </a:pPr>
            <a:r>
              <a:rPr lang="en-US" sz="800" dirty="0">
                <a:solidFill>
                  <a:srgbClr val="6E6961"/>
                </a:solidFill>
                <a:latin typeface="Arial" pitchFamily="34" charset="0"/>
                <a:ea typeface="Arial" pitchFamily="34" charset="-122"/>
                <a:cs typeface="Arial" pitchFamily="34" charset="-120"/>
              </a:rPr>
              <a:t>The deck builder. Approved values in, PowerPoint out on the KCG template. Keeps nothing. Scales to zero. $0.36 spent to date.</a:t>
            </a:r>
            <a:endParaRPr lang="en-US" sz="950" dirty="0"/>
          </a:p>
        </p:txBody>
      </p:sp>
      <p:sp>
        <p:nvSpPr>
          <p:cNvPr id="44" name="Shape 41"/>
          <p:cNvSpPr/>
          <p:nvPr/>
        </p:nvSpPr>
        <p:spPr>
          <a:xfrm>
            <a:off x="9070848" y="2414016"/>
            <a:ext cx="2642616" cy="457200"/>
          </a:xfrm>
          <a:prstGeom prst="roundRect">
            <a:avLst>
              <a:gd name="adj" fmla="val 12000"/>
            </a:avLst>
          </a:prstGeom>
          <a:solidFill>
            <a:srgbClr val="F5F4F2"/>
          </a:solidFill>
          <a:ln w="9525">
            <a:solidFill>
              <a:srgbClr val="C9C5BE"/>
            </a:solidFill>
            <a:prstDash val="solid"/>
          </a:ln>
        </p:spPr>
      </p:sp>
      <p:sp>
        <p:nvSpPr>
          <p:cNvPr id="45" name="Text 42"/>
          <p:cNvSpPr txBox="1"/>
          <p:nvPr/>
        </p:nvSpPr>
        <p:spPr>
          <a:xfrm>
            <a:off x="9144000" y="2450592"/>
            <a:ext cx="2496312" cy="384048"/>
          </a:xfrm>
          <a:prstGeom prst="rect">
            <a:avLst/>
          </a:prstGeom>
          <a:noFill/>
          <a:ln/>
        </p:spPr>
        <p:txBody>
          <a:bodyPr wrap="square" lIns="0" tIns="0" rIns="0" bIns="0" rtlCol="0" anchor="t"/>
          <a:lstStyle/>
          <a:p>
            <a:pPr indent="0" marL="0">
              <a:buNone/>
            </a:pPr>
            <a:r>
              <a:rPr lang="en-US" sz="950" b="1" dirty="0">
                <a:solidFill>
                  <a:srgbClr val="113A2A"/>
                </a:solidFill>
                <a:latin typeface="Arial" pitchFamily="34" charset="0"/>
                <a:ea typeface="Arial" pitchFamily="34" charset="-122"/>
                <a:cs typeface="Arial" pitchFamily="34" charset="-120"/>
              </a:rPr>
              <a:t>Secret Manager</a:t>
            </a:r>
            <a:endParaRPr lang="en-US" sz="950" dirty="0"/>
          </a:p>
          <a:p>
            <a:pPr indent="0" marL="0">
              <a:buNone/>
            </a:pPr>
            <a:r>
              <a:rPr lang="en-US" sz="800" dirty="0">
                <a:solidFill>
                  <a:srgbClr val="6E6961"/>
                </a:solidFill>
                <a:latin typeface="Arial" pitchFamily="34" charset="0"/>
                <a:ea typeface="Arial" pitchFamily="34" charset="-122"/>
                <a:cs typeface="Arial" pitchFamily="34" charset="-120"/>
              </a:rPr>
              <a:t>The service's sign-in secret. Never in code.</a:t>
            </a:r>
            <a:endParaRPr lang="en-US" sz="950" dirty="0"/>
          </a:p>
        </p:txBody>
      </p:sp>
      <p:sp>
        <p:nvSpPr>
          <p:cNvPr id="46" name="Shape 43"/>
          <p:cNvSpPr/>
          <p:nvPr/>
        </p:nvSpPr>
        <p:spPr>
          <a:xfrm>
            <a:off x="9070848" y="2962656"/>
            <a:ext cx="2642616" cy="640080"/>
          </a:xfrm>
          <a:prstGeom prst="roundRect">
            <a:avLst>
              <a:gd name="adj" fmla="val 8571"/>
            </a:avLst>
          </a:prstGeom>
          <a:solidFill>
            <a:srgbClr val="F5F4F2"/>
          </a:solidFill>
          <a:ln w="9525">
            <a:solidFill>
              <a:srgbClr val="C9C5BE"/>
            </a:solidFill>
            <a:prstDash val="solid"/>
          </a:ln>
        </p:spPr>
      </p:sp>
      <p:sp>
        <p:nvSpPr>
          <p:cNvPr id="47" name="Text 44"/>
          <p:cNvSpPr txBox="1"/>
          <p:nvPr/>
        </p:nvSpPr>
        <p:spPr>
          <a:xfrm>
            <a:off x="9144000" y="2999232"/>
            <a:ext cx="2496312" cy="566928"/>
          </a:xfrm>
          <a:prstGeom prst="rect">
            <a:avLst/>
          </a:prstGeom>
          <a:noFill/>
          <a:ln/>
        </p:spPr>
        <p:txBody>
          <a:bodyPr wrap="square" lIns="0" tIns="0" rIns="0" bIns="0" rtlCol="0" anchor="t"/>
          <a:lstStyle/>
          <a:p>
            <a:pPr indent="0" marL="0">
              <a:buNone/>
            </a:pPr>
            <a:r>
              <a:rPr lang="en-US" sz="950" b="1" dirty="0">
                <a:solidFill>
                  <a:srgbClr val="113A2A"/>
                </a:solidFill>
                <a:latin typeface="Arial" pitchFamily="34" charset="0"/>
                <a:ea typeface="Arial" pitchFamily="34" charset="-122"/>
                <a:cs typeface="Arial" pitchFamily="34" charset="-120"/>
              </a:rPr>
              <a:t>GitHub · Karta organization</a:t>
            </a:r>
            <a:endParaRPr lang="en-US" sz="950" dirty="0"/>
          </a:p>
          <a:p>
            <a:pPr indent="0" marL="0">
              <a:buNone/>
            </a:pPr>
            <a:r>
              <a:rPr lang="en-US" sz="800" dirty="0">
                <a:solidFill>
                  <a:srgbClr val="6E6961"/>
                </a:solidFill>
                <a:latin typeface="Arial" pitchFamily="34" charset="0"/>
                <a:ea typeface="Arial" pitchFamily="34" charset="-122"/>
                <a:cs typeface="Arial" pitchFamily="34" charset="-120"/>
              </a:rPr>
              <a:t>Code, page sources, documentation, decisions. Private. No client data.</a:t>
            </a:r>
            <a:endParaRPr lang="en-US" sz="950" dirty="0"/>
          </a:p>
        </p:txBody>
      </p:sp>
      <p:sp>
        <p:nvSpPr>
          <p:cNvPr id="48" name="Shape 45"/>
          <p:cNvSpPr/>
          <p:nvPr/>
        </p:nvSpPr>
        <p:spPr>
          <a:xfrm>
            <a:off x="9070848" y="4151376"/>
            <a:ext cx="2642616" cy="1078992"/>
          </a:xfrm>
          <a:prstGeom prst="roundRect">
            <a:avLst>
              <a:gd name="adj" fmla="val 5085"/>
            </a:avLst>
          </a:prstGeom>
          <a:solidFill>
            <a:srgbClr val="F5F4F2"/>
          </a:solidFill>
          <a:ln w="9525">
            <a:solidFill>
              <a:srgbClr val="C9C5BE"/>
            </a:solidFill>
            <a:prstDash val="solid"/>
          </a:ln>
        </p:spPr>
      </p:sp>
      <p:sp>
        <p:nvSpPr>
          <p:cNvPr id="49" name="Text 46"/>
          <p:cNvSpPr txBox="1"/>
          <p:nvPr/>
        </p:nvSpPr>
        <p:spPr>
          <a:xfrm>
            <a:off x="9144000" y="4187952"/>
            <a:ext cx="2496312" cy="1005840"/>
          </a:xfrm>
          <a:prstGeom prst="rect">
            <a:avLst/>
          </a:prstGeom>
          <a:noFill/>
          <a:ln/>
        </p:spPr>
        <p:txBody>
          <a:bodyPr wrap="square" lIns="0" tIns="0" rIns="0" bIns="0" rtlCol="0" anchor="t"/>
          <a:lstStyle/>
          <a:p>
            <a:pPr indent="0" marL="0">
              <a:buNone/>
            </a:pPr>
            <a:r>
              <a:rPr lang="en-US" sz="950" b="1" dirty="0">
                <a:solidFill>
                  <a:srgbClr val="113A2A"/>
                </a:solidFill>
                <a:latin typeface="Arial" pitchFamily="34" charset="0"/>
                <a:ea typeface="Arial" pitchFamily="34" charset="-122"/>
                <a:cs typeface="Arial" pitchFamily="34" charset="-120"/>
              </a:rPr>
              <a:t>Client stakeholders</a:t>
            </a:r>
            <a:endParaRPr lang="en-US" sz="950" dirty="0"/>
          </a:p>
          <a:p>
            <a:pPr indent="0" marL="0">
              <a:buNone/>
            </a:pPr>
            <a:r>
              <a:rPr lang="en-US" sz="800" dirty="0">
                <a:solidFill>
                  <a:srgbClr val="6E6961"/>
                </a:solidFill>
                <a:latin typeface="Arial" pitchFamily="34" charset="0"/>
                <a:ea typeface="Arial" pitchFamily="34" charset="-122"/>
                <a:cs typeface="Arial" pitchFamily="34" charset="-120"/>
              </a:rPr>
              <a:t>Receive the weekly status deck from a Karta person in Teams or email, as today. Nothing connects to the client's systems. Software never sends.</a:t>
            </a:r>
            <a:endParaRPr lang="en-US" sz="950" dirty="0"/>
          </a:p>
        </p:txBody>
      </p:sp>
      <p:sp>
        <p:nvSpPr>
          <p:cNvPr id="50" name="Shape 47"/>
          <p:cNvSpPr/>
          <p:nvPr/>
        </p:nvSpPr>
        <p:spPr>
          <a:xfrm>
            <a:off x="2450592" y="1828800"/>
            <a:ext cx="384048" cy="0"/>
          </a:xfrm>
          <a:prstGeom prst="line">
            <a:avLst/>
          </a:prstGeom>
          <a:noFill/>
          <a:ln w="12700">
            <a:solidFill>
              <a:srgbClr val="113A2A"/>
            </a:solidFill>
            <a:prstDash val="solid"/>
            <a:tailEnd type="triangle"/>
          </a:ln>
        </p:spPr>
      </p:sp>
      <p:sp>
        <p:nvSpPr>
          <p:cNvPr id="51" name="Shape 48"/>
          <p:cNvSpPr/>
          <p:nvPr/>
        </p:nvSpPr>
        <p:spPr>
          <a:xfrm>
            <a:off x="2551176" y="1600200"/>
            <a:ext cx="201168" cy="201168"/>
          </a:xfrm>
          <a:prstGeom prst="ellipse">
            <a:avLst/>
          </a:prstGeom>
          <a:solidFill>
            <a:srgbClr val="2A654E"/>
          </a:solidFill>
          <a:ln w="12700">
            <a:solidFill>
              <a:srgbClr val="2A654E"/>
            </a:solidFill>
            <a:prstDash val="solid"/>
          </a:ln>
        </p:spPr>
      </p:sp>
      <p:sp>
        <p:nvSpPr>
          <p:cNvPr id="52" name="Text 49"/>
          <p:cNvSpPr txBox="1"/>
          <p:nvPr/>
        </p:nvSpPr>
        <p:spPr>
          <a:xfrm>
            <a:off x="2551176" y="1600200"/>
            <a:ext cx="201168"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1</a:t>
            </a:r>
            <a:endParaRPr lang="en-US" sz="750" dirty="0"/>
          </a:p>
        </p:txBody>
      </p:sp>
      <p:sp>
        <p:nvSpPr>
          <p:cNvPr id="53" name="Shape 50"/>
          <p:cNvSpPr/>
          <p:nvPr/>
        </p:nvSpPr>
        <p:spPr>
          <a:xfrm flipV="1">
            <a:off x="5559552" y="3200400"/>
            <a:ext cx="384048" cy="91440"/>
          </a:xfrm>
          <a:prstGeom prst="line">
            <a:avLst/>
          </a:prstGeom>
          <a:noFill/>
          <a:ln w="12700">
            <a:solidFill>
              <a:srgbClr val="113A2A"/>
            </a:solidFill>
            <a:prstDash val="solid"/>
            <a:tailEnd type="triangle"/>
          </a:ln>
        </p:spPr>
      </p:sp>
      <p:sp>
        <p:nvSpPr>
          <p:cNvPr id="54" name="Shape 51"/>
          <p:cNvSpPr/>
          <p:nvPr/>
        </p:nvSpPr>
        <p:spPr>
          <a:xfrm flipV="1">
            <a:off x="5559552" y="1874520"/>
            <a:ext cx="384048" cy="1325880"/>
          </a:xfrm>
          <a:prstGeom prst="line">
            <a:avLst/>
          </a:prstGeom>
          <a:noFill/>
          <a:ln w="12700">
            <a:solidFill>
              <a:srgbClr val="113A2A"/>
            </a:solidFill>
            <a:prstDash val="solid"/>
            <a:tailEnd type="triangle"/>
          </a:ln>
        </p:spPr>
      </p:sp>
      <p:sp>
        <p:nvSpPr>
          <p:cNvPr id="55" name="Shape 52"/>
          <p:cNvSpPr/>
          <p:nvPr/>
        </p:nvSpPr>
        <p:spPr>
          <a:xfrm>
            <a:off x="5559552" y="3566160"/>
            <a:ext cx="384048" cy="274320"/>
          </a:xfrm>
          <a:prstGeom prst="line">
            <a:avLst/>
          </a:prstGeom>
          <a:noFill/>
          <a:ln w="12700">
            <a:solidFill>
              <a:srgbClr val="113A2A"/>
            </a:solidFill>
            <a:prstDash val="dash"/>
            <a:tailEnd type="triangle"/>
          </a:ln>
        </p:spPr>
      </p:sp>
      <p:sp>
        <p:nvSpPr>
          <p:cNvPr id="56" name="Shape 53"/>
          <p:cNvSpPr/>
          <p:nvPr/>
        </p:nvSpPr>
        <p:spPr>
          <a:xfrm>
            <a:off x="5559552" y="3657600"/>
            <a:ext cx="384048" cy="822960"/>
          </a:xfrm>
          <a:prstGeom prst="line">
            <a:avLst/>
          </a:prstGeom>
          <a:noFill/>
          <a:ln w="12700">
            <a:solidFill>
              <a:srgbClr val="113A2A"/>
            </a:solidFill>
            <a:prstDash val="dash"/>
            <a:tailEnd type="triangle"/>
          </a:ln>
        </p:spPr>
      </p:sp>
      <p:sp>
        <p:nvSpPr>
          <p:cNvPr id="57" name="Shape 54"/>
          <p:cNvSpPr/>
          <p:nvPr/>
        </p:nvSpPr>
        <p:spPr>
          <a:xfrm>
            <a:off x="5559552" y="3749040"/>
            <a:ext cx="384048" cy="1280160"/>
          </a:xfrm>
          <a:prstGeom prst="line">
            <a:avLst/>
          </a:prstGeom>
          <a:noFill/>
          <a:ln w="12700">
            <a:solidFill>
              <a:srgbClr val="113A2A"/>
            </a:solidFill>
            <a:prstDash val="dash"/>
            <a:tailEnd type="triangle"/>
          </a:ln>
        </p:spPr>
      </p:sp>
      <p:sp>
        <p:nvSpPr>
          <p:cNvPr id="58" name="Shape 55"/>
          <p:cNvSpPr/>
          <p:nvPr/>
        </p:nvSpPr>
        <p:spPr>
          <a:xfrm>
            <a:off x="5660136" y="2871216"/>
            <a:ext cx="201168" cy="201168"/>
          </a:xfrm>
          <a:prstGeom prst="ellipse">
            <a:avLst/>
          </a:prstGeom>
          <a:solidFill>
            <a:srgbClr val="2A654E"/>
          </a:solidFill>
          <a:ln w="12700">
            <a:solidFill>
              <a:srgbClr val="2A654E"/>
            </a:solidFill>
            <a:prstDash val="solid"/>
          </a:ln>
        </p:spPr>
      </p:sp>
      <p:sp>
        <p:nvSpPr>
          <p:cNvPr id="59" name="Text 56"/>
          <p:cNvSpPr txBox="1"/>
          <p:nvPr/>
        </p:nvSpPr>
        <p:spPr>
          <a:xfrm>
            <a:off x="5660136" y="2871216"/>
            <a:ext cx="201168"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2</a:t>
            </a:r>
            <a:endParaRPr lang="en-US" sz="750" dirty="0"/>
          </a:p>
        </p:txBody>
      </p:sp>
      <p:sp>
        <p:nvSpPr>
          <p:cNvPr id="60" name="Shape 57"/>
          <p:cNvSpPr/>
          <p:nvPr/>
        </p:nvSpPr>
        <p:spPr>
          <a:xfrm>
            <a:off x="4206240" y="2249424"/>
            <a:ext cx="0" cy="36576"/>
          </a:xfrm>
          <a:prstGeom prst="line">
            <a:avLst/>
          </a:prstGeom>
          <a:noFill/>
          <a:ln w="12700">
            <a:solidFill>
              <a:srgbClr val="113A2A"/>
            </a:solidFill>
            <a:prstDash val="solid"/>
            <a:tailEnd type="triangle"/>
          </a:ln>
        </p:spPr>
      </p:sp>
      <p:sp>
        <p:nvSpPr>
          <p:cNvPr id="61" name="Shape 58"/>
          <p:cNvSpPr/>
          <p:nvPr/>
        </p:nvSpPr>
        <p:spPr>
          <a:xfrm>
            <a:off x="4379976" y="2139696"/>
            <a:ext cx="201168" cy="201168"/>
          </a:xfrm>
          <a:prstGeom prst="ellipse">
            <a:avLst/>
          </a:prstGeom>
          <a:solidFill>
            <a:srgbClr val="2A654E"/>
          </a:solidFill>
          <a:ln w="12700">
            <a:solidFill>
              <a:srgbClr val="2A654E"/>
            </a:solidFill>
            <a:prstDash val="solid"/>
          </a:ln>
        </p:spPr>
      </p:sp>
      <p:sp>
        <p:nvSpPr>
          <p:cNvPr id="62" name="Text 59"/>
          <p:cNvSpPr txBox="1"/>
          <p:nvPr/>
        </p:nvSpPr>
        <p:spPr>
          <a:xfrm>
            <a:off x="4379976" y="2139696"/>
            <a:ext cx="201168"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3</a:t>
            </a:r>
            <a:endParaRPr lang="en-US" sz="750" dirty="0"/>
          </a:p>
        </p:txBody>
      </p:sp>
      <p:sp>
        <p:nvSpPr>
          <p:cNvPr id="63" name="Shape 60"/>
          <p:cNvSpPr/>
          <p:nvPr/>
        </p:nvSpPr>
        <p:spPr>
          <a:xfrm>
            <a:off x="5559552" y="2011680"/>
            <a:ext cx="109728" cy="0"/>
          </a:xfrm>
          <a:prstGeom prst="line">
            <a:avLst/>
          </a:prstGeom>
          <a:noFill/>
          <a:ln w="19050">
            <a:solidFill>
              <a:srgbClr val="2A654E"/>
            </a:solidFill>
            <a:prstDash val="solid"/>
            <a:tailEnd type="triangle"/>
          </a:ln>
        </p:spPr>
      </p:sp>
      <p:sp>
        <p:nvSpPr>
          <p:cNvPr id="64" name="Shape 61"/>
          <p:cNvSpPr/>
          <p:nvPr/>
        </p:nvSpPr>
        <p:spPr>
          <a:xfrm>
            <a:off x="5669280" y="2011680"/>
            <a:ext cx="0" cy="2468880"/>
          </a:xfrm>
          <a:prstGeom prst="line">
            <a:avLst/>
          </a:prstGeom>
          <a:noFill/>
          <a:ln w="19050">
            <a:solidFill>
              <a:srgbClr val="2A654E"/>
            </a:solidFill>
            <a:prstDash val="solid"/>
            <a:tailEnd type="triangle"/>
          </a:ln>
        </p:spPr>
      </p:sp>
      <p:sp>
        <p:nvSpPr>
          <p:cNvPr id="65" name="Shape 62"/>
          <p:cNvSpPr/>
          <p:nvPr/>
        </p:nvSpPr>
        <p:spPr>
          <a:xfrm flipH="1">
            <a:off x="5577840" y="4480560"/>
            <a:ext cx="91440" cy="0"/>
          </a:xfrm>
          <a:prstGeom prst="line">
            <a:avLst/>
          </a:prstGeom>
          <a:noFill/>
          <a:ln w="19050">
            <a:solidFill>
              <a:srgbClr val="2A654E"/>
            </a:solidFill>
            <a:prstDash val="solid"/>
            <a:tailEnd type="triangle"/>
          </a:ln>
        </p:spPr>
      </p:sp>
      <p:sp>
        <p:nvSpPr>
          <p:cNvPr id="66" name="Shape 63"/>
          <p:cNvSpPr/>
          <p:nvPr/>
        </p:nvSpPr>
        <p:spPr>
          <a:xfrm>
            <a:off x="5568696" y="4105656"/>
            <a:ext cx="201168" cy="201168"/>
          </a:xfrm>
          <a:prstGeom prst="ellipse">
            <a:avLst/>
          </a:prstGeom>
          <a:solidFill>
            <a:srgbClr val="2A654E"/>
          </a:solidFill>
          <a:ln w="12700">
            <a:solidFill>
              <a:srgbClr val="2A654E"/>
            </a:solidFill>
            <a:prstDash val="solid"/>
          </a:ln>
        </p:spPr>
      </p:sp>
      <p:sp>
        <p:nvSpPr>
          <p:cNvPr id="67" name="Text 64"/>
          <p:cNvSpPr txBox="1"/>
          <p:nvPr/>
        </p:nvSpPr>
        <p:spPr>
          <a:xfrm>
            <a:off x="5568696" y="4105656"/>
            <a:ext cx="201168"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4</a:t>
            </a:r>
            <a:endParaRPr lang="en-US" sz="750" dirty="0"/>
          </a:p>
        </p:txBody>
      </p:sp>
      <p:sp>
        <p:nvSpPr>
          <p:cNvPr id="68" name="Shape 65"/>
          <p:cNvSpPr/>
          <p:nvPr/>
        </p:nvSpPr>
        <p:spPr>
          <a:xfrm>
            <a:off x="4206240" y="5230368"/>
            <a:ext cx="0" cy="274320"/>
          </a:xfrm>
          <a:prstGeom prst="line">
            <a:avLst/>
          </a:prstGeom>
          <a:noFill/>
          <a:ln w="19050">
            <a:solidFill>
              <a:srgbClr val="2A654E"/>
            </a:solidFill>
            <a:prstDash val="solid"/>
            <a:tailEnd type="triangle"/>
          </a:ln>
        </p:spPr>
      </p:sp>
      <p:sp>
        <p:nvSpPr>
          <p:cNvPr id="69" name="Shape 66"/>
          <p:cNvSpPr/>
          <p:nvPr/>
        </p:nvSpPr>
        <p:spPr>
          <a:xfrm>
            <a:off x="4206240" y="5504688"/>
            <a:ext cx="4663440" cy="0"/>
          </a:xfrm>
          <a:prstGeom prst="line">
            <a:avLst/>
          </a:prstGeom>
          <a:noFill/>
          <a:ln w="19050">
            <a:solidFill>
              <a:srgbClr val="2A654E"/>
            </a:solidFill>
            <a:prstDash val="solid"/>
            <a:tailEnd type="triangle"/>
          </a:ln>
        </p:spPr>
      </p:sp>
      <p:sp>
        <p:nvSpPr>
          <p:cNvPr id="70" name="Shape 67"/>
          <p:cNvSpPr/>
          <p:nvPr/>
        </p:nvSpPr>
        <p:spPr>
          <a:xfrm flipV="1">
            <a:off x="8869680" y="1920240"/>
            <a:ext cx="0" cy="3584448"/>
          </a:xfrm>
          <a:prstGeom prst="line">
            <a:avLst/>
          </a:prstGeom>
          <a:noFill/>
          <a:ln w="19050">
            <a:solidFill>
              <a:srgbClr val="2A654E"/>
            </a:solidFill>
            <a:prstDash val="solid"/>
            <a:tailEnd type="triangle"/>
          </a:ln>
        </p:spPr>
      </p:sp>
      <p:sp>
        <p:nvSpPr>
          <p:cNvPr id="71" name="Shape 68"/>
          <p:cNvSpPr/>
          <p:nvPr/>
        </p:nvSpPr>
        <p:spPr>
          <a:xfrm>
            <a:off x="8869680" y="1920240"/>
            <a:ext cx="182880" cy="0"/>
          </a:xfrm>
          <a:prstGeom prst="line">
            <a:avLst/>
          </a:prstGeom>
          <a:noFill/>
          <a:ln w="19050">
            <a:solidFill>
              <a:srgbClr val="2A654E"/>
            </a:solidFill>
            <a:prstDash val="solid"/>
            <a:tailEnd type="triangle"/>
          </a:ln>
        </p:spPr>
      </p:sp>
      <p:sp>
        <p:nvSpPr>
          <p:cNvPr id="72" name="Shape 69"/>
          <p:cNvSpPr/>
          <p:nvPr/>
        </p:nvSpPr>
        <p:spPr>
          <a:xfrm>
            <a:off x="6665976" y="5404104"/>
            <a:ext cx="201168" cy="201168"/>
          </a:xfrm>
          <a:prstGeom prst="ellipse">
            <a:avLst/>
          </a:prstGeom>
          <a:solidFill>
            <a:srgbClr val="2A654E"/>
          </a:solidFill>
          <a:ln w="12700">
            <a:solidFill>
              <a:srgbClr val="2A654E"/>
            </a:solidFill>
            <a:prstDash val="solid"/>
          </a:ln>
        </p:spPr>
      </p:sp>
      <p:sp>
        <p:nvSpPr>
          <p:cNvPr id="73" name="Text 70"/>
          <p:cNvSpPr txBox="1"/>
          <p:nvPr/>
        </p:nvSpPr>
        <p:spPr>
          <a:xfrm>
            <a:off x="6665976" y="5404104"/>
            <a:ext cx="201168"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5</a:t>
            </a:r>
            <a:endParaRPr lang="en-US" sz="750" dirty="0"/>
          </a:p>
        </p:txBody>
      </p:sp>
      <p:sp>
        <p:nvSpPr>
          <p:cNvPr id="74" name="Shape 71"/>
          <p:cNvSpPr/>
          <p:nvPr/>
        </p:nvSpPr>
        <p:spPr>
          <a:xfrm flipH="1" flipV="1">
            <a:off x="8686800" y="1691640"/>
            <a:ext cx="365760" cy="64008"/>
          </a:xfrm>
          <a:prstGeom prst="line">
            <a:avLst/>
          </a:prstGeom>
          <a:noFill/>
          <a:ln w="19050">
            <a:solidFill>
              <a:srgbClr val="2A654E"/>
            </a:solidFill>
            <a:prstDash val="solid"/>
            <a:tailEnd type="triangle"/>
          </a:ln>
        </p:spPr>
      </p:sp>
      <p:sp>
        <p:nvSpPr>
          <p:cNvPr id="75" name="Shape 72"/>
          <p:cNvSpPr/>
          <p:nvPr/>
        </p:nvSpPr>
        <p:spPr>
          <a:xfrm>
            <a:off x="8769096" y="1472184"/>
            <a:ext cx="201168" cy="201168"/>
          </a:xfrm>
          <a:prstGeom prst="ellipse">
            <a:avLst/>
          </a:prstGeom>
          <a:solidFill>
            <a:srgbClr val="2A654E"/>
          </a:solidFill>
          <a:ln w="12700">
            <a:solidFill>
              <a:srgbClr val="2A654E"/>
            </a:solidFill>
            <a:prstDash val="solid"/>
          </a:ln>
        </p:spPr>
      </p:sp>
      <p:sp>
        <p:nvSpPr>
          <p:cNvPr id="76" name="Text 73"/>
          <p:cNvSpPr txBox="1"/>
          <p:nvPr/>
        </p:nvSpPr>
        <p:spPr>
          <a:xfrm>
            <a:off x="8769096" y="1472184"/>
            <a:ext cx="201168"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6</a:t>
            </a:r>
            <a:endParaRPr lang="en-US" sz="750" dirty="0"/>
          </a:p>
        </p:txBody>
      </p:sp>
      <p:sp>
        <p:nvSpPr>
          <p:cNvPr id="77" name="Shape 74"/>
          <p:cNvSpPr/>
          <p:nvPr/>
        </p:nvSpPr>
        <p:spPr>
          <a:xfrm>
            <a:off x="2450592" y="3931920"/>
            <a:ext cx="0" cy="1828800"/>
          </a:xfrm>
          <a:prstGeom prst="line">
            <a:avLst/>
          </a:prstGeom>
          <a:noFill/>
          <a:ln w="12700">
            <a:solidFill>
              <a:srgbClr val="113A2A"/>
            </a:solidFill>
            <a:prstDash val="solid"/>
            <a:tailEnd type="triangle"/>
          </a:ln>
        </p:spPr>
      </p:sp>
      <p:sp>
        <p:nvSpPr>
          <p:cNvPr id="78" name="Shape 75"/>
          <p:cNvSpPr/>
          <p:nvPr/>
        </p:nvSpPr>
        <p:spPr>
          <a:xfrm>
            <a:off x="2450592" y="5760720"/>
            <a:ext cx="7936992" cy="0"/>
          </a:xfrm>
          <a:prstGeom prst="line">
            <a:avLst/>
          </a:prstGeom>
          <a:noFill/>
          <a:ln w="12700">
            <a:solidFill>
              <a:srgbClr val="113A2A"/>
            </a:solidFill>
            <a:prstDash val="solid"/>
            <a:tailEnd type="triangle"/>
          </a:ln>
        </p:spPr>
      </p:sp>
      <p:sp>
        <p:nvSpPr>
          <p:cNvPr id="79" name="Shape 76"/>
          <p:cNvSpPr/>
          <p:nvPr/>
        </p:nvSpPr>
        <p:spPr>
          <a:xfrm flipV="1">
            <a:off x="10387584" y="5248656"/>
            <a:ext cx="0" cy="512064"/>
          </a:xfrm>
          <a:prstGeom prst="line">
            <a:avLst/>
          </a:prstGeom>
          <a:noFill/>
          <a:ln w="12700">
            <a:solidFill>
              <a:srgbClr val="113A2A"/>
            </a:solidFill>
            <a:prstDash val="solid"/>
            <a:tailEnd type="triangle"/>
          </a:ln>
        </p:spPr>
      </p:sp>
      <p:sp>
        <p:nvSpPr>
          <p:cNvPr id="80" name="Shape 77"/>
          <p:cNvSpPr/>
          <p:nvPr/>
        </p:nvSpPr>
        <p:spPr>
          <a:xfrm>
            <a:off x="6665976" y="5660136"/>
            <a:ext cx="201168" cy="201168"/>
          </a:xfrm>
          <a:prstGeom prst="ellipse">
            <a:avLst/>
          </a:prstGeom>
          <a:solidFill>
            <a:srgbClr val="2A654E"/>
          </a:solidFill>
          <a:ln w="12700">
            <a:solidFill>
              <a:srgbClr val="2A654E"/>
            </a:solidFill>
            <a:prstDash val="solid"/>
          </a:ln>
        </p:spPr>
      </p:sp>
      <p:sp>
        <p:nvSpPr>
          <p:cNvPr id="81" name="Text 78"/>
          <p:cNvSpPr txBox="1"/>
          <p:nvPr/>
        </p:nvSpPr>
        <p:spPr>
          <a:xfrm>
            <a:off x="6665976" y="5660136"/>
            <a:ext cx="201168"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7</a:t>
            </a:r>
            <a:endParaRPr lang="en-US" sz="750" dirty="0"/>
          </a:p>
        </p:txBody>
      </p:sp>
      <p:sp>
        <p:nvSpPr>
          <p:cNvPr id="82" name="Shape 79"/>
          <p:cNvSpPr/>
          <p:nvPr/>
        </p:nvSpPr>
        <p:spPr>
          <a:xfrm>
            <a:off x="8686800" y="2148840"/>
            <a:ext cx="365760" cy="0"/>
          </a:xfrm>
          <a:prstGeom prst="line">
            <a:avLst/>
          </a:prstGeom>
          <a:noFill/>
          <a:ln w="12700">
            <a:solidFill>
              <a:srgbClr val="113A2A"/>
            </a:solidFill>
            <a:prstDash val="solid"/>
            <a:tailEnd type="triangle"/>
          </a:ln>
        </p:spPr>
      </p:sp>
      <p:sp>
        <p:nvSpPr>
          <p:cNvPr id="83" name="Shape 80"/>
          <p:cNvSpPr/>
          <p:nvPr/>
        </p:nvSpPr>
        <p:spPr>
          <a:xfrm>
            <a:off x="8769096" y="2185416"/>
            <a:ext cx="201168" cy="201168"/>
          </a:xfrm>
          <a:prstGeom prst="ellipse">
            <a:avLst/>
          </a:prstGeom>
          <a:solidFill>
            <a:srgbClr val="2A654E"/>
          </a:solidFill>
          <a:ln w="12700">
            <a:solidFill>
              <a:srgbClr val="2A654E"/>
            </a:solidFill>
            <a:prstDash val="solid"/>
          </a:ln>
        </p:spPr>
      </p:sp>
      <p:sp>
        <p:nvSpPr>
          <p:cNvPr id="84" name="Text 81"/>
          <p:cNvSpPr txBox="1"/>
          <p:nvPr/>
        </p:nvSpPr>
        <p:spPr>
          <a:xfrm>
            <a:off x="8769096" y="2185416"/>
            <a:ext cx="201168"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8</a:t>
            </a:r>
            <a:endParaRPr lang="en-US" sz="750" dirty="0"/>
          </a:p>
        </p:txBody>
      </p:sp>
      <p:sp>
        <p:nvSpPr>
          <p:cNvPr id="85" name="Shape 82"/>
          <p:cNvSpPr/>
          <p:nvPr/>
        </p:nvSpPr>
        <p:spPr>
          <a:xfrm flipV="1">
            <a:off x="10387584" y="2340864"/>
            <a:ext cx="0" cy="603504"/>
          </a:xfrm>
          <a:prstGeom prst="line">
            <a:avLst/>
          </a:prstGeom>
          <a:noFill/>
          <a:ln w="12700">
            <a:solidFill>
              <a:srgbClr val="113A2A"/>
            </a:solidFill>
            <a:prstDash val="solid"/>
            <a:tailEnd type="triangle"/>
          </a:ln>
        </p:spPr>
      </p:sp>
      <p:sp>
        <p:nvSpPr>
          <p:cNvPr id="86" name="Shape 83"/>
          <p:cNvSpPr/>
          <p:nvPr/>
        </p:nvSpPr>
        <p:spPr>
          <a:xfrm>
            <a:off x="10460736" y="2551176"/>
            <a:ext cx="201168" cy="201168"/>
          </a:xfrm>
          <a:prstGeom prst="ellipse">
            <a:avLst/>
          </a:prstGeom>
          <a:solidFill>
            <a:srgbClr val="2A654E"/>
          </a:solidFill>
          <a:ln w="12700">
            <a:solidFill>
              <a:srgbClr val="2A654E"/>
            </a:solidFill>
            <a:prstDash val="solid"/>
          </a:ln>
        </p:spPr>
      </p:sp>
      <p:sp>
        <p:nvSpPr>
          <p:cNvPr id="87" name="Text 84"/>
          <p:cNvSpPr txBox="1"/>
          <p:nvPr/>
        </p:nvSpPr>
        <p:spPr>
          <a:xfrm>
            <a:off x="10460736" y="2551176"/>
            <a:ext cx="201168"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9</a:t>
            </a:r>
            <a:endParaRPr lang="en-US" sz="750" dirty="0"/>
          </a:p>
        </p:txBody>
      </p:sp>
      <p:sp>
        <p:nvSpPr>
          <p:cNvPr id="88" name="Shape 85"/>
          <p:cNvSpPr/>
          <p:nvPr/>
        </p:nvSpPr>
        <p:spPr>
          <a:xfrm>
            <a:off x="365760" y="5952744"/>
            <a:ext cx="201168" cy="201168"/>
          </a:xfrm>
          <a:prstGeom prst="ellipse">
            <a:avLst/>
          </a:prstGeom>
          <a:solidFill>
            <a:srgbClr val="2A654E"/>
          </a:solidFill>
          <a:ln w="12700">
            <a:solidFill>
              <a:srgbClr val="2A654E"/>
            </a:solidFill>
            <a:prstDash val="solid"/>
          </a:ln>
        </p:spPr>
      </p:sp>
      <p:sp>
        <p:nvSpPr>
          <p:cNvPr id="89" name="Text 86"/>
          <p:cNvSpPr txBox="1"/>
          <p:nvPr/>
        </p:nvSpPr>
        <p:spPr>
          <a:xfrm>
            <a:off x="365760" y="5952744"/>
            <a:ext cx="201168"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1</a:t>
            </a:r>
            <a:endParaRPr lang="en-US" sz="750" dirty="0"/>
          </a:p>
        </p:txBody>
      </p:sp>
      <p:sp>
        <p:nvSpPr>
          <p:cNvPr id="90" name="Text 87"/>
          <p:cNvSpPr txBox="1"/>
          <p:nvPr/>
        </p:nvSpPr>
        <p:spPr>
          <a:xfrm>
            <a:off x="640080" y="5943600"/>
            <a:ext cx="3520440" cy="210312"/>
          </a:xfrm>
          <a:prstGeom prst="rect">
            <a:avLst/>
          </a:prstGeom>
          <a:noFill/>
          <a:ln/>
        </p:spPr>
        <p:txBody>
          <a:bodyPr wrap="square" lIns="0" tIns="0" rIns="0" bIns="0" rtlCol="0" anchor="ctr"/>
          <a:lstStyle/>
          <a:p>
            <a:pPr indent="0" marL="0">
              <a:buNone/>
            </a:pPr>
            <a:r>
              <a:rPr lang="en-US" sz="750" dirty="0">
                <a:solidFill>
                  <a:srgbClr val="113A2A"/>
                </a:solidFill>
                <a:latin typeface="Arial" pitchFamily="34" charset="0"/>
                <a:ea typeface="Arial" pitchFamily="34" charset="-122"/>
                <a:cs typeface="Arial" pitchFamily="34" charset="-120"/>
              </a:rPr>
              <a:t>Open the workspace in claude.ai with your own seat.</a:t>
            </a:r>
            <a:endParaRPr lang="en-US" sz="750" dirty="0"/>
          </a:p>
        </p:txBody>
      </p:sp>
      <p:sp>
        <p:nvSpPr>
          <p:cNvPr id="91" name="Shape 88"/>
          <p:cNvSpPr/>
          <p:nvPr/>
        </p:nvSpPr>
        <p:spPr>
          <a:xfrm>
            <a:off x="4206240" y="5952744"/>
            <a:ext cx="201168" cy="201168"/>
          </a:xfrm>
          <a:prstGeom prst="ellipse">
            <a:avLst/>
          </a:prstGeom>
          <a:solidFill>
            <a:srgbClr val="2A654E"/>
          </a:solidFill>
          <a:ln w="12700">
            <a:solidFill>
              <a:srgbClr val="2A654E"/>
            </a:solidFill>
            <a:prstDash val="solid"/>
          </a:ln>
        </p:spPr>
      </p:sp>
      <p:sp>
        <p:nvSpPr>
          <p:cNvPr id="92" name="Text 89"/>
          <p:cNvSpPr txBox="1"/>
          <p:nvPr/>
        </p:nvSpPr>
        <p:spPr>
          <a:xfrm>
            <a:off x="4206240" y="5952744"/>
            <a:ext cx="201168"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2</a:t>
            </a:r>
            <a:endParaRPr lang="en-US" sz="750" dirty="0"/>
          </a:p>
        </p:txBody>
      </p:sp>
      <p:sp>
        <p:nvSpPr>
          <p:cNvPr id="93" name="Text 90"/>
          <p:cNvSpPr txBox="1"/>
          <p:nvPr/>
        </p:nvSpPr>
        <p:spPr>
          <a:xfrm>
            <a:off x="4480560" y="5943600"/>
            <a:ext cx="3520440" cy="210312"/>
          </a:xfrm>
          <a:prstGeom prst="rect">
            <a:avLst/>
          </a:prstGeom>
          <a:noFill/>
          <a:ln/>
        </p:spPr>
        <p:txBody>
          <a:bodyPr wrap="square" lIns="0" tIns="0" rIns="0" bIns="0" rtlCol="0" anchor="ctr"/>
          <a:lstStyle/>
          <a:p>
            <a:pPr indent="0" marL="0">
              <a:buNone/>
            </a:pPr>
            <a:r>
              <a:rPr lang="en-US" sz="750" dirty="0">
                <a:solidFill>
                  <a:srgbClr val="113A2A"/>
                </a:solidFill>
                <a:latin typeface="Arial" pitchFamily="34" charset="0"/>
                <a:ea typeface="Arial" pitchFamily="34" charset="-122"/>
                <a:cs typeface="Arial" pitchFamily="34" charset="-120"/>
              </a:rPr>
              <a:t>The page reads Asana and SharePoint as you. Granola, Harvest, Outlook and RAID reads come later.</a:t>
            </a:r>
            <a:endParaRPr lang="en-US" sz="750" dirty="0"/>
          </a:p>
        </p:txBody>
      </p:sp>
      <p:sp>
        <p:nvSpPr>
          <p:cNvPr id="94" name="Shape 91"/>
          <p:cNvSpPr/>
          <p:nvPr/>
        </p:nvSpPr>
        <p:spPr>
          <a:xfrm>
            <a:off x="8046720" y="5952744"/>
            <a:ext cx="201168" cy="201168"/>
          </a:xfrm>
          <a:prstGeom prst="ellipse">
            <a:avLst/>
          </a:prstGeom>
          <a:solidFill>
            <a:srgbClr val="2A654E"/>
          </a:solidFill>
          <a:ln w="12700">
            <a:solidFill>
              <a:srgbClr val="2A654E"/>
            </a:solidFill>
            <a:prstDash val="solid"/>
          </a:ln>
        </p:spPr>
      </p:sp>
      <p:sp>
        <p:nvSpPr>
          <p:cNvPr id="95" name="Text 92"/>
          <p:cNvSpPr txBox="1"/>
          <p:nvPr/>
        </p:nvSpPr>
        <p:spPr>
          <a:xfrm>
            <a:off x="8046720" y="5952744"/>
            <a:ext cx="201168"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3</a:t>
            </a:r>
            <a:endParaRPr lang="en-US" sz="750" dirty="0"/>
          </a:p>
        </p:txBody>
      </p:sp>
      <p:sp>
        <p:nvSpPr>
          <p:cNvPr id="96" name="Text 93"/>
          <p:cNvSpPr txBox="1"/>
          <p:nvPr/>
        </p:nvSpPr>
        <p:spPr>
          <a:xfrm>
            <a:off x="8321040" y="5943600"/>
            <a:ext cx="3520440" cy="210312"/>
          </a:xfrm>
          <a:prstGeom prst="rect">
            <a:avLst/>
          </a:prstGeom>
          <a:noFill/>
          <a:ln/>
        </p:spPr>
        <p:txBody>
          <a:bodyPr wrap="square" lIns="0" tIns="0" rIns="0" bIns="0" rtlCol="0" anchor="ctr"/>
          <a:lstStyle/>
          <a:p>
            <a:pPr indent="0" marL="0">
              <a:buNone/>
            </a:pPr>
            <a:r>
              <a:rPr lang="en-US" sz="750" dirty="0">
                <a:solidFill>
                  <a:srgbClr val="113A2A"/>
                </a:solidFill>
                <a:latin typeface="Arial" pitchFamily="34" charset="0"/>
                <a:ea typeface="Arial" pitchFamily="34" charset="-122"/>
                <a:cs typeface="Arial" pitchFamily="34" charset="-120"/>
              </a:rPr>
              <a:t>Claude drafts the words on a click. Code sets dates and colors.</a:t>
            </a:r>
            <a:endParaRPr lang="en-US" sz="750" dirty="0"/>
          </a:p>
        </p:txBody>
      </p:sp>
      <p:sp>
        <p:nvSpPr>
          <p:cNvPr id="97" name="Shape 94"/>
          <p:cNvSpPr/>
          <p:nvPr/>
        </p:nvSpPr>
        <p:spPr>
          <a:xfrm>
            <a:off x="365760" y="6172200"/>
            <a:ext cx="201168" cy="201168"/>
          </a:xfrm>
          <a:prstGeom prst="ellipse">
            <a:avLst/>
          </a:prstGeom>
          <a:solidFill>
            <a:srgbClr val="2A654E"/>
          </a:solidFill>
          <a:ln w="12700">
            <a:solidFill>
              <a:srgbClr val="2A654E"/>
            </a:solidFill>
            <a:prstDash val="solid"/>
          </a:ln>
        </p:spPr>
      </p:sp>
      <p:sp>
        <p:nvSpPr>
          <p:cNvPr id="98" name="Text 95"/>
          <p:cNvSpPr txBox="1"/>
          <p:nvPr/>
        </p:nvSpPr>
        <p:spPr>
          <a:xfrm>
            <a:off x="365760" y="6172200"/>
            <a:ext cx="201168"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4</a:t>
            </a:r>
            <a:endParaRPr lang="en-US" sz="750" dirty="0"/>
          </a:p>
        </p:txBody>
      </p:sp>
      <p:sp>
        <p:nvSpPr>
          <p:cNvPr id="99" name="Text 96"/>
          <p:cNvSpPr txBox="1"/>
          <p:nvPr/>
        </p:nvSpPr>
        <p:spPr>
          <a:xfrm>
            <a:off x="640080" y="6163056"/>
            <a:ext cx="3520440" cy="210312"/>
          </a:xfrm>
          <a:prstGeom prst="rect">
            <a:avLst/>
          </a:prstGeom>
          <a:noFill/>
          <a:ln/>
        </p:spPr>
        <p:txBody>
          <a:bodyPr wrap="square" lIns="0" tIns="0" rIns="0" bIns="0" rtlCol="0" anchor="ctr"/>
          <a:lstStyle/>
          <a:p>
            <a:pPr indent="0" marL="0">
              <a:buNone/>
            </a:pPr>
            <a:r>
              <a:rPr lang="en-US" sz="750" dirty="0">
                <a:solidFill>
                  <a:srgbClr val="113A2A"/>
                </a:solidFill>
                <a:latin typeface="Arial" pitchFamily="34" charset="0"/>
                <a:ea typeface="Arial" pitchFamily="34" charset="-122"/>
                <a:cs typeface="Arial" pitchFamily="34" charset="-120"/>
              </a:rPr>
              <a:t>You correct and approve under your name. The record is saved with time and sources.</a:t>
            </a:r>
            <a:endParaRPr lang="en-US" sz="750" dirty="0"/>
          </a:p>
        </p:txBody>
      </p:sp>
      <p:sp>
        <p:nvSpPr>
          <p:cNvPr id="100" name="Shape 97"/>
          <p:cNvSpPr/>
          <p:nvPr/>
        </p:nvSpPr>
        <p:spPr>
          <a:xfrm>
            <a:off x="4206240" y="6172200"/>
            <a:ext cx="201168" cy="201168"/>
          </a:xfrm>
          <a:prstGeom prst="ellipse">
            <a:avLst/>
          </a:prstGeom>
          <a:solidFill>
            <a:srgbClr val="2A654E"/>
          </a:solidFill>
          <a:ln w="12700">
            <a:solidFill>
              <a:srgbClr val="2A654E"/>
            </a:solidFill>
            <a:prstDash val="solid"/>
          </a:ln>
        </p:spPr>
      </p:sp>
      <p:sp>
        <p:nvSpPr>
          <p:cNvPr id="101" name="Text 98"/>
          <p:cNvSpPr txBox="1"/>
          <p:nvPr/>
        </p:nvSpPr>
        <p:spPr>
          <a:xfrm>
            <a:off x="4206240" y="6172200"/>
            <a:ext cx="201168"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5</a:t>
            </a:r>
            <a:endParaRPr lang="en-US" sz="750" dirty="0"/>
          </a:p>
        </p:txBody>
      </p:sp>
      <p:sp>
        <p:nvSpPr>
          <p:cNvPr id="102" name="Text 99"/>
          <p:cNvSpPr txBox="1"/>
          <p:nvPr/>
        </p:nvSpPr>
        <p:spPr>
          <a:xfrm>
            <a:off x="4480560" y="6163056"/>
            <a:ext cx="3520440" cy="210312"/>
          </a:xfrm>
          <a:prstGeom prst="rect">
            <a:avLst/>
          </a:prstGeom>
          <a:noFill/>
          <a:ln/>
        </p:spPr>
        <p:txBody>
          <a:bodyPr wrap="square" lIns="0" tIns="0" rIns="0" bIns="0" rtlCol="0" anchor="ctr"/>
          <a:lstStyle/>
          <a:p>
            <a:pPr indent="0" marL="0">
              <a:buNone/>
            </a:pPr>
            <a:r>
              <a:rPr lang="en-US" sz="750" dirty="0">
                <a:solidFill>
                  <a:srgbClr val="113A2A"/>
                </a:solidFill>
                <a:latin typeface="Arial" pitchFamily="34" charset="0"/>
                <a:ea typeface="Arial" pitchFamily="34" charset="-122"/>
                <a:cs typeface="Arial" pitchFamily="34" charset="-120"/>
              </a:rPr>
              <a:t>Approved values go to Karta Assembly; a finished deck comes back. It keeps nothing.</a:t>
            </a:r>
            <a:endParaRPr lang="en-US" sz="750" dirty="0"/>
          </a:p>
        </p:txBody>
      </p:sp>
      <p:sp>
        <p:nvSpPr>
          <p:cNvPr id="103" name="Shape 100"/>
          <p:cNvSpPr/>
          <p:nvPr/>
        </p:nvSpPr>
        <p:spPr>
          <a:xfrm>
            <a:off x="8046720" y="6172200"/>
            <a:ext cx="201168" cy="201168"/>
          </a:xfrm>
          <a:prstGeom prst="ellipse">
            <a:avLst/>
          </a:prstGeom>
          <a:solidFill>
            <a:srgbClr val="2A654E"/>
          </a:solidFill>
          <a:ln w="12700">
            <a:solidFill>
              <a:srgbClr val="2A654E"/>
            </a:solidFill>
            <a:prstDash val="solid"/>
          </a:ln>
        </p:spPr>
      </p:sp>
      <p:sp>
        <p:nvSpPr>
          <p:cNvPr id="104" name="Text 101"/>
          <p:cNvSpPr txBox="1"/>
          <p:nvPr/>
        </p:nvSpPr>
        <p:spPr>
          <a:xfrm>
            <a:off x="8046720" y="6172200"/>
            <a:ext cx="201168"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6</a:t>
            </a:r>
            <a:endParaRPr lang="en-US" sz="750" dirty="0"/>
          </a:p>
        </p:txBody>
      </p:sp>
      <p:sp>
        <p:nvSpPr>
          <p:cNvPr id="105" name="Text 102"/>
          <p:cNvSpPr txBox="1"/>
          <p:nvPr/>
        </p:nvSpPr>
        <p:spPr>
          <a:xfrm>
            <a:off x="8321040" y="6163056"/>
            <a:ext cx="3520440" cy="210312"/>
          </a:xfrm>
          <a:prstGeom prst="rect">
            <a:avLst/>
          </a:prstGeom>
          <a:noFill/>
          <a:ln/>
        </p:spPr>
        <p:txBody>
          <a:bodyPr wrap="square" lIns="0" tIns="0" rIns="0" bIns="0" rtlCol="0" anchor="ctr"/>
          <a:lstStyle/>
          <a:p>
            <a:pPr indent="0" marL="0">
              <a:buNone/>
            </a:pPr>
            <a:r>
              <a:rPr lang="en-US" sz="750" dirty="0">
                <a:solidFill>
                  <a:srgbClr val="113A2A"/>
                </a:solidFill>
                <a:latin typeface="Arial" pitchFamily="34" charset="0"/>
                <a:ea typeface="Arial" pitchFamily="34" charset="-122"/>
                <a:cs typeface="Arial" pitchFamily="34" charset="-120"/>
              </a:rPr>
              <a:t>The deck is saved to the Status &amp; Steer Co folder as you (after IT approves sign-in).</a:t>
            </a:r>
            <a:endParaRPr lang="en-US" sz="750" dirty="0"/>
          </a:p>
        </p:txBody>
      </p:sp>
      <p:sp>
        <p:nvSpPr>
          <p:cNvPr id="106" name="Shape 103"/>
          <p:cNvSpPr/>
          <p:nvPr/>
        </p:nvSpPr>
        <p:spPr>
          <a:xfrm>
            <a:off x="365760" y="6391656"/>
            <a:ext cx="201168" cy="201168"/>
          </a:xfrm>
          <a:prstGeom prst="ellipse">
            <a:avLst/>
          </a:prstGeom>
          <a:solidFill>
            <a:srgbClr val="2A654E"/>
          </a:solidFill>
          <a:ln w="12700">
            <a:solidFill>
              <a:srgbClr val="2A654E"/>
            </a:solidFill>
            <a:prstDash val="solid"/>
          </a:ln>
        </p:spPr>
      </p:sp>
      <p:sp>
        <p:nvSpPr>
          <p:cNvPr id="107" name="Text 104"/>
          <p:cNvSpPr txBox="1"/>
          <p:nvPr/>
        </p:nvSpPr>
        <p:spPr>
          <a:xfrm>
            <a:off x="365760" y="6391656"/>
            <a:ext cx="201168"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7</a:t>
            </a:r>
            <a:endParaRPr lang="en-US" sz="750" dirty="0"/>
          </a:p>
        </p:txBody>
      </p:sp>
      <p:sp>
        <p:nvSpPr>
          <p:cNvPr id="108" name="Text 105"/>
          <p:cNvSpPr txBox="1"/>
          <p:nvPr/>
        </p:nvSpPr>
        <p:spPr>
          <a:xfrm>
            <a:off x="640080" y="6382512"/>
            <a:ext cx="3520440" cy="210312"/>
          </a:xfrm>
          <a:prstGeom prst="rect">
            <a:avLst/>
          </a:prstGeom>
          <a:noFill/>
          <a:ln/>
        </p:spPr>
        <p:txBody>
          <a:bodyPr wrap="square" lIns="0" tIns="0" rIns="0" bIns="0" rtlCol="0" anchor="ctr"/>
          <a:lstStyle/>
          <a:p>
            <a:pPr indent="0" marL="0">
              <a:buNone/>
            </a:pPr>
            <a:r>
              <a:rPr lang="en-US" sz="750" dirty="0">
                <a:solidFill>
                  <a:srgbClr val="113A2A"/>
                </a:solidFill>
                <a:latin typeface="Arial" pitchFamily="34" charset="0"/>
                <a:ea typeface="Arial" pitchFamily="34" charset="-122"/>
                <a:cs typeface="Arial" pitchFamily="34" charset="-120"/>
              </a:rPr>
              <a:t>A person opens it in PowerPoint and sends it, by choice. Software never sends.</a:t>
            </a:r>
            <a:endParaRPr lang="en-US" sz="750" dirty="0"/>
          </a:p>
        </p:txBody>
      </p:sp>
      <p:sp>
        <p:nvSpPr>
          <p:cNvPr id="109" name="Shape 106"/>
          <p:cNvSpPr/>
          <p:nvPr/>
        </p:nvSpPr>
        <p:spPr>
          <a:xfrm>
            <a:off x="4206240" y="6391656"/>
            <a:ext cx="201168" cy="201168"/>
          </a:xfrm>
          <a:prstGeom prst="ellipse">
            <a:avLst/>
          </a:prstGeom>
          <a:solidFill>
            <a:srgbClr val="2A654E"/>
          </a:solidFill>
          <a:ln w="12700">
            <a:solidFill>
              <a:srgbClr val="2A654E"/>
            </a:solidFill>
            <a:prstDash val="solid"/>
          </a:ln>
        </p:spPr>
      </p:sp>
      <p:sp>
        <p:nvSpPr>
          <p:cNvPr id="110" name="Text 107"/>
          <p:cNvSpPr txBox="1"/>
          <p:nvPr/>
        </p:nvSpPr>
        <p:spPr>
          <a:xfrm>
            <a:off x="4206240" y="6391656"/>
            <a:ext cx="201168"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8</a:t>
            </a:r>
            <a:endParaRPr lang="en-US" sz="750" dirty="0"/>
          </a:p>
        </p:txBody>
      </p:sp>
      <p:sp>
        <p:nvSpPr>
          <p:cNvPr id="111" name="Text 108"/>
          <p:cNvSpPr txBox="1"/>
          <p:nvPr/>
        </p:nvSpPr>
        <p:spPr>
          <a:xfrm>
            <a:off x="4480560" y="6382512"/>
            <a:ext cx="3520440" cy="210312"/>
          </a:xfrm>
          <a:prstGeom prst="rect">
            <a:avLst/>
          </a:prstGeom>
          <a:noFill/>
          <a:ln/>
        </p:spPr>
        <p:txBody>
          <a:bodyPr wrap="square" lIns="0" tIns="0" rIns="0" bIns="0" rtlCol="0" anchor="ctr"/>
          <a:lstStyle/>
          <a:p>
            <a:pPr indent="0" marL="0">
              <a:buNone/>
            </a:pPr>
            <a:r>
              <a:rPr lang="en-US" sz="750" dirty="0">
                <a:solidFill>
                  <a:srgbClr val="113A2A"/>
                </a:solidFill>
                <a:latin typeface="Arial" pitchFamily="34" charset="0"/>
                <a:ea typeface="Arial" pitchFamily="34" charset="-122"/>
                <a:cs typeface="Arial" pitchFamily="34" charset="-120"/>
              </a:rPr>
              <a:t>Entra sign-in limits the deck builder to Karta identities. One IT approval pending.</a:t>
            </a:r>
            <a:endParaRPr lang="en-US" sz="750" dirty="0"/>
          </a:p>
        </p:txBody>
      </p:sp>
      <p:sp>
        <p:nvSpPr>
          <p:cNvPr id="112" name="Shape 109"/>
          <p:cNvSpPr/>
          <p:nvPr/>
        </p:nvSpPr>
        <p:spPr>
          <a:xfrm>
            <a:off x="8046720" y="6391656"/>
            <a:ext cx="201168" cy="201168"/>
          </a:xfrm>
          <a:prstGeom prst="ellipse">
            <a:avLst/>
          </a:prstGeom>
          <a:solidFill>
            <a:srgbClr val="2A654E"/>
          </a:solidFill>
          <a:ln w="12700">
            <a:solidFill>
              <a:srgbClr val="2A654E"/>
            </a:solidFill>
            <a:prstDash val="solid"/>
          </a:ln>
        </p:spPr>
      </p:sp>
      <p:sp>
        <p:nvSpPr>
          <p:cNvPr id="113" name="Text 110"/>
          <p:cNvSpPr txBox="1"/>
          <p:nvPr/>
        </p:nvSpPr>
        <p:spPr>
          <a:xfrm>
            <a:off x="8046720" y="6391656"/>
            <a:ext cx="201168" cy="201168"/>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9</a:t>
            </a:r>
            <a:endParaRPr lang="en-US" sz="750" dirty="0"/>
          </a:p>
        </p:txBody>
      </p:sp>
      <p:sp>
        <p:nvSpPr>
          <p:cNvPr id="114" name="Text 111"/>
          <p:cNvSpPr txBox="1"/>
          <p:nvPr/>
        </p:nvSpPr>
        <p:spPr>
          <a:xfrm>
            <a:off x="8321040" y="6382512"/>
            <a:ext cx="3520440" cy="210312"/>
          </a:xfrm>
          <a:prstGeom prst="rect">
            <a:avLst/>
          </a:prstGeom>
          <a:noFill/>
          <a:ln/>
        </p:spPr>
        <p:txBody>
          <a:bodyPr wrap="square" lIns="0" tIns="0" rIns="0" bIns="0" rtlCol="0" anchor="ctr"/>
          <a:lstStyle/>
          <a:p>
            <a:pPr indent="0" marL="0">
              <a:buNone/>
            </a:pPr>
            <a:r>
              <a:rPr lang="en-US" sz="750" dirty="0">
                <a:solidFill>
                  <a:srgbClr val="113A2A"/>
                </a:solidFill>
                <a:latin typeface="Arial" pitchFamily="34" charset="0"/>
                <a:ea typeface="Arial" pitchFamily="34" charset="-122"/>
                <a:cs typeface="Arial" pitchFamily="34" charset="-120"/>
              </a:rPr>
              <a:t>GitHub deploys the deck builder and publishes the pages. Karta-owned from September 14.</a:t>
            </a:r>
            <a:endParaRPr lang="en-US" sz="750" dirty="0"/>
          </a:p>
        </p:txBody>
      </p:sp>
      <p:sp>
        <p:nvSpPr>
          <p:cNvPr id="115" name="Text 112"/>
          <p:cNvSpPr txBox="1"/>
          <p:nvPr/>
        </p:nvSpPr>
        <p:spPr>
          <a:xfrm>
            <a:off x="365760" y="6647688"/>
            <a:ext cx="11430000" cy="182880"/>
          </a:xfrm>
          <a:prstGeom prst="rect">
            <a:avLst/>
          </a:prstGeom>
          <a:noFill/>
          <a:ln/>
        </p:spPr>
        <p:txBody>
          <a:bodyPr wrap="square" lIns="0" tIns="0" rIns="0" bIns="0" rtlCol="0" anchor="ctr"/>
          <a:lstStyle/>
          <a:p>
            <a:pPr indent="0" marL="0">
              <a:buNone/>
            </a:pPr>
            <a:r>
              <a:rPr lang="en-US" sz="700" dirty="0">
                <a:solidFill>
                  <a:srgbClr val="979187"/>
                </a:solidFill>
                <a:latin typeface="Arial" pitchFamily="34" charset="0"/>
                <a:ea typeface="Arial" pitchFamily="34" charset="-122"/>
                <a:cs typeface="Arial" pitchFamily="34" charset="-120"/>
              </a:rPr>
              <a:t>Green arrows carry approved values or the finished deck and exist only after a named approval. Dashed lines are planned. September 9, 2026.</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2026-09-09T17:53:56Z</dcterms:created>
  <dcterms:modified xsi:type="dcterms:W3CDTF">2026-09-09T17:53:56Z</dcterms:modified>
</cp:coreProperties>
</file>