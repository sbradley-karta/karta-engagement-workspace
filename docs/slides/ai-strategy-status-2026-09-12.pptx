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weekly status of the AI program, September 12, 2026. Overall Green with one Yellow workstream.
Accomplished: Legend workspace live September 8. First Weekly Status approved and the client deck built September 9. Blank template with a non-technical setup screen. A new engagement stands up in about ten minutes. Cold test under way: two colleagues setting up a second workspace unassisted to expose the gaps. Karta GitHub and Google Cloud accounts approved September 9. Setup request sent to Marianna. One self-contained code repository with a documented operating model, solution design and showcase.
Planned: Weekly Status every Friday on Legend and the second engagement. Fold in the cold-test findings. Re-check the Legend SharePoint link and stage dates. Karta GitHub organization and Cloud account set up. Move the repository and the assembly service. Follow up with IT on Microsoft Entra admin consent. Ethan's review of the status contracts and vocabulary.
Decision: Confirm the 90-day release dates: October 3, October 31, December 5, scale review December 12.
Decision: Name the second pilot engagement and its reviewer.
Risk: Entra admin consent pending with IT. Until granted, reviewers save decks to SharePoint themselves and connector sign-in stays deferred. Interim mode is running.
Watch: Practitioner time to run Weekly Status each week alongside client work.
Workstreams: Engagement Workspace · Project Status Reporting is Green. Live for Legend. Weekly Status v1 approved and deck built. Setup, Home, Weekly Status, Config and pilot measures in place. Foundations Package · requirements to mockups is Green. Mockup Generator in use. BRD, Design Deck and Integration Matrix skills in progress. Meeting closeout into requirements is the next piece. Governance and operating model is Green. Capability catalog with owners and readiness labels. Named approvals recorded. Idea, Invest, Pilot, Scale pipeline defined. Protected main, pull requests and CI documented. Platform, accounts and IT is Yellow. GitHub and Cloud accounts approved, setup week of September 14. Entra admin consent pending. Cloud spend to date $0.36 against a $300 credit. Skills and practitioner enablement is Green. Complete: Estimator, Win Story, Industry One Pager, RFP Questions, Status Decks, RAID Log updates, Granola to Asana follow-ups. Six more in progress across Foundations and Build.
The 90-day dates are proposed and should be confirmed in this meeting. Each release is reviewed at month end; contents are the working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57200" y="384048"/>
            <a:ext cx="310896" cy="310896"/>
          </a:xfrm>
          <a:prstGeom prst="rect">
            <a:avLst/>
          </a:prstGeom>
        </p:spPr>
      </p:pic>
      <p:sp>
        <p:nvSpPr>
          <p:cNvPr id="3" name="Text 0"/>
          <p:cNvSpPr txBox="1"/>
          <p:nvPr/>
        </p:nvSpPr>
        <p:spPr>
          <a:xfrm>
            <a:off x="868680" y="402336"/>
            <a:ext cx="3657600" cy="274320"/>
          </a:xfrm>
          <a:prstGeom prst="rect">
            <a:avLst/>
          </a:prstGeom>
          <a:noFill/>
          <a:ln/>
        </p:spPr>
        <p:txBody>
          <a:bodyPr wrap="square" lIns="0" tIns="0" rIns="0" bIns="0" rtlCol="0" anchor="ctr"/>
          <a:lstStyle/>
          <a:p>
            <a:pPr indent="0" marL="0">
              <a:buNone/>
            </a:pPr>
            <a:r>
              <a:rPr lang="en-US" sz="950" b="1" spc="200" kern="0" dirty="0">
                <a:solidFill>
                  <a:srgbClr val="113A2A"/>
                </a:solidFill>
                <a:latin typeface="Arial" pitchFamily="34" charset="0"/>
                <a:ea typeface="Arial" pitchFamily="34" charset="-122"/>
                <a:cs typeface="Arial" pitchFamily="34" charset="-120"/>
              </a:rPr>
              <a:t>KARTA CONSULTING GROUP</a:t>
            </a:r>
            <a:endParaRPr lang="en-US" sz="950" dirty="0"/>
          </a:p>
        </p:txBody>
      </p:sp>
      <p:sp>
        <p:nvSpPr>
          <p:cNvPr id="4" name="Text 1"/>
          <p:cNvSpPr txBox="1"/>
          <p:nvPr/>
        </p:nvSpPr>
        <p:spPr>
          <a:xfrm>
            <a:off x="6675120" y="402336"/>
            <a:ext cx="5056632" cy="274320"/>
          </a:xfrm>
          <a:prstGeom prst="rect">
            <a:avLst/>
          </a:prstGeom>
          <a:noFill/>
          <a:ln/>
        </p:spPr>
        <p:txBody>
          <a:bodyPr wrap="square" lIns="0" tIns="0" rIns="0" bIns="0" rtlCol="0" anchor="ctr"/>
          <a:lstStyle/>
          <a:p>
            <a:pPr algn="r" indent="0" marL="0">
              <a:buNone/>
            </a:pPr>
            <a:r>
              <a:rPr lang="en-US" sz="950" dirty="0">
                <a:solidFill>
                  <a:srgbClr val="979187"/>
                </a:solidFill>
                <a:latin typeface="Arial" pitchFamily="34" charset="0"/>
                <a:ea typeface="Arial" pitchFamily="34" charset="-122"/>
                <a:cs typeface="Arial" pitchFamily="34" charset="-120"/>
              </a:rPr>
              <a:t>AI strategy · Weekly status · September 12, 2026</a:t>
            </a:r>
            <a:endParaRPr lang="en-US" sz="950" dirty="0"/>
          </a:p>
        </p:txBody>
      </p:sp>
      <p:sp>
        <p:nvSpPr>
          <p:cNvPr id="5" name="Text 2"/>
          <p:cNvSpPr txBox="1"/>
          <p:nvPr/>
        </p:nvSpPr>
        <p:spPr>
          <a:xfrm>
            <a:off x="457200" y="896112"/>
            <a:ext cx="8686800" cy="457200"/>
          </a:xfrm>
          <a:prstGeom prst="rect">
            <a:avLst/>
          </a:prstGeom>
          <a:noFill/>
          <a:ln/>
        </p:spPr>
        <p:txBody>
          <a:bodyPr wrap="square" lIns="0" tIns="0" rIns="0" bIns="0" rtlCol="0" anchor="ctr"/>
          <a:lstStyle/>
          <a:p>
            <a:pPr indent="0" marL="0">
              <a:buNone/>
            </a:pPr>
            <a:r>
              <a:rPr lang="en-US" sz="2600" b="1" dirty="0">
                <a:solidFill>
                  <a:srgbClr val="113A2A"/>
                </a:solidFill>
                <a:latin typeface="Arial" pitchFamily="34" charset="0"/>
                <a:ea typeface="Arial" pitchFamily="34" charset="-122"/>
                <a:cs typeface="Arial" pitchFamily="34" charset="-120"/>
              </a:rPr>
              <a:t>AI strategy: weekly status</a:t>
            </a:r>
            <a:endParaRPr lang="en-US" sz="2600" dirty="0"/>
          </a:p>
        </p:txBody>
      </p:sp>
      <p:sp>
        <p:nvSpPr>
          <p:cNvPr id="6" name="Text 3"/>
          <p:cNvSpPr txBox="1"/>
          <p:nvPr/>
        </p:nvSpPr>
        <p:spPr>
          <a:xfrm>
            <a:off x="457200" y="1371600"/>
            <a:ext cx="7589520" cy="256032"/>
          </a:xfrm>
          <a:prstGeom prst="rect">
            <a:avLst/>
          </a:prstGeom>
          <a:noFill/>
          <a:ln/>
        </p:spPr>
        <p:txBody>
          <a:bodyPr wrap="square" lIns="0" tIns="0" rIns="0" bIns="0" rtlCol="0" anchor="ctr"/>
          <a:lstStyle/>
          <a:p>
            <a:pPr indent="0" marL="0">
              <a:buNone/>
            </a:pPr>
            <a:r>
              <a:rPr lang="en-US" sz="1200" dirty="0">
                <a:solidFill>
                  <a:srgbClr val="6E6961"/>
                </a:solidFill>
                <a:latin typeface="Arial" pitchFamily="34" charset="0"/>
                <a:ea typeface="Arial" pitchFamily="34" charset="-122"/>
                <a:cs typeface="Arial" pitchFamily="34" charset="-120"/>
              </a:rPr>
              <a:t>Week of September 7 to 11, 2026 · first weekly status of the 90-day push</a:t>
            </a:r>
            <a:endParaRPr lang="en-US" sz="1200" dirty="0"/>
          </a:p>
        </p:txBody>
      </p:sp>
      <p:sp>
        <p:nvSpPr>
          <p:cNvPr id="7" name="Text 4"/>
          <p:cNvSpPr txBox="1"/>
          <p:nvPr/>
        </p:nvSpPr>
        <p:spPr>
          <a:xfrm>
            <a:off x="9509760" y="914400"/>
            <a:ext cx="822960" cy="365760"/>
          </a:xfrm>
          <a:prstGeom prst="rect">
            <a:avLst/>
          </a:prstGeom>
          <a:noFill/>
          <a:ln/>
        </p:spPr>
        <p:txBody>
          <a:bodyPr wrap="square" lIns="0" tIns="0" rIns="0" bIns="0" rtlCol="0" anchor="ctr"/>
          <a:lstStyle/>
          <a:p>
            <a:pPr algn="r" indent="0" marL="0">
              <a:buNone/>
            </a:pPr>
            <a:r>
              <a:rPr lang="en-US" sz="850" b="1" spc="150" kern="0" dirty="0">
                <a:solidFill>
                  <a:srgbClr val="2A654E"/>
                </a:solidFill>
                <a:latin typeface="Arial" pitchFamily="34" charset="0"/>
                <a:ea typeface="Arial" pitchFamily="34" charset="-122"/>
                <a:cs typeface="Arial" pitchFamily="34" charset="-120"/>
              </a:rPr>
              <a:t>OVERALL</a:t>
            </a:r>
            <a:endParaRPr lang="en-US" sz="850" dirty="0"/>
          </a:p>
        </p:txBody>
      </p:sp>
      <p:sp>
        <p:nvSpPr>
          <p:cNvPr id="8" name="Shape 5"/>
          <p:cNvSpPr/>
          <p:nvPr/>
        </p:nvSpPr>
        <p:spPr>
          <a:xfrm>
            <a:off x="10451592" y="914400"/>
            <a:ext cx="1280160" cy="365760"/>
          </a:xfrm>
          <a:prstGeom prst="roundRect">
            <a:avLst>
              <a:gd name="adj" fmla="val 30000"/>
            </a:avLst>
          </a:prstGeom>
          <a:solidFill>
            <a:srgbClr val="2A654E"/>
          </a:solidFill>
          <a:ln w="12700">
            <a:solidFill>
              <a:srgbClr val="2A654E"/>
            </a:solidFill>
            <a:prstDash val="solid"/>
          </a:ln>
        </p:spPr>
      </p:sp>
      <p:sp>
        <p:nvSpPr>
          <p:cNvPr id="9" name="Text 6"/>
          <p:cNvSpPr txBox="1"/>
          <p:nvPr/>
        </p:nvSpPr>
        <p:spPr>
          <a:xfrm>
            <a:off x="10451592" y="914400"/>
            <a:ext cx="1280160" cy="36576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Arial" pitchFamily="34" charset="0"/>
                <a:ea typeface="Arial" pitchFamily="34" charset="-122"/>
                <a:cs typeface="Arial" pitchFamily="34" charset="-120"/>
              </a:rPr>
              <a:t>GREEN</a:t>
            </a:r>
            <a:endParaRPr lang="en-US" sz="1000" dirty="0"/>
          </a:p>
        </p:txBody>
      </p:sp>
      <p:sp>
        <p:nvSpPr>
          <p:cNvPr id="10" name="Text 7"/>
          <p:cNvSpPr txBox="1"/>
          <p:nvPr/>
        </p:nvSpPr>
        <p:spPr>
          <a:xfrm>
            <a:off x="8229600" y="1353312"/>
            <a:ext cx="3502152" cy="274320"/>
          </a:xfrm>
          <a:prstGeom prst="rect">
            <a:avLst/>
          </a:prstGeom>
          <a:noFill/>
          <a:ln/>
        </p:spPr>
        <p:txBody>
          <a:bodyPr wrap="square" lIns="0" tIns="0" rIns="0" bIns="0" rtlCol="0" anchor="ctr"/>
          <a:lstStyle/>
          <a:p>
            <a:pPr algn="r" indent="0" marL="0">
              <a:buNone/>
            </a:pPr>
            <a:r>
              <a:rPr lang="en-US" sz="900" dirty="0">
                <a:solidFill>
                  <a:srgbClr val="6E6961"/>
                </a:solidFill>
                <a:latin typeface="Arial" pitchFamily="34" charset="0"/>
                <a:ea typeface="Arial" pitchFamily="34" charset="-122"/>
                <a:cs typeface="Arial" pitchFamily="34" charset="-120"/>
              </a:rPr>
              <a:t>One workstream Yellow: platform accounts and IT consent.</a:t>
            </a:r>
            <a:endParaRPr lang="en-US" sz="900" dirty="0"/>
          </a:p>
        </p:txBody>
      </p:sp>
      <p:sp>
        <p:nvSpPr>
          <p:cNvPr id="11" name="Text 8"/>
          <p:cNvSpPr txBox="1"/>
          <p:nvPr/>
        </p:nvSpPr>
        <p:spPr>
          <a:xfrm>
            <a:off x="457200" y="1920240"/>
            <a:ext cx="3575304" cy="182880"/>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ACCOMPLISHED THIS WEEK</a:t>
            </a:r>
            <a:endParaRPr lang="en-US" sz="850" dirty="0"/>
          </a:p>
        </p:txBody>
      </p:sp>
      <p:sp>
        <p:nvSpPr>
          <p:cNvPr id="12" name="Shape 9"/>
          <p:cNvSpPr/>
          <p:nvPr/>
        </p:nvSpPr>
        <p:spPr>
          <a:xfrm>
            <a:off x="457200" y="2157984"/>
            <a:ext cx="3575304" cy="0"/>
          </a:xfrm>
          <a:prstGeom prst="line">
            <a:avLst/>
          </a:prstGeom>
          <a:noFill/>
          <a:ln w="9525">
            <a:solidFill>
              <a:srgbClr val="C9C5BE"/>
            </a:solidFill>
            <a:prstDash val="solid"/>
          </a:ln>
        </p:spPr>
      </p:sp>
      <p:sp>
        <p:nvSpPr>
          <p:cNvPr id="13" name="Text 10"/>
          <p:cNvSpPr txBox="1"/>
          <p:nvPr/>
        </p:nvSpPr>
        <p:spPr>
          <a:xfrm>
            <a:off x="457200" y="2286000"/>
            <a:ext cx="3575304" cy="182880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113A2A"/>
                </a:solidFill>
                <a:latin typeface="Arial" pitchFamily="34" charset="0"/>
                <a:ea typeface="Arial" pitchFamily="34" charset="-122"/>
                <a:cs typeface="Arial" pitchFamily="34" charset="-120"/>
              </a:rPr>
              <a:t>Legend workspace live September 8. First Weekly Status approved and the client deck built September 9.</a:t>
            </a:r>
            <a:endParaRPr lang="en-US" sz="1000" dirty="0"/>
          </a:p>
          <a:p>
            <a:pPr marL="152400" indent="-152400">
              <a:spcAft>
                <a:spcPts val="600"/>
              </a:spcAft>
              <a:buSzPct val="100000"/>
              <a:buChar char="•"/>
            </a:pPr>
            <a:r>
              <a:rPr lang="en-US" sz="1000" dirty="0">
                <a:solidFill>
                  <a:srgbClr val="113A2A"/>
                </a:solidFill>
                <a:latin typeface="Arial" pitchFamily="34" charset="0"/>
                <a:ea typeface="Arial" pitchFamily="34" charset="-122"/>
                <a:cs typeface="Arial" pitchFamily="34" charset="-120"/>
              </a:rPr>
              <a:t>Blank template with a non-technical setup screen. A new engagement stands up in about ten minutes.</a:t>
            </a:r>
            <a:endParaRPr lang="en-US" sz="1000" dirty="0"/>
          </a:p>
          <a:p>
            <a:pPr marL="152400" indent="-152400">
              <a:spcAft>
                <a:spcPts val="600"/>
              </a:spcAft>
              <a:buSzPct val="100000"/>
              <a:buChar char="•"/>
            </a:pPr>
            <a:r>
              <a:rPr lang="en-US" sz="1000" dirty="0">
                <a:solidFill>
                  <a:srgbClr val="113A2A"/>
                </a:solidFill>
                <a:latin typeface="Arial" pitchFamily="34" charset="0"/>
                <a:ea typeface="Arial" pitchFamily="34" charset="-122"/>
                <a:cs typeface="Arial" pitchFamily="34" charset="-120"/>
              </a:rPr>
              <a:t>Cold test under way: two colleagues setting up a second workspace unassisted to expose the gaps.</a:t>
            </a:r>
            <a:endParaRPr lang="en-US" sz="1000" dirty="0"/>
          </a:p>
          <a:p>
            <a:pPr marL="152400" indent="-152400">
              <a:spcAft>
                <a:spcPts val="600"/>
              </a:spcAft>
              <a:buSzPct val="100000"/>
              <a:buChar char="•"/>
            </a:pPr>
            <a:r>
              <a:rPr lang="en-US" sz="1000" dirty="0">
                <a:solidFill>
                  <a:srgbClr val="113A2A"/>
                </a:solidFill>
                <a:latin typeface="Arial" pitchFamily="34" charset="0"/>
                <a:ea typeface="Arial" pitchFamily="34" charset="-122"/>
                <a:cs typeface="Arial" pitchFamily="34" charset="-120"/>
              </a:rPr>
              <a:t>Karta GitHub and Google Cloud accounts approved September 9. Setup request sent to Marianna.</a:t>
            </a:r>
            <a:endParaRPr lang="en-US" sz="1000" dirty="0"/>
          </a:p>
          <a:p>
            <a:pPr marL="152400" indent="-152400">
              <a:spcAft>
                <a:spcPts val="600"/>
              </a:spcAft>
              <a:buSzPct val="100000"/>
              <a:buChar char="•"/>
            </a:pPr>
            <a:r>
              <a:rPr lang="en-US" sz="1000" dirty="0">
                <a:solidFill>
                  <a:srgbClr val="113A2A"/>
                </a:solidFill>
                <a:latin typeface="Arial" pitchFamily="34" charset="0"/>
                <a:ea typeface="Arial" pitchFamily="34" charset="-122"/>
                <a:cs typeface="Arial" pitchFamily="34" charset="-120"/>
              </a:rPr>
              <a:t>One self-contained code repository with a documented operating model, solution design and showcase.</a:t>
            </a:r>
            <a:endParaRPr lang="en-US" sz="1000" dirty="0"/>
          </a:p>
        </p:txBody>
      </p:sp>
      <p:sp>
        <p:nvSpPr>
          <p:cNvPr id="14" name="Text 11"/>
          <p:cNvSpPr txBox="1"/>
          <p:nvPr/>
        </p:nvSpPr>
        <p:spPr>
          <a:xfrm>
            <a:off x="4306824" y="1920240"/>
            <a:ext cx="3575304" cy="182880"/>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PLANNED NEXT WEEK</a:t>
            </a:r>
            <a:endParaRPr lang="en-US" sz="850" dirty="0"/>
          </a:p>
        </p:txBody>
      </p:sp>
      <p:sp>
        <p:nvSpPr>
          <p:cNvPr id="15" name="Shape 12"/>
          <p:cNvSpPr/>
          <p:nvPr/>
        </p:nvSpPr>
        <p:spPr>
          <a:xfrm>
            <a:off x="4306824" y="2157984"/>
            <a:ext cx="3575304" cy="0"/>
          </a:xfrm>
          <a:prstGeom prst="line">
            <a:avLst/>
          </a:prstGeom>
          <a:noFill/>
          <a:ln w="9525">
            <a:solidFill>
              <a:srgbClr val="C9C5BE"/>
            </a:solidFill>
            <a:prstDash val="solid"/>
          </a:ln>
        </p:spPr>
      </p:sp>
      <p:sp>
        <p:nvSpPr>
          <p:cNvPr id="16" name="Text 13"/>
          <p:cNvSpPr txBox="1"/>
          <p:nvPr/>
        </p:nvSpPr>
        <p:spPr>
          <a:xfrm>
            <a:off x="4306824" y="2286000"/>
            <a:ext cx="3575304" cy="182880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113A2A"/>
                </a:solidFill>
                <a:latin typeface="Arial" pitchFamily="34" charset="0"/>
                <a:ea typeface="Arial" pitchFamily="34" charset="-122"/>
                <a:cs typeface="Arial" pitchFamily="34" charset="-120"/>
              </a:rPr>
              <a:t>Weekly Status every Friday on Legend and the second engagement.</a:t>
            </a:r>
            <a:endParaRPr lang="en-US" sz="1000" dirty="0"/>
          </a:p>
          <a:p>
            <a:pPr marL="152400" indent="-152400">
              <a:spcAft>
                <a:spcPts val="600"/>
              </a:spcAft>
              <a:buSzPct val="100000"/>
              <a:buChar char="•"/>
            </a:pPr>
            <a:r>
              <a:rPr lang="en-US" sz="1000" dirty="0">
                <a:solidFill>
                  <a:srgbClr val="113A2A"/>
                </a:solidFill>
                <a:latin typeface="Arial" pitchFamily="34" charset="0"/>
                <a:ea typeface="Arial" pitchFamily="34" charset="-122"/>
                <a:cs typeface="Arial" pitchFamily="34" charset="-120"/>
              </a:rPr>
              <a:t>Fold in the cold-test findings. Re-check the Legend SharePoint link and stage dates.</a:t>
            </a:r>
            <a:endParaRPr lang="en-US" sz="1000" dirty="0"/>
          </a:p>
          <a:p>
            <a:pPr marL="152400" indent="-152400">
              <a:spcAft>
                <a:spcPts val="600"/>
              </a:spcAft>
              <a:buSzPct val="100000"/>
              <a:buChar char="•"/>
            </a:pPr>
            <a:r>
              <a:rPr lang="en-US" sz="1000" dirty="0">
                <a:solidFill>
                  <a:srgbClr val="113A2A"/>
                </a:solidFill>
                <a:latin typeface="Arial" pitchFamily="34" charset="0"/>
                <a:ea typeface="Arial" pitchFamily="34" charset="-122"/>
                <a:cs typeface="Arial" pitchFamily="34" charset="-120"/>
              </a:rPr>
              <a:t>Karta GitHub organization and Cloud account set up. Move the repository and the assembly service.</a:t>
            </a:r>
            <a:endParaRPr lang="en-US" sz="1000" dirty="0"/>
          </a:p>
          <a:p>
            <a:pPr marL="152400" indent="-152400">
              <a:spcAft>
                <a:spcPts val="600"/>
              </a:spcAft>
              <a:buSzPct val="100000"/>
              <a:buChar char="•"/>
            </a:pPr>
            <a:r>
              <a:rPr lang="en-US" sz="1000" dirty="0">
                <a:solidFill>
                  <a:srgbClr val="113A2A"/>
                </a:solidFill>
                <a:latin typeface="Arial" pitchFamily="34" charset="0"/>
                <a:ea typeface="Arial" pitchFamily="34" charset="-122"/>
                <a:cs typeface="Arial" pitchFamily="34" charset="-120"/>
              </a:rPr>
              <a:t>Follow up with IT on Microsoft Entra admin consent.</a:t>
            </a:r>
            <a:endParaRPr lang="en-US" sz="1000" dirty="0"/>
          </a:p>
          <a:p>
            <a:pPr marL="152400" indent="-152400">
              <a:spcAft>
                <a:spcPts val="600"/>
              </a:spcAft>
              <a:buSzPct val="100000"/>
              <a:buChar char="•"/>
            </a:pPr>
            <a:r>
              <a:rPr lang="en-US" sz="1000" dirty="0">
                <a:solidFill>
                  <a:srgbClr val="113A2A"/>
                </a:solidFill>
                <a:latin typeface="Arial" pitchFamily="34" charset="0"/>
                <a:ea typeface="Arial" pitchFamily="34" charset="-122"/>
                <a:cs typeface="Arial" pitchFamily="34" charset="-120"/>
              </a:rPr>
              <a:t>Ethan's review of the status contracts and vocabulary.</a:t>
            </a:r>
            <a:endParaRPr lang="en-US" sz="1000" dirty="0"/>
          </a:p>
        </p:txBody>
      </p:sp>
      <p:sp>
        <p:nvSpPr>
          <p:cNvPr id="17" name="Text 14"/>
          <p:cNvSpPr txBox="1"/>
          <p:nvPr/>
        </p:nvSpPr>
        <p:spPr>
          <a:xfrm>
            <a:off x="8156448" y="1920240"/>
            <a:ext cx="3575304" cy="182880"/>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DECISIONS, RISKS AND WATCH ITEMS</a:t>
            </a:r>
            <a:endParaRPr lang="en-US" sz="850" dirty="0"/>
          </a:p>
        </p:txBody>
      </p:sp>
      <p:sp>
        <p:nvSpPr>
          <p:cNvPr id="18" name="Shape 15"/>
          <p:cNvSpPr/>
          <p:nvPr/>
        </p:nvSpPr>
        <p:spPr>
          <a:xfrm>
            <a:off x="8156448" y="2157984"/>
            <a:ext cx="3575304" cy="0"/>
          </a:xfrm>
          <a:prstGeom prst="line">
            <a:avLst/>
          </a:prstGeom>
          <a:noFill/>
          <a:ln w="9525">
            <a:solidFill>
              <a:srgbClr val="C9C5BE"/>
            </a:solidFill>
            <a:prstDash val="solid"/>
          </a:ln>
        </p:spPr>
      </p:sp>
      <p:sp>
        <p:nvSpPr>
          <p:cNvPr id="19" name="Shape 16"/>
          <p:cNvSpPr/>
          <p:nvPr/>
        </p:nvSpPr>
        <p:spPr>
          <a:xfrm>
            <a:off x="8156448" y="2295144"/>
            <a:ext cx="621792" cy="164592"/>
          </a:xfrm>
          <a:prstGeom prst="roundRect">
            <a:avLst>
              <a:gd name="adj" fmla="val 16667"/>
            </a:avLst>
          </a:prstGeom>
          <a:solidFill>
            <a:srgbClr val="2A654E"/>
          </a:solidFill>
          <a:ln w="12700">
            <a:solidFill>
              <a:srgbClr val="2A654E"/>
            </a:solidFill>
            <a:prstDash val="solid"/>
          </a:ln>
        </p:spPr>
      </p:sp>
      <p:sp>
        <p:nvSpPr>
          <p:cNvPr id="20" name="Text 17"/>
          <p:cNvSpPr txBox="1"/>
          <p:nvPr/>
        </p:nvSpPr>
        <p:spPr>
          <a:xfrm>
            <a:off x="8156448" y="2295144"/>
            <a:ext cx="621792" cy="164592"/>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DECISION</a:t>
            </a:r>
            <a:endParaRPr lang="en-US" sz="650" dirty="0"/>
          </a:p>
        </p:txBody>
      </p:sp>
      <p:sp>
        <p:nvSpPr>
          <p:cNvPr id="21" name="Text 18"/>
          <p:cNvSpPr txBox="1"/>
          <p:nvPr/>
        </p:nvSpPr>
        <p:spPr>
          <a:xfrm>
            <a:off x="8869680" y="2286000"/>
            <a:ext cx="2862072" cy="310896"/>
          </a:xfrm>
          <a:prstGeom prst="rect">
            <a:avLst/>
          </a:prstGeom>
          <a:noFill/>
          <a:ln/>
        </p:spPr>
        <p:txBody>
          <a:bodyPr wrap="square" lIns="0" tIns="0" rIns="0" bIns="0" rtlCol="0" anchor="t"/>
          <a:lstStyle/>
          <a:p>
            <a:pPr indent="0" marL="0">
              <a:buNone/>
            </a:pPr>
            <a:r>
              <a:rPr lang="en-US" sz="900" dirty="0">
                <a:solidFill>
                  <a:srgbClr val="113A2A"/>
                </a:solidFill>
                <a:latin typeface="Arial" pitchFamily="34" charset="0"/>
                <a:ea typeface="Arial" pitchFamily="34" charset="-122"/>
                <a:cs typeface="Arial" pitchFamily="34" charset="-120"/>
              </a:rPr>
              <a:t>Confirm the 90-day release dates: October 3, October 31, December 5, scale review December 12.</a:t>
            </a:r>
            <a:endParaRPr lang="en-US" sz="900" dirty="0"/>
          </a:p>
        </p:txBody>
      </p:sp>
      <p:sp>
        <p:nvSpPr>
          <p:cNvPr id="22" name="Shape 19"/>
          <p:cNvSpPr/>
          <p:nvPr/>
        </p:nvSpPr>
        <p:spPr>
          <a:xfrm>
            <a:off x="8156448" y="2697480"/>
            <a:ext cx="621792" cy="164592"/>
          </a:xfrm>
          <a:prstGeom prst="roundRect">
            <a:avLst>
              <a:gd name="adj" fmla="val 16667"/>
            </a:avLst>
          </a:prstGeom>
          <a:solidFill>
            <a:srgbClr val="2A654E"/>
          </a:solidFill>
          <a:ln w="12700">
            <a:solidFill>
              <a:srgbClr val="2A654E"/>
            </a:solidFill>
            <a:prstDash val="solid"/>
          </a:ln>
        </p:spPr>
      </p:sp>
      <p:sp>
        <p:nvSpPr>
          <p:cNvPr id="23" name="Text 20"/>
          <p:cNvSpPr txBox="1"/>
          <p:nvPr/>
        </p:nvSpPr>
        <p:spPr>
          <a:xfrm>
            <a:off x="8156448" y="2697480"/>
            <a:ext cx="621792" cy="164592"/>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DECISION</a:t>
            </a:r>
            <a:endParaRPr lang="en-US" sz="650" dirty="0"/>
          </a:p>
        </p:txBody>
      </p:sp>
      <p:sp>
        <p:nvSpPr>
          <p:cNvPr id="24" name="Text 21"/>
          <p:cNvSpPr txBox="1"/>
          <p:nvPr/>
        </p:nvSpPr>
        <p:spPr>
          <a:xfrm>
            <a:off x="8869680" y="2688336"/>
            <a:ext cx="2862072" cy="310896"/>
          </a:xfrm>
          <a:prstGeom prst="rect">
            <a:avLst/>
          </a:prstGeom>
          <a:noFill/>
          <a:ln/>
        </p:spPr>
        <p:txBody>
          <a:bodyPr wrap="square" lIns="0" tIns="0" rIns="0" bIns="0" rtlCol="0" anchor="t"/>
          <a:lstStyle/>
          <a:p>
            <a:pPr indent="0" marL="0">
              <a:buNone/>
            </a:pPr>
            <a:r>
              <a:rPr lang="en-US" sz="900" dirty="0">
                <a:solidFill>
                  <a:srgbClr val="113A2A"/>
                </a:solidFill>
                <a:latin typeface="Arial" pitchFamily="34" charset="0"/>
                <a:ea typeface="Arial" pitchFamily="34" charset="-122"/>
                <a:cs typeface="Arial" pitchFamily="34" charset="-120"/>
              </a:rPr>
              <a:t>Name the second pilot engagement and its reviewer.</a:t>
            </a:r>
            <a:endParaRPr lang="en-US" sz="900" dirty="0"/>
          </a:p>
        </p:txBody>
      </p:sp>
      <p:sp>
        <p:nvSpPr>
          <p:cNvPr id="25" name="Shape 22"/>
          <p:cNvSpPr/>
          <p:nvPr/>
        </p:nvSpPr>
        <p:spPr>
          <a:xfrm>
            <a:off x="8156448" y="3099816"/>
            <a:ext cx="621792" cy="164592"/>
          </a:xfrm>
          <a:prstGeom prst="roundRect">
            <a:avLst>
              <a:gd name="adj" fmla="val 16667"/>
            </a:avLst>
          </a:prstGeom>
          <a:solidFill>
            <a:srgbClr val="D9A421"/>
          </a:solidFill>
          <a:ln w="12700">
            <a:solidFill>
              <a:srgbClr val="D9A421"/>
            </a:solidFill>
            <a:prstDash val="solid"/>
          </a:ln>
        </p:spPr>
      </p:sp>
      <p:sp>
        <p:nvSpPr>
          <p:cNvPr id="26" name="Text 23"/>
          <p:cNvSpPr txBox="1"/>
          <p:nvPr/>
        </p:nvSpPr>
        <p:spPr>
          <a:xfrm>
            <a:off x="8156448" y="3099816"/>
            <a:ext cx="621792" cy="164592"/>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RISK</a:t>
            </a:r>
            <a:endParaRPr lang="en-US" sz="650" dirty="0"/>
          </a:p>
        </p:txBody>
      </p:sp>
      <p:sp>
        <p:nvSpPr>
          <p:cNvPr id="27" name="Text 24"/>
          <p:cNvSpPr txBox="1"/>
          <p:nvPr/>
        </p:nvSpPr>
        <p:spPr>
          <a:xfrm>
            <a:off x="8869680" y="3090672"/>
            <a:ext cx="2862072" cy="585216"/>
          </a:xfrm>
          <a:prstGeom prst="rect">
            <a:avLst/>
          </a:prstGeom>
          <a:noFill/>
          <a:ln/>
        </p:spPr>
        <p:txBody>
          <a:bodyPr wrap="square" lIns="0" tIns="0" rIns="0" bIns="0" rtlCol="0" anchor="t"/>
          <a:lstStyle/>
          <a:p>
            <a:pPr indent="0" marL="0">
              <a:buNone/>
            </a:pPr>
            <a:r>
              <a:rPr lang="en-US" sz="900" dirty="0">
                <a:solidFill>
                  <a:srgbClr val="113A2A"/>
                </a:solidFill>
                <a:latin typeface="Arial" pitchFamily="34" charset="0"/>
                <a:ea typeface="Arial" pitchFamily="34" charset="-122"/>
                <a:cs typeface="Arial" pitchFamily="34" charset="-120"/>
              </a:rPr>
              <a:t>Entra admin consent pending with IT. Until granted, reviewers save decks to SharePoint themselves and connector sign-in stays deferred. Interim mode is running.</a:t>
            </a:r>
            <a:endParaRPr lang="en-US" sz="900" dirty="0"/>
          </a:p>
        </p:txBody>
      </p:sp>
      <p:sp>
        <p:nvSpPr>
          <p:cNvPr id="28" name="Shape 25"/>
          <p:cNvSpPr/>
          <p:nvPr/>
        </p:nvSpPr>
        <p:spPr>
          <a:xfrm>
            <a:off x="8156448" y="3776472"/>
            <a:ext cx="621792" cy="164592"/>
          </a:xfrm>
          <a:prstGeom prst="roundRect">
            <a:avLst>
              <a:gd name="adj" fmla="val 16667"/>
            </a:avLst>
          </a:prstGeom>
          <a:solidFill>
            <a:srgbClr val="979187"/>
          </a:solidFill>
          <a:ln w="12700">
            <a:solidFill>
              <a:srgbClr val="979187"/>
            </a:solidFill>
            <a:prstDash val="solid"/>
          </a:ln>
        </p:spPr>
      </p:sp>
      <p:sp>
        <p:nvSpPr>
          <p:cNvPr id="29" name="Text 26"/>
          <p:cNvSpPr txBox="1"/>
          <p:nvPr/>
        </p:nvSpPr>
        <p:spPr>
          <a:xfrm>
            <a:off x="8156448" y="3776472"/>
            <a:ext cx="621792" cy="164592"/>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Arial" pitchFamily="34" charset="0"/>
                <a:ea typeface="Arial" pitchFamily="34" charset="-122"/>
                <a:cs typeface="Arial" pitchFamily="34" charset="-120"/>
              </a:rPr>
              <a:t>WATCH</a:t>
            </a:r>
            <a:endParaRPr lang="en-US" sz="650" dirty="0"/>
          </a:p>
        </p:txBody>
      </p:sp>
      <p:sp>
        <p:nvSpPr>
          <p:cNvPr id="30" name="Text 27"/>
          <p:cNvSpPr txBox="1"/>
          <p:nvPr/>
        </p:nvSpPr>
        <p:spPr>
          <a:xfrm>
            <a:off x="8869680" y="3767328"/>
            <a:ext cx="2862072" cy="310896"/>
          </a:xfrm>
          <a:prstGeom prst="rect">
            <a:avLst/>
          </a:prstGeom>
          <a:noFill/>
          <a:ln/>
        </p:spPr>
        <p:txBody>
          <a:bodyPr wrap="square" lIns="0" tIns="0" rIns="0" bIns="0" rtlCol="0" anchor="t"/>
          <a:lstStyle/>
          <a:p>
            <a:pPr indent="0" marL="0">
              <a:buNone/>
            </a:pPr>
            <a:r>
              <a:rPr lang="en-US" sz="900" dirty="0">
                <a:solidFill>
                  <a:srgbClr val="113A2A"/>
                </a:solidFill>
                <a:latin typeface="Arial" pitchFamily="34" charset="0"/>
                <a:ea typeface="Arial" pitchFamily="34" charset="-122"/>
                <a:cs typeface="Arial" pitchFamily="34" charset="-120"/>
              </a:rPr>
              <a:t>Practitioner time to run Weekly Status each week alongside client work.</a:t>
            </a:r>
            <a:endParaRPr lang="en-US" sz="900" dirty="0"/>
          </a:p>
        </p:txBody>
      </p:sp>
      <p:sp>
        <p:nvSpPr>
          <p:cNvPr id="31" name="Text 28"/>
          <p:cNvSpPr txBox="1"/>
          <p:nvPr/>
        </p:nvSpPr>
        <p:spPr>
          <a:xfrm>
            <a:off x="457200" y="4069080"/>
            <a:ext cx="3017520" cy="182880"/>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WORKSTREAMS</a:t>
            </a:r>
            <a:endParaRPr lang="en-US" sz="850" dirty="0"/>
          </a:p>
        </p:txBody>
      </p:sp>
      <p:sp>
        <p:nvSpPr>
          <p:cNvPr id="32" name="Shape 29"/>
          <p:cNvSpPr/>
          <p:nvPr/>
        </p:nvSpPr>
        <p:spPr>
          <a:xfrm>
            <a:off x="457200" y="4306824"/>
            <a:ext cx="3017520" cy="0"/>
          </a:xfrm>
          <a:prstGeom prst="line">
            <a:avLst/>
          </a:prstGeom>
          <a:noFill/>
          <a:ln w="9525">
            <a:solidFill>
              <a:srgbClr val="C9C5BE"/>
            </a:solidFill>
            <a:prstDash val="solid"/>
          </a:ln>
        </p:spPr>
      </p:sp>
      <p:sp>
        <p:nvSpPr>
          <p:cNvPr id="33" name="Text 30"/>
          <p:cNvSpPr txBox="1"/>
          <p:nvPr/>
        </p:nvSpPr>
        <p:spPr>
          <a:xfrm>
            <a:off x="3611880" y="4069080"/>
            <a:ext cx="731520" cy="182880"/>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STATUS</a:t>
            </a:r>
            <a:endParaRPr lang="en-US" sz="850" dirty="0"/>
          </a:p>
        </p:txBody>
      </p:sp>
      <p:sp>
        <p:nvSpPr>
          <p:cNvPr id="34" name="Shape 31"/>
          <p:cNvSpPr/>
          <p:nvPr/>
        </p:nvSpPr>
        <p:spPr>
          <a:xfrm>
            <a:off x="3611880" y="4306824"/>
            <a:ext cx="731520" cy="0"/>
          </a:xfrm>
          <a:prstGeom prst="line">
            <a:avLst/>
          </a:prstGeom>
          <a:noFill/>
          <a:ln w="9525">
            <a:solidFill>
              <a:srgbClr val="C9C5BE"/>
            </a:solidFill>
            <a:prstDash val="solid"/>
          </a:ln>
        </p:spPr>
      </p:sp>
      <p:sp>
        <p:nvSpPr>
          <p:cNvPr id="35" name="Text 32"/>
          <p:cNvSpPr txBox="1"/>
          <p:nvPr/>
        </p:nvSpPr>
        <p:spPr>
          <a:xfrm>
            <a:off x="4526280" y="4069080"/>
            <a:ext cx="7205472" cy="182880"/>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WHERE IT STANDS</a:t>
            </a:r>
            <a:endParaRPr lang="en-US" sz="850" dirty="0"/>
          </a:p>
        </p:txBody>
      </p:sp>
      <p:sp>
        <p:nvSpPr>
          <p:cNvPr id="36" name="Shape 33"/>
          <p:cNvSpPr/>
          <p:nvPr/>
        </p:nvSpPr>
        <p:spPr>
          <a:xfrm>
            <a:off x="4526280" y="4306824"/>
            <a:ext cx="7205472" cy="0"/>
          </a:xfrm>
          <a:prstGeom prst="line">
            <a:avLst/>
          </a:prstGeom>
          <a:noFill/>
          <a:ln w="9525">
            <a:solidFill>
              <a:srgbClr val="C9C5BE"/>
            </a:solidFill>
            <a:prstDash val="solid"/>
          </a:ln>
        </p:spPr>
      </p:sp>
      <p:sp>
        <p:nvSpPr>
          <p:cNvPr id="37" name="Text 34"/>
          <p:cNvSpPr txBox="1"/>
          <p:nvPr/>
        </p:nvSpPr>
        <p:spPr>
          <a:xfrm>
            <a:off x="457200" y="4398264"/>
            <a:ext cx="3017520" cy="274320"/>
          </a:xfrm>
          <a:prstGeom prst="rect">
            <a:avLst/>
          </a:prstGeom>
          <a:noFill/>
          <a:ln/>
        </p:spPr>
        <p:txBody>
          <a:bodyPr wrap="square" lIns="0" tIns="0" rIns="0" bIns="0" rtlCol="0" anchor="ctr"/>
          <a:lstStyle/>
          <a:p>
            <a:pPr indent="0" marL="0">
              <a:buNone/>
            </a:pPr>
            <a:r>
              <a:rPr lang="en-US" sz="1000" b="1" dirty="0">
                <a:solidFill>
                  <a:srgbClr val="113A2A"/>
                </a:solidFill>
                <a:latin typeface="Arial" pitchFamily="34" charset="0"/>
                <a:ea typeface="Arial" pitchFamily="34" charset="-122"/>
                <a:cs typeface="Arial" pitchFamily="34" charset="-120"/>
              </a:rPr>
              <a:t>Engagement Workspace · Project Status Reporting</a:t>
            </a:r>
            <a:endParaRPr lang="en-US" sz="1000" dirty="0"/>
          </a:p>
        </p:txBody>
      </p:sp>
      <p:sp>
        <p:nvSpPr>
          <p:cNvPr id="38" name="Shape 35"/>
          <p:cNvSpPr/>
          <p:nvPr/>
        </p:nvSpPr>
        <p:spPr>
          <a:xfrm>
            <a:off x="3611880" y="4434840"/>
            <a:ext cx="731520" cy="219456"/>
          </a:xfrm>
          <a:prstGeom prst="roundRect">
            <a:avLst>
              <a:gd name="adj" fmla="val 50000"/>
            </a:avLst>
          </a:prstGeom>
          <a:solidFill>
            <a:srgbClr val="2A654E"/>
          </a:solidFill>
          <a:ln w="12700">
            <a:solidFill>
              <a:srgbClr val="2A654E"/>
            </a:solidFill>
            <a:prstDash val="solid"/>
          </a:ln>
        </p:spPr>
      </p:sp>
      <p:sp>
        <p:nvSpPr>
          <p:cNvPr id="39" name="Text 36"/>
          <p:cNvSpPr txBox="1"/>
          <p:nvPr/>
        </p:nvSpPr>
        <p:spPr>
          <a:xfrm>
            <a:off x="3611880" y="4434840"/>
            <a:ext cx="731520" cy="219456"/>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Arial" pitchFamily="34" charset="0"/>
                <a:ea typeface="Arial" pitchFamily="34" charset="-122"/>
                <a:cs typeface="Arial" pitchFamily="34" charset="-120"/>
              </a:rPr>
              <a:t>GREEN</a:t>
            </a:r>
            <a:endParaRPr lang="en-US" sz="750" dirty="0"/>
          </a:p>
        </p:txBody>
      </p:sp>
      <p:sp>
        <p:nvSpPr>
          <p:cNvPr id="40" name="Text 37"/>
          <p:cNvSpPr txBox="1"/>
          <p:nvPr/>
        </p:nvSpPr>
        <p:spPr>
          <a:xfrm>
            <a:off x="4526280" y="4398264"/>
            <a:ext cx="7205472" cy="274320"/>
          </a:xfrm>
          <a:prstGeom prst="rect">
            <a:avLst/>
          </a:prstGeom>
          <a:noFill/>
          <a:ln/>
        </p:spPr>
        <p:txBody>
          <a:bodyPr wrap="square" lIns="0" tIns="0" rIns="0" bIns="0" rtlCol="0" anchor="ctr"/>
          <a:lstStyle/>
          <a:p>
            <a:pPr indent="0" marL="0">
              <a:buNone/>
            </a:pPr>
            <a:r>
              <a:rPr lang="en-US" sz="850" dirty="0">
                <a:solidFill>
                  <a:srgbClr val="6E6961"/>
                </a:solidFill>
                <a:latin typeface="Arial" pitchFamily="34" charset="0"/>
                <a:ea typeface="Arial" pitchFamily="34" charset="-122"/>
                <a:cs typeface="Arial" pitchFamily="34" charset="-120"/>
              </a:rPr>
              <a:t>Live for Legend. Weekly Status v1 approved and deck built. Setup, Home, Weekly Status, Config and pilot measures in place.</a:t>
            </a:r>
            <a:endParaRPr lang="en-US" sz="850" dirty="0"/>
          </a:p>
        </p:txBody>
      </p:sp>
      <p:sp>
        <p:nvSpPr>
          <p:cNvPr id="41" name="Shape 38"/>
          <p:cNvSpPr/>
          <p:nvPr/>
        </p:nvSpPr>
        <p:spPr>
          <a:xfrm>
            <a:off x="457200" y="4681728"/>
            <a:ext cx="11274552" cy="0"/>
          </a:xfrm>
          <a:prstGeom prst="line">
            <a:avLst/>
          </a:prstGeom>
          <a:noFill/>
          <a:ln w="9525">
            <a:solidFill>
              <a:srgbClr val="E4E2DE"/>
            </a:solidFill>
            <a:prstDash val="solid"/>
          </a:ln>
        </p:spPr>
      </p:sp>
      <p:sp>
        <p:nvSpPr>
          <p:cNvPr id="42" name="Text 39"/>
          <p:cNvSpPr txBox="1"/>
          <p:nvPr/>
        </p:nvSpPr>
        <p:spPr>
          <a:xfrm>
            <a:off x="457200" y="4690872"/>
            <a:ext cx="3017520" cy="274320"/>
          </a:xfrm>
          <a:prstGeom prst="rect">
            <a:avLst/>
          </a:prstGeom>
          <a:noFill/>
          <a:ln/>
        </p:spPr>
        <p:txBody>
          <a:bodyPr wrap="square" lIns="0" tIns="0" rIns="0" bIns="0" rtlCol="0" anchor="ctr"/>
          <a:lstStyle/>
          <a:p>
            <a:pPr indent="0" marL="0">
              <a:buNone/>
            </a:pPr>
            <a:r>
              <a:rPr lang="en-US" sz="1000" b="1" dirty="0">
                <a:solidFill>
                  <a:srgbClr val="113A2A"/>
                </a:solidFill>
                <a:latin typeface="Arial" pitchFamily="34" charset="0"/>
                <a:ea typeface="Arial" pitchFamily="34" charset="-122"/>
                <a:cs typeface="Arial" pitchFamily="34" charset="-120"/>
              </a:rPr>
              <a:t>Foundations Package · requirements to mockups</a:t>
            </a:r>
            <a:endParaRPr lang="en-US" sz="1000" dirty="0"/>
          </a:p>
        </p:txBody>
      </p:sp>
      <p:sp>
        <p:nvSpPr>
          <p:cNvPr id="43" name="Shape 40"/>
          <p:cNvSpPr/>
          <p:nvPr/>
        </p:nvSpPr>
        <p:spPr>
          <a:xfrm>
            <a:off x="3611880" y="4727448"/>
            <a:ext cx="731520" cy="219456"/>
          </a:xfrm>
          <a:prstGeom prst="roundRect">
            <a:avLst>
              <a:gd name="adj" fmla="val 50000"/>
            </a:avLst>
          </a:prstGeom>
          <a:solidFill>
            <a:srgbClr val="2A654E"/>
          </a:solidFill>
          <a:ln w="12700">
            <a:solidFill>
              <a:srgbClr val="2A654E"/>
            </a:solidFill>
            <a:prstDash val="solid"/>
          </a:ln>
        </p:spPr>
      </p:sp>
      <p:sp>
        <p:nvSpPr>
          <p:cNvPr id="44" name="Text 41"/>
          <p:cNvSpPr txBox="1"/>
          <p:nvPr/>
        </p:nvSpPr>
        <p:spPr>
          <a:xfrm>
            <a:off x="3611880" y="4727448"/>
            <a:ext cx="731520" cy="219456"/>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Arial" pitchFamily="34" charset="0"/>
                <a:ea typeface="Arial" pitchFamily="34" charset="-122"/>
                <a:cs typeface="Arial" pitchFamily="34" charset="-120"/>
              </a:rPr>
              <a:t>GREEN</a:t>
            </a:r>
            <a:endParaRPr lang="en-US" sz="750" dirty="0"/>
          </a:p>
        </p:txBody>
      </p:sp>
      <p:sp>
        <p:nvSpPr>
          <p:cNvPr id="45" name="Text 42"/>
          <p:cNvSpPr txBox="1"/>
          <p:nvPr/>
        </p:nvSpPr>
        <p:spPr>
          <a:xfrm>
            <a:off x="4526280" y="4690872"/>
            <a:ext cx="7205472" cy="274320"/>
          </a:xfrm>
          <a:prstGeom prst="rect">
            <a:avLst/>
          </a:prstGeom>
          <a:noFill/>
          <a:ln/>
        </p:spPr>
        <p:txBody>
          <a:bodyPr wrap="square" lIns="0" tIns="0" rIns="0" bIns="0" rtlCol="0" anchor="ctr"/>
          <a:lstStyle/>
          <a:p>
            <a:pPr indent="0" marL="0">
              <a:buNone/>
            </a:pPr>
            <a:r>
              <a:rPr lang="en-US" sz="850" dirty="0">
                <a:solidFill>
                  <a:srgbClr val="6E6961"/>
                </a:solidFill>
                <a:latin typeface="Arial" pitchFamily="34" charset="0"/>
                <a:ea typeface="Arial" pitchFamily="34" charset="-122"/>
                <a:cs typeface="Arial" pitchFamily="34" charset="-120"/>
              </a:rPr>
              <a:t>Mockup Generator in use. BRD, Design Deck and Integration Matrix skills in progress. Meeting closeout into requirements is the next piece.</a:t>
            </a:r>
            <a:endParaRPr lang="en-US" sz="850" dirty="0"/>
          </a:p>
        </p:txBody>
      </p:sp>
      <p:sp>
        <p:nvSpPr>
          <p:cNvPr id="46" name="Shape 43"/>
          <p:cNvSpPr/>
          <p:nvPr/>
        </p:nvSpPr>
        <p:spPr>
          <a:xfrm>
            <a:off x="457200" y="4974336"/>
            <a:ext cx="11274552" cy="0"/>
          </a:xfrm>
          <a:prstGeom prst="line">
            <a:avLst/>
          </a:prstGeom>
          <a:noFill/>
          <a:ln w="9525">
            <a:solidFill>
              <a:srgbClr val="E4E2DE"/>
            </a:solidFill>
            <a:prstDash val="solid"/>
          </a:ln>
        </p:spPr>
      </p:sp>
      <p:sp>
        <p:nvSpPr>
          <p:cNvPr id="47" name="Text 44"/>
          <p:cNvSpPr txBox="1"/>
          <p:nvPr/>
        </p:nvSpPr>
        <p:spPr>
          <a:xfrm>
            <a:off x="457200" y="4983480"/>
            <a:ext cx="3017520" cy="274320"/>
          </a:xfrm>
          <a:prstGeom prst="rect">
            <a:avLst/>
          </a:prstGeom>
          <a:noFill/>
          <a:ln/>
        </p:spPr>
        <p:txBody>
          <a:bodyPr wrap="square" lIns="0" tIns="0" rIns="0" bIns="0" rtlCol="0" anchor="ctr"/>
          <a:lstStyle/>
          <a:p>
            <a:pPr indent="0" marL="0">
              <a:buNone/>
            </a:pPr>
            <a:r>
              <a:rPr lang="en-US" sz="1000" b="1" dirty="0">
                <a:solidFill>
                  <a:srgbClr val="113A2A"/>
                </a:solidFill>
                <a:latin typeface="Arial" pitchFamily="34" charset="0"/>
                <a:ea typeface="Arial" pitchFamily="34" charset="-122"/>
                <a:cs typeface="Arial" pitchFamily="34" charset="-120"/>
              </a:rPr>
              <a:t>Governance and operating model</a:t>
            </a:r>
            <a:endParaRPr lang="en-US" sz="1000" dirty="0"/>
          </a:p>
        </p:txBody>
      </p:sp>
      <p:sp>
        <p:nvSpPr>
          <p:cNvPr id="48" name="Shape 45"/>
          <p:cNvSpPr/>
          <p:nvPr/>
        </p:nvSpPr>
        <p:spPr>
          <a:xfrm>
            <a:off x="3611880" y="5020056"/>
            <a:ext cx="731520" cy="219456"/>
          </a:xfrm>
          <a:prstGeom prst="roundRect">
            <a:avLst>
              <a:gd name="adj" fmla="val 50000"/>
            </a:avLst>
          </a:prstGeom>
          <a:solidFill>
            <a:srgbClr val="2A654E"/>
          </a:solidFill>
          <a:ln w="12700">
            <a:solidFill>
              <a:srgbClr val="2A654E"/>
            </a:solidFill>
            <a:prstDash val="solid"/>
          </a:ln>
        </p:spPr>
      </p:sp>
      <p:sp>
        <p:nvSpPr>
          <p:cNvPr id="49" name="Text 46"/>
          <p:cNvSpPr txBox="1"/>
          <p:nvPr/>
        </p:nvSpPr>
        <p:spPr>
          <a:xfrm>
            <a:off x="3611880" y="5020056"/>
            <a:ext cx="731520" cy="219456"/>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Arial" pitchFamily="34" charset="0"/>
                <a:ea typeface="Arial" pitchFamily="34" charset="-122"/>
                <a:cs typeface="Arial" pitchFamily="34" charset="-120"/>
              </a:rPr>
              <a:t>GREEN</a:t>
            </a:r>
            <a:endParaRPr lang="en-US" sz="750" dirty="0"/>
          </a:p>
        </p:txBody>
      </p:sp>
      <p:sp>
        <p:nvSpPr>
          <p:cNvPr id="50" name="Text 47"/>
          <p:cNvSpPr txBox="1"/>
          <p:nvPr/>
        </p:nvSpPr>
        <p:spPr>
          <a:xfrm>
            <a:off x="4526280" y="4983480"/>
            <a:ext cx="7205472" cy="274320"/>
          </a:xfrm>
          <a:prstGeom prst="rect">
            <a:avLst/>
          </a:prstGeom>
          <a:noFill/>
          <a:ln/>
        </p:spPr>
        <p:txBody>
          <a:bodyPr wrap="square" lIns="0" tIns="0" rIns="0" bIns="0" rtlCol="0" anchor="ctr"/>
          <a:lstStyle/>
          <a:p>
            <a:pPr indent="0" marL="0">
              <a:buNone/>
            </a:pPr>
            <a:r>
              <a:rPr lang="en-US" sz="850" dirty="0">
                <a:solidFill>
                  <a:srgbClr val="6E6961"/>
                </a:solidFill>
                <a:latin typeface="Arial" pitchFamily="34" charset="0"/>
                <a:ea typeface="Arial" pitchFamily="34" charset="-122"/>
                <a:cs typeface="Arial" pitchFamily="34" charset="-120"/>
              </a:rPr>
              <a:t>Capability catalog with owners and readiness labels. Named approvals recorded. Idea, Invest, Pilot, Scale pipeline defined. Protected main, pull requests and CI documented.</a:t>
            </a:r>
            <a:endParaRPr lang="en-US" sz="850" dirty="0"/>
          </a:p>
        </p:txBody>
      </p:sp>
      <p:sp>
        <p:nvSpPr>
          <p:cNvPr id="51" name="Shape 48"/>
          <p:cNvSpPr/>
          <p:nvPr/>
        </p:nvSpPr>
        <p:spPr>
          <a:xfrm>
            <a:off x="457200" y="5266944"/>
            <a:ext cx="11274552" cy="0"/>
          </a:xfrm>
          <a:prstGeom prst="line">
            <a:avLst/>
          </a:prstGeom>
          <a:noFill/>
          <a:ln w="9525">
            <a:solidFill>
              <a:srgbClr val="E4E2DE"/>
            </a:solidFill>
            <a:prstDash val="solid"/>
          </a:ln>
        </p:spPr>
      </p:sp>
      <p:sp>
        <p:nvSpPr>
          <p:cNvPr id="52" name="Text 49"/>
          <p:cNvSpPr txBox="1"/>
          <p:nvPr/>
        </p:nvSpPr>
        <p:spPr>
          <a:xfrm>
            <a:off x="457200" y="5276088"/>
            <a:ext cx="3017520" cy="274320"/>
          </a:xfrm>
          <a:prstGeom prst="rect">
            <a:avLst/>
          </a:prstGeom>
          <a:noFill/>
          <a:ln/>
        </p:spPr>
        <p:txBody>
          <a:bodyPr wrap="square" lIns="0" tIns="0" rIns="0" bIns="0" rtlCol="0" anchor="ctr"/>
          <a:lstStyle/>
          <a:p>
            <a:pPr indent="0" marL="0">
              <a:buNone/>
            </a:pPr>
            <a:r>
              <a:rPr lang="en-US" sz="1000" b="1" dirty="0">
                <a:solidFill>
                  <a:srgbClr val="113A2A"/>
                </a:solidFill>
                <a:latin typeface="Arial" pitchFamily="34" charset="0"/>
                <a:ea typeface="Arial" pitchFamily="34" charset="-122"/>
                <a:cs typeface="Arial" pitchFamily="34" charset="-120"/>
              </a:rPr>
              <a:t>Platform, accounts and IT</a:t>
            </a:r>
            <a:endParaRPr lang="en-US" sz="1000" dirty="0"/>
          </a:p>
        </p:txBody>
      </p:sp>
      <p:sp>
        <p:nvSpPr>
          <p:cNvPr id="53" name="Shape 50"/>
          <p:cNvSpPr/>
          <p:nvPr/>
        </p:nvSpPr>
        <p:spPr>
          <a:xfrm>
            <a:off x="3611880" y="5312664"/>
            <a:ext cx="731520" cy="219456"/>
          </a:xfrm>
          <a:prstGeom prst="roundRect">
            <a:avLst>
              <a:gd name="adj" fmla="val 50000"/>
            </a:avLst>
          </a:prstGeom>
          <a:solidFill>
            <a:srgbClr val="D9A421"/>
          </a:solidFill>
          <a:ln w="12700">
            <a:solidFill>
              <a:srgbClr val="D9A421"/>
            </a:solidFill>
            <a:prstDash val="solid"/>
          </a:ln>
        </p:spPr>
      </p:sp>
      <p:sp>
        <p:nvSpPr>
          <p:cNvPr id="54" name="Text 51"/>
          <p:cNvSpPr txBox="1"/>
          <p:nvPr/>
        </p:nvSpPr>
        <p:spPr>
          <a:xfrm>
            <a:off x="3611880" y="5312664"/>
            <a:ext cx="731520" cy="219456"/>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Arial" pitchFamily="34" charset="0"/>
                <a:ea typeface="Arial" pitchFamily="34" charset="-122"/>
                <a:cs typeface="Arial" pitchFamily="34" charset="-120"/>
              </a:rPr>
              <a:t>YELLOW</a:t>
            </a:r>
            <a:endParaRPr lang="en-US" sz="750" dirty="0"/>
          </a:p>
        </p:txBody>
      </p:sp>
      <p:sp>
        <p:nvSpPr>
          <p:cNvPr id="55" name="Text 52"/>
          <p:cNvSpPr txBox="1"/>
          <p:nvPr/>
        </p:nvSpPr>
        <p:spPr>
          <a:xfrm>
            <a:off x="4526280" y="5276088"/>
            <a:ext cx="7205472" cy="274320"/>
          </a:xfrm>
          <a:prstGeom prst="rect">
            <a:avLst/>
          </a:prstGeom>
          <a:noFill/>
          <a:ln/>
        </p:spPr>
        <p:txBody>
          <a:bodyPr wrap="square" lIns="0" tIns="0" rIns="0" bIns="0" rtlCol="0" anchor="ctr"/>
          <a:lstStyle/>
          <a:p>
            <a:pPr indent="0" marL="0">
              <a:buNone/>
            </a:pPr>
            <a:r>
              <a:rPr lang="en-US" sz="850" dirty="0">
                <a:solidFill>
                  <a:srgbClr val="6E6961"/>
                </a:solidFill>
                <a:latin typeface="Arial" pitchFamily="34" charset="0"/>
                <a:ea typeface="Arial" pitchFamily="34" charset="-122"/>
                <a:cs typeface="Arial" pitchFamily="34" charset="-120"/>
              </a:rPr>
              <a:t>GitHub and Cloud accounts approved, setup week of September 14. Entra admin consent pending. Cloud spend to date $0.36 against a $300 credit.</a:t>
            </a:r>
            <a:endParaRPr lang="en-US" sz="850" dirty="0"/>
          </a:p>
        </p:txBody>
      </p:sp>
      <p:sp>
        <p:nvSpPr>
          <p:cNvPr id="56" name="Shape 53"/>
          <p:cNvSpPr/>
          <p:nvPr/>
        </p:nvSpPr>
        <p:spPr>
          <a:xfrm>
            <a:off x="457200" y="5559552"/>
            <a:ext cx="11274552" cy="0"/>
          </a:xfrm>
          <a:prstGeom prst="line">
            <a:avLst/>
          </a:prstGeom>
          <a:noFill/>
          <a:ln w="9525">
            <a:solidFill>
              <a:srgbClr val="E4E2DE"/>
            </a:solidFill>
            <a:prstDash val="solid"/>
          </a:ln>
        </p:spPr>
      </p:sp>
      <p:sp>
        <p:nvSpPr>
          <p:cNvPr id="57" name="Text 54"/>
          <p:cNvSpPr txBox="1"/>
          <p:nvPr/>
        </p:nvSpPr>
        <p:spPr>
          <a:xfrm>
            <a:off x="457200" y="5568696"/>
            <a:ext cx="3017520" cy="274320"/>
          </a:xfrm>
          <a:prstGeom prst="rect">
            <a:avLst/>
          </a:prstGeom>
          <a:noFill/>
          <a:ln/>
        </p:spPr>
        <p:txBody>
          <a:bodyPr wrap="square" lIns="0" tIns="0" rIns="0" bIns="0" rtlCol="0" anchor="ctr"/>
          <a:lstStyle/>
          <a:p>
            <a:pPr indent="0" marL="0">
              <a:buNone/>
            </a:pPr>
            <a:r>
              <a:rPr lang="en-US" sz="1000" b="1" dirty="0">
                <a:solidFill>
                  <a:srgbClr val="113A2A"/>
                </a:solidFill>
                <a:latin typeface="Arial" pitchFamily="34" charset="0"/>
                <a:ea typeface="Arial" pitchFamily="34" charset="-122"/>
                <a:cs typeface="Arial" pitchFamily="34" charset="-120"/>
              </a:rPr>
              <a:t>Skills and practitioner enablement</a:t>
            </a:r>
            <a:endParaRPr lang="en-US" sz="1000" dirty="0"/>
          </a:p>
        </p:txBody>
      </p:sp>
      <p:sp>
        <p:nvSpPr>
          <p:cNvPr id="58" name="Shape 55"/>
          <p:cNvSpPr/>
          <p:nvPr/>
        </p:nvSpPr>
        <p:spPr>
          <a:xfrm>
            <a:off x="3611880" y="5605272"/>
            <a:ext cx="731520" cy="219456"/>
          </a:xfrm>
          <a:prstGeom prst="roundRect">
            <a:avLst>
              <a:gd name="adj" fmla="val 50000"/>
            </a:avLst>
          </a:prstGeom>
          <a:solidFill>
            <a:srgbClr val="2A654E"/>
          </a:solidFill>
          <a:ln w="12700">
            <a:solidFill>
              <a:srgbClr val="2A654E"/>
            </a:solidFill>
            <a:prstDash val="solid"/>
          </a:ln>
        </p:spPr>
      </p:sp>
      <p:sp>
        <p:nvSpPr>
          <p:cNvPr id="59" name="Text 56"/>
          <p:cNvSpPr txBox="1"/>
          <p:nvPr/>
        </p:nvSpPr>
        <p:spPr>
          <a:xfrm>
            <a:off x="3611880" y="5605272"/>
            <a:ext cx="731520" cy="219456"/>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Arial" pitchFamily="34" charset="0"/>
                <a:ea typeface="Arial" pitchFamily="34" charset="-122"/>
                <a:cs typeface="Arial" pitchFamily="34" charset="-120"/>
              </a:rPr>
              <a:t>GREEN</a:t>
            </a:r>
            <a:endParaRPr lang="en-US" sz="750" dirty="0"/>
          </a:p>
        </p:txBody>
      </p:sp>
      <p:sp>
        <p:nvSpPr>
          <p:cNvPr id="60" name="Text 57"/>
          <p:cNvSpPr txBox="1"/>
          <p:nvPr/>
        </p:nvSpPr>
        <p:spPr>
          <a:xfrm>
            <a:off x="4526280" y="5568696"/>
            <a:ext cx="7205472" cy="274320"/>
          </a:xfrm>
          <a:prstGeom prst="rect">
            <a:avLst/>
          </a:prstGeom>
          <a:noFill/>
          <a:ln/>
        </p:spPr>
        <p:txBody>
          <a:bodyPr wrap="square" lIns="0" tIns="0" rIns="0" bIns="0" rtlCol="0" anchor="ctr"/>
          <a:lstStyle/>
          <a:p>
            <a:pPr indent="0" marL="0">
              <a:buNone/>
            </a:pPr>
            <a:r>
              <a:rPr lang="en-US" sz="850" dirty="0">
                <a:solidFill>
                  <a:srgbClr val="6E6961"/>
                </a:solidFill>
                <a:latin typeface="Arial" pitchFamily="34" charset="0"/>
                <a:ea typeface="Arial" pitchFamily="34" charset="-122"/>
                <a:cs typeface="Arial" pitchFamily="34" charset="-120"/>
              </a:rPr>
              <a:t>Complete: Estimator, Win Story, Industry One Pager, RFP Questions, Status Decks, RAID Log updates, Granola to Asana follow-ups. Six more in progress across Foundations and Build.</a:t>
            </a:r>
            <a:endParaRPr lang="en-US" sz="850" dirty="0"/>
          </a:p>
        </p:txBody>
      </p:sp>
      <p:sp>
        <p:nvSpPr>
          <p:cNvPr id="61" name="Shape 58"/>
          <p:cNvSpPr/>
          <p:nvPr/>
        </p:nvSpPr>
        <p:spPr>
          <a:xfrm>
            <a:off x="457200" y="5852160"/>
            <a:ext cx="11274552" cy="0"/>
          </a:xfrm>
          <a:prstGeom prst="line">
            <a:avLst/>
          </a:prstGeom>
          <a:noFill/>
          <a:ln w="9525">
            <a:solidFill>
              <a:srgbClr val="E4E2DE"/>
            </a:solidFill>
            <a:prstDash val="solid"/>
          </a:ln>
        </p:spPr>
      </p:sp>
      <p:sp>
        <p:nvSpPr>
          <p:cNvPr id="62" name="Text 59"/>
          <p:cNvSpPr txBox="1"/>
          <p:nvPr/>
        </p:nvSpPr>
        <p:spPr>
          <a:xfrm>
            <a:off x="457200" y="5897880"/>
            <a:ext cx="7315200" cy="182880"/>
          </a:xfrm>
          <a:prstGeom prst="rect">
            <a:avLst/>
          </a:prstGeom>
          <a:noFill/>
          <a:ln/>
        </p:spPr>
        <p:txBody>
          <a:bodyPr wrap="square" lIns="0" tIns="0" rIns="0" bIns="0" rtlCol="0" anchor="ctr"/>
          <a:lstStyle/>
          <a:p>
            <a:pPr indent="0" marL="0">
              <a:buNone/>
            </a:pPr>
            <a:r>
              <a:rPr lang="en-US" sz="850" b="1" spc="150" kern="0" dirty="0">
                <a:solidFill>
                  <a:srgbClr val="2A654E"/>
                </a:solidFill>
                <a:latin typeface="Arial" pitchFamily="34" charset="0"/>
                <a:ea typeface="Arial" pitchFamily="34" charset="-122"/>
                <a:cs typeface="Arial" pitchFamily="34" charset="-120"/>
              </a:rPr>
              <a:t>90-DAY PUSH · ONE RELEASE A MONTH · DATES PROPOSED, TO CONFIRM TODAY</a:t>
            </a:r>
            <a:endParaRPr lang="en-US" sz="850" dirty="0"/>
          </a:p>
        </p:txBody>
      </p:sp>
      <p:sp>
        <p:nvSpPr>
          <p:cNvPr id="63" name="Shape 60"/>
          <p:cNvSpPr/>
          <p:nvPr/>
        </p:nvSpPr>
        <p:spPr>
          <a:xfrm>
            <a:off x="1005840" y="6373368"/>
            <a:ext cx="10149840" cy="0"/>
          </a:xfrm>
          <a:prstGeom prst="line">
            <a:avLst/>
          </a:prstGeom>
          <a:noFill/>
          <a:ln w="12700">
            <a:solidFill>
              <a:srgbClr val="C9C5BE"/>
            </a:solidFill>
            <a:prstDash val="solid"/>
          </a:ln>
        </p:spPr>
      </p:sp>
      <p:sp>
        <p:nvSpPr>
          <p:cNvPr id="64" name="Shape 61"/>
          <p:cNvSpPr/>
          <p:nvPr/>
        </p:nvSpPr>
        <p:spPr>
          <a:xfrm>
            <a:off x="941832" y="6309360"/>
            <a:ext cx="128016" cy="128016"/>
          </a:xfrm>
          <a:prstGeom prst="ellipse">
            <a:avLst/>
          </a:prstGeom>
          <a:solidFill>
            <a:srgbClr val="2A654E"/>
          </a:solidFill>
          <a:ln w="15875">
            <a:solidFill>
              <a:srgbClr val="2A654E"/>
            </a:solidFill>
            <a:prstDash val="solid"/>
          </a:ln>
        </p:spPr>
      </p:sp>
      <p:sp>
        <p:nvSpPr>
          <p:cNvPr id="65" name="Text 62"/>
          <p:cNvSpPr txBox="1"/>
          <p:nvPr/>
        </p:nvSpPr>
        <p:spPr>
          <a:xfrm>
            <a:off x="91440" y="6080760"/>
            <a:ext cx="1828800" cy="182880"/>
          </a:xfrm>
          <a:prstGeom prst="rect">
            <a:avLst/>
          </a:prstGeom>
          <a:noFill/>
          <a:ln/>
        </p:spPr>
        <p:txBody>
          <a:bodyPr wrap="square" lIns="0" tIns="0" rIns="0" bIns="0" rtlCol="0" anchor="ctr"/>
          <a:lstStyle/>
          <a:p>
            <a:pPr algn="ctr" indent="0" marL="0">
              <a:buNone/>
            </a:pPr>
            <a:r>
              <a:rPr lang="en-US" sz="900" b="1" dirty="0">
                <a:solidFill>
                  <a:srgbClr val="113A2A"/>
                </a:solidFill>
                <a:latin typeface="Arial" pitchFamily="34" charset="0"/>
                <a:ea typeface="Arial" pitchFamily="34" charset="-122"/>
                <a:cs typeface="Arial" pitchFamily="34" charset="-120"/>
              </a:rPr>
              <a:t>Sep 12</a:t>
            </a:r>
            <a:endParaRPr lang="en-US" sz="900" dirty="0"/>
          </a:p>
        </p:txBody>
      </p:sp>
      <p:sp>
        <p:nvSpPr>
          <p:cNvPr id="66" name="Text 63"/>
          <p:cNvSpPr txBox="1"/>
          <p:nvPr/>
        </p:nvSpPr>
        <p:spPr>
          <a:xfrm>
            <a:off x="91440" y="6483096"/>
            <a:ext cx="1828800" cy="164592"/>
          </a:xfrm>
          <a:prstGeom prst="rect">
            <a:avLst/>
          </a:prstGeom>
          <a:noFill/>
          <a:ln/>
        </p:spPr>
        <p:txBody>
          <a:bodyPr wrap="square" lIns="0" tIns="0" rIns="0" bIns="0" rtlCol="0" anchor="ctr"/>
          <a:lstStyle/>
          <a:p>
            <a:pPr algn="ctr" indent="0" marL="0">
              <a:buNone/>
            </a:pPr>
            <a:r>
              <a:rPr lang="en-US" sz="850" b="1" dirty="0">
                <a:solidFill>
                  <a:srgbClr val="2A654E"/>
                </a:solidFill>
                <a:latin typeface="Arial" pitchFamily="34" charset="0"/>
                <a:ea typeface="Arial" pitchFamily="34" charset="-122"/>
                <a:cs typeface="Arial" pitchFamily="34" charset="-120"/>
              </a:rPr>
              <a:t>Status 1</a:t>
            </a:r>
            <a:endParaRPr lang="en-US" sz="850" dirty="0"/>
          </a:p>
        </p:txBody>
      </p:sp>
      <p:sp>
        <p:nvSpPr>
          <p:cNvPr id="67" name="Text 64"/>
          <p:cNvSpPr txBox="1"/>
          <p:nvPr/>
        </p:nvSpPr>
        <p:spPr>
          <a:xfrm>
            <a:off x="91440" y="6647688"/>
            <a:ext cx="1828800" cy="164592"/>
          </a:xfrm>
          <a:prstGeom prst="rect">
            <a:avLst/>
          </a:prstGeom>
          <a:noFill/>
          <a:ln/>
        </p:spPr>
        <p:txBody>
          <a:bodyPr wrap="square" lIns="0" tIns="0" rIns="0" bIns="0" rtlCol="0" anchor="ctr"/>
          <a:lstStyle/>
          <a:p>
            <a:pPr algn="ctr" indent="0" marL="0">
              <a:buNone/>
            </a:pPr>
            <a:r>
              <a:rPr lang="en-US" sz="750" dirty="0">
                <a:solidFill>
                  <a:srgbClr val="6E6961"/>
                </a:solidFill>
                <a:latin typeface="Arial" pitchFamily="34" charset="0"/>
                <a:ea typeface="Arial" pitchFamily="34" charset="-122"/>
                <a:cs typeface="Arial" pitchFamily="34" charset="-120"/>
              </a:rPr>
              <a:t>today</a:t>
            </a:r>
            <a:endParaRPr lang="en-US" sz="750" dirty="0"/>
          </a:p>
        </p:txBody>
      </p:sp>
      <p:sp>
        <p:nvSpPr>
          <p:cNvPr id="68" name="Shape 65"/>
          <p:cNvSpPr/>
          <p:nvPr/>
        </p:nvSpPr>
        <p:spPr>
          <a:xfrm>
            <a:off x="3479292" y="6309360"/>
            <a:ext cx="128016" cy="128016"/>
          </a:xfrm>
          <a:prstGeom prst="ellipse">
            <a:avLst/>
          </a:prstGeom>
          <a:solidFill>
            <a:srgbClr val="FFFFFF"/>
          </a:solidFill>
          <a:ln w="15875">
            <a:solidFill>
              <a:srgbClr val="2A654E"/>
            </a:solidFill>
            <a:prstDash val="solid"/>
          </a:ln>
        </p:spPr>
      </p:sp>
      <p:sp>
        <p:nvSpPr>
          <p:cNvPr id="69" name="Text 66"/>
          <p:cNvSpPr txBox="1"/>
          <p:nvPr/>
        </p:nvSpPr>
        <p:spPr>
          <a:xfrm>
            <a:off x="2628900" y="6080760"/>
            <a:ext cx="1828800" cy="182880"/>
          </a:xfrm>
          <a:prstGeom prst="rect">
            <a:avLst/>
          </a:prstGeom>
          <a:noFill/>
          <a:ln/>
        </p:spPr>
        <p:txBody>
          <a:bodyPr wrap="square" lIns="0" tIns="0" rIns="0" bIns="0" rtlCol="0" anchor="ctr"/>
          <a:lstStyle/>
          <a:p>
            <a:pPr algn="ctr" indent="0" marL="0">
              <a:buNone/>
            </a:pPr>
            <a:r>
              <a:rPr lang="en-US" sz="900" b="1" dirty="0">
                <a:solidFill>
                  <a:srgbClr val="113A2A"/>
                </a:solidFill>
                <a:latin typeface="Arial" pitchFamily="34" charset="0"/>
                <a:ea typeface="Arial" pitchFamily="34" charset="-122"/>
                <a:cs typeface="Arial" pitchFamily="34" charset="-120"/>
              </a:rPr>
              <a:t>Oct 3</a:t>
            </a:r>
            <a:endParaRPr lang="en-US" sz="900" dirty="0"/>
          </a:p>
        </p:txBody>
      </p:sp>
      <p:sp>
        <p:nvSpPr>
          <p:cNvPr id="70" name="Text 67"/>
          <p:cNvSpPr txBox="1"/>
          <p:nvPr/>
        </p:nvSpPr>
        <p:spPr>
          <a:xfrm>
            <a:off x="2628900" y="6483096"/>
            <a:ext cx="1828800" cy="164592"/>
          </a:xfrm>
          <a:prstGeom prst="rect">
            <a:avLst/>
          </a:prstGeom>
          <a:noFill/>
          <a:ln/>
        </p:spPr>
        <p:txBody>
          <a:bodyPr wrap="square" lIns="0" tIns="0" rIns="0" bIns="0" rtlCol="0" anchor="ctr"/>
          <a:lstStyle/>
          <a:p>
            <a:pPr algn="ctr" indent="0" marL="0">
              <a:buNone/>
            </a:pPr>
            <a:r>
              <a:rPr lang="en-US" sz="850" b="1" dirty="0">
                <a:solidFill>
                  <a:srgbClr val="2A654E"/>
                </a:solidFill>
                <a:latin typeface="Arial" pitchFamily="34" charset="0"/>
                <a:ea typeface="Arial" pitchFamily="34" charset="-122"/>
                <a:cs typeface="Arial" pitchFamily="34" charset="-120"/>
              </a:rPr>
              <a:t>Release 1 · Foundation</a:t>
            </a:r>
            <a:endParaRPr lang="en-US" sz="850" dirty="0"/>
          </a:p>
        </p:txBody>
      </p:sp>
      <p:sp>
        <p:nvSpPr>
          <p:cNvPr id="71" name="Text 68"/>
          <p:cNvSpPr txBox="1"/>
          <p:nvPr/>
        </p:nvSpPr>
        <p:spPr>
          <a:xfrm>
            <a:off x="2628900" y="6647688"/>
            <a:ext cx="1828800" cy="164592"/>
          </a:xfrm>
          <a:prstGeom prst="rect">
            <a:avLst/>
          </a:prstGeom>
          <a:noFill/>
          <a:ln/>
        </p:spPr>
        <p:txBody>
          <a:bodyPr wrap="square" lIns="0" tIns="0" rIns="0" bIns="0" rtlCol="0" anchor="ctr"/>
          <a:lstStyle/>
          <a:p>
            <a:pPr algn="ctr" indent="0" marL="0">
              <a:buNone/>
            </a:pPr>
            <a:r>
              <a:rPr lang="en-US" sz="750" dirty="0">
                <a:solidFill>
                  <a:srgbClr val="6E6961"/>
                </a:solidFill>
                <a:latin typeface="Arial" pitchFamily="34" charset="0"/>
                <a:ea typeface="Arial" pitchFamily="34" charset="-122"/>
                <a:cs typeface="Arial" pitchFamily="34" charset="-120"/>
              </a:rPr>
              <a:t>Two engagements, Ask Claude, catalog</a:t>
            </a:r>
            <a:endParaRPr lang="en-US" sz="750" dirty="0"/>
          </a:p>
        </p:txBody>
      </p:sp>
      <p:sp>
        <p:nvSpPr>
          <p:cNvPr id="72" name="Shape 69"/>
          <p:cNvSpPr/>
          <p:nvPr/>
        </p:nvSpPr>
        <p:spPr>
          <a:xfrm>
            <a:off x="6016752" y="6309360"/>
            <a:ext cx="128016" cy="128016"/>
          </a:xfrm>
          <a:prstGeom prst="ellipse">
            <a:avLst/>
          </a:prstGeom>
          <a:solidFill>
            <a:srgbClr val="FFFFFF"/>
          </a:solidFill>
          <a:ln w="15875">
            <a:solidFill>
              <a:srgbClr val="2A654E"/>
            </a:solidFill>
            <a:prstDash val="solid"/>
          </a:ln>
        </p:spPr>
      </p:sp>
      <p:sp>
        <p:nvSpPr>
          <p:cNvPr id="73" name="Text 70"/>
          <p:cNvSpPr txBox="1"/>
          <p:nvPr/>
        </p:nvSpPr>
        <p:spPr>
          <a:xfrm>
            <a:off x="5166360" y="6080760"/>
            <a:ext cx="1828800" cy="182880"/>
          </a:xfrm>
          <a:prstGeom prst="rect">
            <a:avLst/>
          </a:prstGeom>
          <a:noFill/>
          <a:ln/>
        </p:spPr>
        <p:txBody>
          <a:bodyPr wrap="square" lIns="0" tIns="0" rIns="0" bIns="0" rtlCol="0" anchor="ctr"/>
          <a:lstStyle/>
          <a:p>
            <a:pPr algn="ctr" indent="0" marL="0">
              <a:buNone/>
            </a:pPr>
            <a:r>
              <a:rPr lang="en-US" sz="900" b="1" dirty="0">
                <a:solidFill>
                  <a:srgbClr val="113A2A"/>
                </a:solidFill>
                <a:latin typeface="Arial" pitchFamily="34" charset="0"/>
                <a:ea typeface="Arial" pitchFamily="34" charset="-122"/>
                <a:cs typeface="Arial" pitchFamily="34" charset="-120"/>
              </a:rPr>
              <a:t>Oct 31</a:t>
            </a:r>
            <a:endParaRPr lang="en-US" sz="900" dirty="0"/>
          </a:p>
        </p:txBody>
      </p:sp>
      <p:sp>
        <p:nvSpPr>
          <p:cNvPr id="74" name="Text 71"/>
          <p:cNvSpPr txBox="1"/>
          <p:nvPr/>
        </p:nvSpPr>
        <p:spPr>
          <a:xfrm>
            <a:off x="5166360" y="6483096"/>
            <a:ext cx="1828800" cy="164592"/>
          </a:xfrm>
          <a:prstGeom prst="rect">
            <a:avLst/>
          </a:prstGeom>
          <a:noFill/>
          <a:ln/>
        </p:spPr>
        <p:txBody>
          <a:bodyPr wrap="square" lIns="0" tIns="0" rIns="0" bIns="0" rtlCol="0" anchor="ctr"/>
          <a:lstStyle/>
          <a:p>
            <a:pPr algn="ctr" indent="0" marL="0">
              <a:buNone/>
            </a:pPr>
            <a:r>
              <a:rPr lang="en-US" sz="850" b="1" dirty="0">
                <a:solidFill>
                  <a:srgbClr val="2A654E"/>
                </a:solidFill>
                <a:latin typeface="Arial" pitchFamily="34" charset="0"/>
                <a:ea typeface="Arial" pitchFamily="34" charset="-122"/>
                <a:cs typeface="Arial" pitchFamily="34" charset="-120"/>
              </a:rPr>
              <a:t>Release 2 · Context</a:t>
            </a:r>
            <a:endParaRPr lang="en-US" sz="850" dirty="0"/>
          </a:p>
        </p:txBody>
      </p:sp>
      <p:sp>
        <p:nvSpPr>
          <p:cNvPr id="75" name="Text 72"/>
          <p:cNvSpPr txBox="1"/>
          <p:nvPr/>
        </p:nvSpPr>
        <p:spPr>
          <a:xfrm>
            <a:off x="5166360" y="6647688"/>
            <a:ext cx="1828800" cy="164592"/>
          </a:xfrm>
          <a:prstGeom prst="rect">
            <a:avLst/>
          </a:prstGeom>
          <a:noFill/>
          <a:ln/>
        </p:spPr>
        <p:txBody>
          <a:bodyPr wrap="square" lIns="0" tIns="0" rIns="0" bIns="0" rtlCol="0" anchor="ctr"/>
          <a:lstStyle/>
          <a:p>
            <a:pPr algn="ctr" indent="0" marL="0">
              <a:buNone/>
            </a:pPr>
            <a:r>
              <a:rPr lang="en-US" sz="750" dirty="0">
                <a:solidFill>
                  <a:srgbClr val="6E6961"/>
                </a:solidFill>
                <a:latin typeface="Arial" pitchFamily="34" charset="0"/>
                <a:ea typeface="Arial" pitchFamily="34" charset="-122"/>
                <a:cs typeface="Arial" pitchFamily="34" charset="-120"/>
              </a:rPr>
              <a:t>Granola and Harvest feed attention</a:t>
            </a:r>
            <a:endParaRPr lang="en-US" sz="750" dirty="0"/>
          </a:p>
        </p:txBody>
      </p:sp>
      <p:sp>
        <p:nvSpPr>
          <p:cNvPr id="76" name="Shape 73"/>
          <p:cNvSpPr/>
          <p:nvPr/>
        </p:nvSpPr>
        <p:spPr>
          <a:xfrm>
            <a:off x="8554212" y="6309360"/>
            <a:ext cx="128016" cy="128016"/>
          </a:xfrm>
          <a:prstGeom prst="ellipse">
            <a:avLst/>
          </a:prstGeom>
          <a:solidFill>
            <a:srgbClr val="FFFFFF"/>
          </a:solidFill>
          <a:ln w="15875">
            <a:solidFill>
              <a:srgbClr val="2A654E"/>
            </a:solidFill>
            <a:prstDash val="solid"/>
          </a:ln>
        </p:spPr>
      </p:sp>
      <p:sp>
        <p:nvSpPr>
          <p:cNvPr id="77" name="Text 74"/>
          <p:cNvSpPr txBox="1"/>
          <p:nvPr/>
        </p:nvSpPr>
        <p:spPr>
          <a:xfrm>
            <a:off x="7703820" y="6080760"/>
            <a:ext cx="1828800" cy="182880"/>
          </a:xfrm>
          <a:prstGeom prst="rect">
            <a:avLst/>
          </a:prstGeom>
          <a:noFill/>
          <a:ln/>
        </p:spPr>
        <p:txBody>
          <a:bodyPr wrap="square" lIns="0" tIns="0" rIns="0" bIns="0" rtlCol="0" anchor="ctr"/>
          <a:lstStyle/>
          <a:p>
            <a:pPr algn="ctr" indent="0" marL="0">
              <a:buNone/>
            </a:pPr>
            <a:r>
              <a:rPr lang="en-US" sz="900" b="1" dirty="0">
                <a:solidFill>
                  <a:srgbClr val="113A2A"/>
                </a:solidFill>
                <a:latin typeface="Arial" pitchFamily="34" charset="0"/>
                <a:ea typeface="Arial" pitchFamily="34" charset="-122"/>
                <a:cs typeface="Arial" pitchFamily="34" charset="-120"/>
              </a:rPr>
              <a:t>Dec 5</a:t>
            </a:r>
            <a:endParaRPr lang="en-US" sz="900" dirty="0"/>
          </a:p>
        </p:txBody>
      </p:sp>
      <p:sp>
        <p:nvSpPr>
          <p:cNvPr id="78" name="Text 75"/>
          <p:cNvSpPr txBox="1"/>
          <p:nvPr/>
        </p:nvSpPr>
        <p:spPr>
          <a:xfrm>
            <a:off x="7703820" y="6483096"/>
            <a:ext cx="1828800" cy="164592"/>
          </a:xfrm>
          <a:prstGeom prst="rect">
            <a:avLst/>
          </a:prstGeom>
          <a:noFill/>
          <a:ln/>
        </p:spPr>
        <p:txBody>
          <a:bodyPr wrap="square" lIns="0" tIns="0" rIns="0" bIns="0" rtlCol="0" anchor="ctr"/>
          <a:lstStyle/>
          <a:p>
            <a:pPr algn="ctr" indent="0" marL="0">
              <a:buNone/>
            </a:pPr>
            <a:r>
              <a:rPr lang="en-US" sz="850" b="1" dirty="0">
                <a:solidFill>
                  <a:srgbClr val="2A654E"/>
                </a:solidFill>
                <a:latin typeface="Arial" pitchFamily="34" charset="0"/>
                <a:ea typeface="Arial" pitchFamily="34" charset="-122"/>
                <a:cs typeface="Arial" pitchFamily="34" charset="-120"/>
              </a:rPr>
              <a:t>Release 3 · Beyond status</a:t>
            </a:r>
            <a:endParaRPr lang="en-US" sz="850" dirty="0"/>
          </a:p>
        </p:txBody>
      </p:sp>
      <p:sp>
        <p:nvSpPr>
          <p:cNvPr id="79" name="Text 76"/>
          <p:cNvSpPr txBox="1"/>
          <p:nvPr/>
        </p:nvSpPr>
        <p:spPr>
          <a:xfrm>
            <a:off x="7703820" y="6647688"/>
            <a:ext cx="1828800" cy="164592"/>
          </a:xfrm>
          <a:prstGeom prst="rect">
            <a:avLst/>
          </a:prstGeom>
          <a:noFill/>
          <a:ln/>
        </p:spPr>
        <p:txBody>
          <a:bodyPr wrap="square" lIns="0" tIns="0" rIns="0" bIns="0" rtlCol="0" anchor="ctr"/>
          <a:lstStyle/>
          <a:p>
            <a:pPr algn="ctr" indent="0" marL="0">
              <a:buNone/>
            </a:pPr>
            <a:r>
              <a:rPr lang="en-US" sz="750" dirty="0">
                <a:solidFill>
                  <a:srgbClr val="6E6961"/>
                </a:solidFill>
                <a:latin typeface="Arial" pitchFamily="34" charset="0"/>
                <a:ea typeface="Arial" pitchFamily="34" charset="-122"/>
                <a:cs typeface="Arial" pitchFamily="34" charset="-120"/>
              </a:rPr>
              <a:t>Sprint review prep, Foundations piece</a:t>
            </a:r>
            <a:endParaRPr lang="en-US" sz="750" dirty="0"/>
          </a:p>
        </p:txBody>
      </p:sp>
      <p:sp>
        <p:nvSpPr>
          <p:cNvPr id="80" name="Shape 77"/>
          <p:cNvSpPr/>
          <p:nvPr/>
        </p:nvSpPr>
        <p:spPr>
          <a:xfrm>
            <a:off x="11091672" y="6309360"/>
            <a:ext cx="128016" cy="128016"/>
          </a:xfrm>
          <a:prstGeom prst="ellipse">
            <a:avLst/>
          </a:prstGeom>
          <a:solidFill>
            <a:srgbClr val="FFFFFF"/>
          </a:solidFill>
          <a:ln w="15875">
            <a:solidFill>
              <a:srgbClr val="2A654E"/>
            </a:solidFill>
            <a:prstDash val="solid"/>
          </a:ln>
        </p:spPr>
      </p:sp>
      <p:sp>
        <p:nvSpPr>
          <p:cNvPr id="81" name="Text 78"/>
          <p:cNvSpPr txBox="1"/>
          <p:nvPr/>
        </p:nvSpPr>
        <p:spPr>
          <a:xfrm>
            <a:off x="10241280" y="6080760"/>
            <a:ext cx="1828800" cy="182880"/>
          </a:xfrm>
          <a:prstGeom prst="rect">
            <a:avLst/>
          </a:prstGeom>
          <a:noFill/>
          <a:ln/>
        </p:spPr>
        <p:txBody>
          <a:bodyPr wrap="square" lIns="0" tIns="0" rIns="0" bIns="0" rtlCol="0" anchor="ctr"/>
          <a:lstStyle/>
          <a:p>
            <a:pPr algn="ctr" indent="0" marL="0">
              <a:buNone/>
            </a:pPr>
            <a:r>
              <a:rPr lang="en-US" sz="900" b="1" dirty="0">
                <a:solidFill>
                  <a:srgbClr val="113A2A"/>
                </a:solidFill>
                <a:latin typeface="Arial" pitchFamily="34" charset="0"/>
                <a:ea typeface="Arial" pitchFamily="34" charset="-122"/>
                <a:cs typeface="Arial" pitchFamily="34" charset="-120"/>
              </a:rPr>
              <a:t>Dec 12</a:t>
            </a:r>
            <a:endParaRPr lang="en-US" sz="900" dirty="0"/>
          </a:p>
        </p:txBody>
      </p:sp>
      <p:sp>
        <p:nvSpPr>
          <p:cNvPr id="82" name="Text 79"/>
          <p:cNvSpPr txBox="1"/>
          <p:nvPr/>
        </p:nvSpPr>
        <p:spPr>
          <a:xfrm>
            <a:off x="10241280" y="6483096"/>
            <a:ext cx="1828800" cy="164592"/>
          </a:xfrm>
          <a:prstGeom prst="rect">
            <a:avLst/>
          </a:prstGeom>
          <a:noFill/>
          <a:ln/>
        </p:spPr>
        <p:txBody>
          <a:bodyPr wrap="square" lIns="0" tIns="0" rIns="0" bIns="0" rtlCol="0" anchor="ctr"/>
          <a:lstStyle/>
          <a:p>
            <a:pPr algn="ctr" indent="0" marL="0">
              <a:buNone/>
            </a:pPr>
            <a:r>
              <a:rPr lang="en-US" sz="850" b="1" dirty="0">
                <a:solidFill>
                  <a:srgbClr val="2A654E"/>
                </a:solidFill>
                <a:latin typeface="Arial" pitchFamily="34" charset="0"/>
                <a:ea typeface="Arial" pitchFamily="34" charset="-122"/>
                <a:cs typeface="Arial" pitchFamily="34" charset="-120"/>
              </a:rPr>
              <a:t>Scale review</a:t>
            </a:r>
            <a:endParaRPr lang="en-US" sz="850" dirty="0"/>
          </a:p>
        </p:txBody>
      </p:sp>
      <p:sp>
        <p:nvSpPr>
          <p:cNvPr id="83" name="Text 80"/>
          <p:cNvSpPr txBox="1"/>
          <p:nvPr/>
        </p:nvSpPr>
        <p:spPr>
          <a:xfrm>
            <a:off x="10241280" y="6647688"/>
            <a:ext cx="1828800" cy="164592"/>
          </a:xfrm>
          <a:prstGeom prst="rect">
            <a:avLst/>
          </a:prstGeom>
          <a:noFill/>
          <a:ln/>
        </p:spPr>
        <p:txBody>
          <a:bodyPr wrap="square" lIns="0" tIns="0" rIns="0" bIns="0" rtlCol="0" anchor="ctr"/>
          <a:lstStyle/>
          <a:p>
            <a:pPr algn="ctr" indent="0" marL="0">
              <a:buNone/>
            </a:pPr>
            <a:r>
              <a:rPr lang="en-US" sz="750" dirty="0">
                <a:solidFill>
                  <a:srgbClr val="6E6961"/>
                </a:solidFill>
                <a:latin typeface="Arial" pitchFamily="34" charset="0"/>
                <a:ea typeface="Arial" pitchFamily="34" charset="-122"/>
                <a:cs typeface="Arial" pitchFamily="34" charset="-120"/>
              </a:rPr>
              <a:t>what to scale, change, or stop</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2026-09-11T00:50:56Z</dcterms:created>
  <dcterms:modified xsi:type="dcterms:W3CDTF">2026-09-11T00:50:56Z</dcterms:modified>
</cp:coreProperties>
</file>