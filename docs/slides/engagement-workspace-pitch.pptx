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Karta AI Engagement Workspace brings our AI strategy into the daily work of each project team. It gives consultants a common place to use AI with the project context, Karta methodology, and governance needed to improve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 strategy focuses on strengthening our consultants, improving client delivery, and reducing repetitive effort. We already have meaningful experimentation and promising capabilities underway. The opportunity now is to turn that activity into reusable ways of working that Karta can support, measure, and scale.
Today, understanding an engagement takes effort. The plan is in Asana, documents are in SharePoint, and important context lives in meetings and individual knowledge. Consultants repeatedly gather and interpret that information to prepare a status report, develop a design, or bring another team member up to speed. As we introduce more AI capabilities, each needs relevant project context. Our teams also need to understand which capabilities are ready, when to use them, and how to review the results.
The Engagement Workspace gives each project its own home for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Workspace gives each project its own home for that work. A team member can see where the engagement stands in Karta's delivery lifecycle, what needs attention, and which capabilities can help with the next activity. The workspace brings together project evidence, delivery guidance, and reviewed outputs in a consistent experience. Each engagement has its own workspace. The shared foundation lets us improve that experience across projects as we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stands alone as the showcase. Every Karta engagement gets its own AI-enabled workspace. Claude reads the engagement's evidence, drafts Karta's artifacts and remembers every decision, inside Karta's method and with a named person accountable for every output.
The screen is the real workspace Home page running on sample data (Northwind Foods, a fictional Anaplan FP&amp;A engagement in Build week 10): the seven-stage journey, the next control point with its evidence, stage deliverables, the capabilities recommended for this stage, what needs attention, and the evidence and decisions on record.
Why each stage matters: Sales to Delivery starts the record the whole engagement will use. Project Planning: everything after it depends on setup being right. Foundations catches ambiguity and scope drift before build. Build is weekly, measurable and traceable as a by-product. Test: coverage comes free and scope disputes get settled. Train and Deploy: the longest deliverables, drafted from the solution. Continuous Support inherits the memory, not a folder.
Tags: Live is in the workspace today. Skill runs today in a consultant's Claude session and joins the workspace later. Next is the 90-day push. Later is roadmap. Release contents are the working plan and will be confirmed at each monthly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opening your engagement workspace at the start of the week. You can orient yourself to the current stage, review milestones and missing information, and open Weekly Status. The workspace reads the available evidence and helps prepare a draft. A reviewer applies their judgment, corrects the content, and approves it. The workspace then produces the deck and retains the approved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already recorded an approved status and generated deck for Legend. Today, the reviewer saves and distributes that deck. That gives us a concrete starting point for demonstrating the experience and measuring its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two priorities show how the workspace can support different parts of delivery. Project Status Reporting addresses a recurring activity with measurable preparation effort and clear reuse across engagements. The Foundations Package, from business requirements to mockups, addresses ambiguity before build. It helps make requirements, assumptions, decisions, and scope boundaries visible so teams can identify gaps and improve the handoff into development. The workspace gives these capabilities a place in the engagement journey. Some will run directly inside it; others may initially connect to guided workflows in a consultant's Claude session. Over time, reviewed outputs from one activity can help inform subsequent work, reducing the need to reconstruct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integrate more AI, governance becomes increasingly important. At the Karta level, we need a consistent process for deciding which opportunities receive investment, which enter a pilot, and which are ready to scale. Any employee can contribute an idea. Each capability we formally advance needs an owner, defined boundaries, and evidence of value, quality, adoption, and 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Workspace is where those governance decisions become part of everyday delivery. Our intent is for teams to understand which capabilities are available for their engagement, whether they are experimental or validated, what information they use, and what review is required. We already have elements of that foundation: named approval records, visible source gaps, capability readiness labels, and pilot measures. We will strengthen enforcement and oversight as adoption grows. Governance also continues after release. We need to see where people use a capability, what they correct, what issues arise, and whether the workflow improves. That evidence lets us refine capabilities, expand successful ones, or withdraw those that do not meet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Karta's is how we combine AI with our delivery expertise. Our methodology, templates, and review practices shape how the capabilities work. Established systems remain authoritative, missing evidence stays visible, and people remain accountable for client-facing outputs. This also supports the development of our consultants. Experienced colleagues can turn effective practices into reusable guidance. Junior colleagues can apply that guidance in real work and develop their judgment through coaching and reviewer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90 days are about proving that this works beyond the initial demonstration. We will validate the two priority workflows, establish the minimum governance and operating foundation, and develop practitioner capability through participation. We will measure preparation effort, output quality, corrections, and sustained use. Those results will tell us what to scale, what to change, and where to focus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Workspace gives our consultants a common place to apply AI and gives Karta a consistent way to introduce, govern, and improve those capabilities. Our ambition is for every engagement to benefit from Karta's collective expertise, supported by AI and accountable human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3A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FFFFFF"/>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B7C9BF"/>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B7C9BF"/>
                </a:solidFill>
                <a:latin typeface="Arial" pitchFamily="34" charset="0"/>
                <a:ea typeface="Arial" pitchFamily="34" charset="-122"/>
                <a:cs typeface="Arial" pitchFamily="34" charset="-120"/>
              </a:rPr>
              <a:t>1</a:t>
            </a:r>
            <a:endParaRPr lang="en-US" sz="900" dirty="0"/>
          </a:p>
        </p:txBody>
      </p:sp>
      <p:sp>
        <p:nvSpPr>
          <p:cNvPr id="6" name="Text 3"/>
          <p:cNvSpPr txBox="1"/>
          <p:nvPr/>
        </p:nvSpPr>
        <p:spPr>
          <a:xfrm>
            <a:off x="457200" y="201168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Karta AI Engagement Workspace</a:t>
            </a:r>
            <a:endParaRPr lang="en-US" sz="4000" dirty="0"/>
          </a:p>
        </p:txBody>
      </p:sp>
      <p:sp>
        <p:nvSpPr>
          <p:cNvPr id="7" name="Text 4"/>
          <p:cNvSpPr txBox="1"/>
          <p:nvPr/>
        </p:nvSpPr>
        <p:spPr>
          <a:xfrm>
            <a:off x="457200" y="2880360"/>
            <a:ext cx="10058400" cy="640080"/>
          </a:xfrm>
          <a:prstGeom prst="rect">
            <a:avLst/>
          </a:prstGeom>
          <a:noFill/>
          <a:ln/>
        </p:spPr>
        <p:txBody>
          <a:bodyPr wrap="square" lIns="0" tIns="0" rIns="0" bIns="0" rtlCol="0" anchor="ctr"/>
          <a:lstStyle/>
          <a:p>
            <a:pPr indent="0" marL="0">
              <a:buNone/>
            </a:pPr>
            <a:r>
              <a:rPr lang="en-US" sz="2000" dirty="0">
                <a:solidFill>
                  <a:srgbClr val="D6E2DB"/>
                </a:solidFill>
                <a:latin typeface="Arial" pitchFamily="34" charset="0"/>
                <a:ea typeface="Arial" pitchFamily="34" charset="-122"/>
                <a:cs typeface="Arial" pitchFamily="34" charset="-120"/>
              </a:rPr>
              <a:t>Bringing our AI strategy into the daily work of every project team</a:t>
            </a:r>
            <a:endParaRPr lang="en-US" sz="2000" dirty="0"/>
          </a:p>
        </p:txBody>
      </p:sp>
      <p:sp>
        <p:nvSpPr>
          <p:cNvPr id="8" name="Text 5"/>
          <p:cNvSpPr txBox="1"/>
          <p:nvPr/>
        </p:nvSpPr>
        <p:spPr>
          <a:xfrm>
            <a:off x="457200" y="3657600"/>
            <a:ext cx="8686800" cy="731520"/>
          </a:xfrm>
          <a:prstGeom prst="rect">
            <a:avLst/>
          </a:prstGeom>
          <a:noFill/>
          <a:ln/>
        </p:spPr>
        <p:txBody>
          <a:bodyPr wrap="square" lIns="0" tIns="0" rIns="0" bIns="0" rtlCol="0" anchor="ctr"/>
          <a:lstStyle/>
          <a:p>
            <a:pPr indent="0" marL="0">
              <a:buNone/>
            </a:pPr>
            <a:r>
              <a:rPr lang="en-US" sz="1400" dirty="0">
                <a:solidFill>
                  <a:srgbClr val="B7C9BF"/>
                </a:solidFill>
                <a:latin typeface="Arial" pitchFamily="34" charset="0"/>
                <a:ea typeface="Arial" pitchFamily="34" charset="-122"/>
                <a:cs typeface="Arial" pitchFamily="34" charset="-120"/>
              </a:rPr>
              <a:t>A common place for consultants to use AI with the project context, Karta methodology and governance needed to improve delivery.</a:t>
            </a:r>
            <a:endParaRPr lang="en-US" sz="1400" dirty="0"/>
          </a:p>
        </p:txBody>
      </p:sp>
      <p:sp>
        <p:nvSpPr>
          <p:cNvPr id="9" name="Text 6"/>
          <p:cNvSpPr txBox="1"/>
          <p:nvPr/>
        </p:nvSpPr>
        <p:spPr>
          <a:xfrm>
            <a:off x="457200" y="5760720"/>
            <a:ext cx="10058400" cy="365760"/>
          </a:xfrm>
          <a:prstGeom prst="rect">
            <a:avLst/>
          </a:prstGeom>
          <a:noFill/>
          <a:ln/>
        </p:spPr>
        <p:txBody>
          <a:bodyPr wrap="square" lIns="0" tIns="0" rIns="0" bIns="0" rtlCol="0" anchor="ctr"/>
          <a:lstStyle/>
          <a:p>
            <a:pPr indent="0" marL="0">
              <a:buNone/>
            </a:pPr>
            <a:r>
              <a:rPr lang="en-US" sz="1100" dirty="0">
                <a:solidFill>
                  <a:srgbClr val="B7C9BF"/>
                </a:solidFill>
                <a:latin typeface="Arial" pitchFamily="34" charset="0"/>
                <a:ea typeface="Arial" pitchFamily="34" charset="-122"/>
                <a:cs typeface="Arial" pitchFamily="34" charset="-120"/>
              </a:rPr>
              <a:t>Status and showcase for Will Evans and Paul Gregov · Sean Bradley · Friday, September 12,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2</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Our AI strategy needs a home inside every engagement</a:t>
            </a:r>
            <a:endParaRPr lang="en-US" sz="3000" dirty="0"/>
          </a:p>
        </p:txBody>
      </p:sp>
      <p:sp>
        <p:nvSpPr>
          <p:cNvPr id="7" name="Shape 4"/>
          <p:cNvSpPr/>
          <p:nvPr/>
        </p:nvSpPr>
        <p:spPr>
          <a:xfrm>
            <a:off x="457200" y="1965960"/>
            <a:ext cx="3611880" cy="3246120"/>
          </a:xfrm>
          <a:prstGeom prst="roundRect">
            <a:avLst>
              <a:gd name="adj" fmla="val 2817"/>
            </a:avLst>
          </a:prstGeom>
          <a:solidFill>
            <a:srgbClr val="FFFFFF"/>
          </a:solidFill>
          <a:ln w="12700">
            <a:solidFill>
              <a:srgbClr val="E4E2DE"/>
            </a:solidFill>
            <a:prstDash val="solid"/>
          </a:ln>
        </p:spPr>
      </p:sp>
      <p:sp>
        <p:nvSpPr>
          <p:cNvPr id="8" name="Text 5"/>
          <p:cNvSpPr txBox="1"/>
          <p:nvPr/>
        </p:nvSpPr>
        <p:spPr>
          <a:xfrm>
            <a:off x="685800" y="2167128"/>
            <a:ext cx="3154680" cy="219456"/>
          </a:xfrm>
          <a:prstGeom prst="rect">
            <a:avLst/>
          </a:prstGeom>
          <a:noFill/>
          <a:ln/>
        </p:spPr>
        <p:txBody>
          <a:bodyPr wrap="square" lIns="0" tIns="0" rIns="0" bIns="0" rtlCol="0" anchor="ctr"/>
          <a:lstStyle/>
          <a:p>
            <a:pPr indent="0" marL="0">
              <a:buNone/>
            </a:pPr>
            <a:r>
              <a:rPr lang="en-US" sz="900" b="1" spc="150" kern="0" dirty="0">
                <a:solidFill>
                  <a:srgbClr val="2A654E"/>
                </a:solidFill>
                <a:latin typeface="Arial" pitchFamily="34" charset="0"/>
                <a:ea typeface="Arial" pitchFamily="34" charset="-122"/>
                <a:cs typeface="Arial" pitchFamily="34" charset="-120"/>
              </a:rPr>
              <a:t>SITUATION</a:t>
            </a:r>
            <a:endParaRPr lang="en-US" sz="900" dirty="0"/>
          </a:p>
        </p:txBody>
      </p:sp>
      <p:sp>
        <p:nvSpPr>
          <p:cNvPr id="9" name="Text 6"/>
          <p:cNvSpPr txBox="1"/>
          <p:nvPr/>
        </p:nvSpPr>
        <p:spPr>
          <a:xfrm>
            <a:off x="685800" y="2423160"/>
            <a:ext cx="3154680" cy="868680"/>
          </a:xfrm>
          <a:prstGeom prst="rect">
            <a:avLst/>
          </a:prstGeom>
          <a:noFill/>
          <a:ln/>
        </p:spPr>
        <p:txBody>
          <a:bodyPr wrap="square" lIns="0" tIns="0" rIns="0" bIns="0" rtlCol="0" anchor="t"/>
          <a:lstStyle/>
          <a:p>
            <a:pPr indent="0" marL="0">
              <a:buNone/>
            </a:pPr>
            <a:r>
              <a:rPr lang="en-US" sz="1600" b="1" dirty="0">
                <a:solidFill>
                  <a:srgbClr val="113A2A"/>
                </a:solidFill>
                <a:latin typeface="Arial" pitchFamily="34" charset="0"/>
                <a:ea typeface="Arial" pitchFamily="34" charset="-122"/>
                <a:cs typeface="Arial" pitchFamily="34" charset="-120"/>
              </a:rPr>
              <a:t>The strategy is set and the work is real</a:t>
            </a:r>
            <a:endParaRPr lang="en-US" sz="1600" dirty="0"/>
          </a:p>
        </p:txBody>
      </p:sp>
      <p:sp>
        <p:nvSpPr>
          <p:cNvPr id="10" name="Text 7"/>
          <p:cNvSpPr txBox="1"/>
          <p:nvPr/>
        </p:nvSpPr>
        <p:spPr>
          <a:xfrm>
            <a:off x="685800" y="3337560"/>
            <a:ext cx="3154680" cy="1691640"/>
          </a:xfrm>
          <a:prstGeom prst="rect">
            <a:avLst/>
          </a:prstGeom>
          <a:noFill/>
          <a:ln/>
        </p:spPr>
        <p:txBody>
          <a:bodyPr wrap="square" rtlCol="0" anchor="t"/>
          <a:lstStyle/>
          <a:p>
            <a:pPr marL="342900" indent="-342900">
              <a:spcAft>
                <a:spcPts val="800"/>
              </a:spcAft>
              <a:buSzPct val="100000"/>
              <a:buChar char="•"/>
            </a:pPr>
            <a:r>
              <a:rPr lang="en-US" sz="1200" dirty="0">
                <a:solidFill>
                  <a:srgbClr val="6E6961"/>
                </a:solidFill>
                <a:latin typeface="Arial" pitchFamily="34" charset="0"/>
                <a:ea typeface="Arial" pitchFamily="34" charset="-122"/>
                <a:cs typeface="Arial" pitchFamily="34" charset="-120"/>
              </a:rPr>
              <a:t>Strengthen our consultants, improve client delivery, reduce repetitive effort.</a:t>
            </a:r>
            <a:endParaRPr lang="en-US" sz="1200" dirty="0"/>
          </a:p>
          <a:p>
            <a:pPr marL="342900" indent="-342900">
              <a:spcAft>
                <a:spcPts val="800"/>
              </a:spcAft>
              <a:buSzPct val="100000"/>
              <a:buChar char="•"/>
            </a:pPr>
            <a:r>
              <a:rPr lang="en-US" sz="1200" dirty="0">
                <a:solidFill>
                  <a:srgbClr val="6E6961"/>
                </a:solidFill>
                <a:latin typeface="Arial" pitchFamily="34" charset="0"/>
                <a:ea typeface="Arial" pitchFamily="34" charset="-122"/>
                <a:cs typeface="Arial" pitchFamily="34" charset="-120"/>
              </a:rPr>
              <a:t>Meaningful experimentation and promising capabilities are already underway.</a:t>
            </a:r>
            <a:endParaRPr lang="en-US" sz="1200" dirty="0"/>
          </a:p>
        </p:txBody>
      </p:sp>
      <p:sp>
        <p:nvSpPr>
          <p:cNvPr id="11" name="Shape 8"/>
          <p:cNvSpPr/>
          <p:nvPr/>
        </p:nvSpPr>
        <p:spPr>
          <a:xfrm>
            <a:off x="4069080" y="2880360"/>
            <a:ext cx="182880" cy="0"/>
          </a:xfrm>
          <a:prstGeom prst="line">
            <a:avLst/>
          </a:prstGeom>
          <a:noFill/>
          <a:ln w="22225">
            <a:solidFill>
              <a:srgbClr val="2A654E"/>
            </a:solidFill>
            <a:prstDash val="solid"/>
            <a:tailEnd type="triangle"/>
          </a:ln>
        </p:spPr>
      </p:sp>
      <p:sp>
        <p:nvSpPr>
          <p:cNvPr id="12" name="Shape 9"/>
          <p:cNvSpPr/>
          <p:nvPr/>
        </p:nvSpPr>
        <p:spPr>
          <a:xfrm>
            <a:off x="4251960" y="1965960"/>
            <a:ext cx="3611880" cy="3246120"/>
          </a:xfrm>
          <a:prstGeom prst="roundRect">
            <a:avLst>
              <a:gd name="adj" fmla="val 2817"/>
            </a:avLst>
          </a:prstGeom>
          <a:solidFill>
            <a:srgbClr val="FFFFFF"/>
          </a:solidFill>
          <a:ln w="12700">
            <a:solidFill>
              <a:srgbClr val="E4E2DE"/>
            </a:solidFill>
            <a:prstDash val="solid"/>
          </a:ln>
        </p:spPr>
      </p:sp>
      <p:sp>
        <p:nvSpPr>
          <p:cNvPr id="13" name="Text 10"/>
          <p:cNvSpPr txBox="1"/>
          <p:nvPr/>
        </p:nvSpPr>
        <p:spPr>
          <a:xfrm>
            <a:off x="4480560" y="2167128"/>
            <a:ext cx="3154680" cy="219456"/>
          </a:xfrm>
          <a:prstGeom prst="rect">
            <a:avLst/>
          </a:prstGeom>
          <a:noFill/>
          <a:ln/>
        </p:spPr>
        <p:txBody>
          <a:bodyPr wrap="square" lIns="0" tIns="0" rIns="0" bIns="0" rtlCol="0" anchor="ctr"/>
          <a:lstStyle/>
          <a:p>
            <a:pPr indent="0" marL="0">
              <a:buNone/>
            </a:pPr>
            <a:r>
              <a:rPr lang="en-US" sz="900" b="1" spc="150" kern="0" dirty="0">
                <a:solidFill>
                  <a:srgbClr val="2A654E"/>
                </a:solidFill>
                <a:latin typeface="Arial" pitchFamily="34" charset="0"/>
                <a:ea typeface="Arial" pitchFamily="34" charset="-122"/>
                <a:cs typeface="Arial" pitchFamily="34" charset="-120"/>
              </a:rPr>
              <a:t>COMPLICATION</a:t>
            </a:r>
            <a:endParaRPr lang="en-US" sz="900" dirty="0"/>
          </a:p>
        </p:txBody>
      </p:sp>
      <p:sp>
        <p:nvSpPr>
          <p:cNvPr id="14" name="Text 11"/>
          <p:cNvSpPr txBox="1"/>
          <p:nvPr/>
        </p:nvSpPr>
        <p:spPr>
          <a:xfrm>
            <a:off x="4480560" y="2423160"/>
            <a:ext cx="3154680" cy="868680"/>
          </a:xfrm>
          <a:prstGeom prst="rect">
            <a:avLst/>
          </a:prstGeom>
          <a:noFill/>
          <a:ln/>
        </p:spPr>
        <p:txBody>
          <a:bodyPr wrap="square" lIns="0" tIns="0" rIns="0" bIns="0" rtlCol="0" anchor="t"/>
          <a:lstStyle/>
          <a:p>
            <a:pPr indent="0" marL="0">
              <a:buNone/>
            </a:pPr>
            <a:r>
              <a:rPr lang="en-US" sz="1600" b="1" dirty="0">
                <a:solidFill>
                  <a:srgbClr val="113A2A"/>
                </a:solidFill>
                <a:latin typeface="Arial" pitchFamily="34" charset="0"/>
                <a:ea typeface="Arial" pitchFamily="34" charset="-122"/>
                <a:cs typeface="Arial" pitchFamily="34" charset="-120"/>
              </a:rPr>
              <a:t>Context is scattered, and every new capability makes that worse</a:t>
            </a:r>
            <a:endParaRPr lang="en-US" sz="1600" dirty="0"/>
          </a:p>
        </p:txBody>
      </p:sp>
      <p:sp>
        <p:nvSpPr>
          <p:cNvPr id="15" name="Text 12"/>
          <p:cNvSpPr txBox="1"/>
          <p:nvPr/>
        </p:nvSpPr>
        <p:spPr>
          <a:xfrm>
            <a:off x="4480560" y="3337560"/>
            <a:ext cx="3154680" cy="1691640"/>
          </a:xfrm>
          <a:prstGeom prst="rect">
            <a:avLst/>
          </a:prstGeom>
          <a:noFill/>
          <a:ln/>
        </p:spPr>
        <p:txBody>
          <a:bodyPr wrap="square" rtlCol="0" anchor="t"/>
          <a:lstStyle/>
          <a:p>
            <a:pPr marL="342900" indent="-342900">
              <a:spcAft>
                <a:spcPts val="800"/>
              </a:spcAft>
              <a:buSzPct val="100000"/>
              <a:buChar char="•"/>
            </a:pPr>
            <a:r>
              <a:rPr lang="en-US" sz="1200" dirty="0">
                <a:solidFill>
                  <a:srgbClr val="6E6961"/>
                </a:solidFill>
                <a:latin typeface="Arial" pitchFamily="34" charset="0"/>
                <a:ea typeface="Arial" pitchFamily="34" charset="-122"/>
                <a:cs typeface="Arial" pitchFamily="34" charset="-120"/>
              </a:rPr>
              <a:t>The plan is in Asana, documents in SharePoint, the rest in meetings and people's heads. Consultants rebuild it for every status, design and handover.</a:t>
            </a:r>
            <a:endParaRPr lang="en-US" sz="1200" dirty="0"/>
          </a:p>
          <a:p>
            <a:pPr marL="342900" indent="-342900">
              <a:spcAft>
                <a:spcPts val="800"/>
              </a:spcAft>
              <a:buSzPct val="100000"/>
              <a:buChar char="•"/>
            </a:pPr>
            <a:r>
              <a:rPr lang="en-US" sz="1200" dirty="0">
                <a:solidFill>
                  <a:srgbClr val="6E6961"/>
                </a:solidFill>
                <a:latin typeface="Arial" pitchFamily="34" charset="0"/>
                <a:ea typeface="Arial" pitchFamily="34" charset="-122"/>
                <a:cs typeface="Arial" pitchFamily="34" charset="-120"/>
              </a:rPr>
              <a:t>Each AI capability needs that same context, and teams need to know what is ready, when to use it, and how to review it.</a:t>
            </a:r>
            <a:endParaRPr lang="en-US" sz="1200" dirty="0"/>
          </a:p>
        </p:txBody>
      </p:sp>
      <p:sp>
        <p:nvSpPr>
          <p:cNvPr id="16" name="Shape 13"/>
          <p:cNvSpPr/>
          <p:nvPr/>
        </p:nvSpPr>
        <p:spPr>
          <a:xfrm>
            <a:off x="7863840" y="2880360"/>
            <a:ext cx="182880" cy="0"/>
          </a:xfrm>
          <a:prstGeom prst="line">
            <a:avLst/>
          </a:prstGeom>
          <a:noFill/>
          <a:ln w="22225">
            <a:solidFill>
              <a:srgbClr val="2A654E"/>
            </a:solidFill>
            <a:prstDash val="solid"/>
            <a:tailEnd type="triangle"/>
          </a:ln>
        </p:spPr>
      </p:sp>
      <p:sp>
        <p:nvSpPr>
          <p:cNvPr id="17" name="Shape 14"/>
          <p:cNvSpPr/>
          <p:nvPr/>
        </p:nvSpPr>
        <p:spPr>
          <a:xfrm>
            <a:off x="8046720" y="1965960"/>
            <a:ext cx="3611880" cy="3246120"/>
          </a:xfrm>
          <a:prstGeom prst="roundRect">
            <a:avLst>
              <a:gd name="adj" fmla="val 2817"/>
            </a:avLst>
          </a:prstGeom>
          <a:solidFill>
            <a:srgbClr val="EAF1ED"/>
          </a:solidFill>
          <a:ln w="15875">
            <a:solidFill>
              <a:srgbClr val="2A654E"/>
            </a:solidFill>
            <a:prstDash val="solid"/>
          </a:ln>
        </p:spPr>
      </p:sp>
      <p:sp>
        <p:nvSpPr>
          <p:cNvPr id="18" name="Text 15"/>
          <p:cNvSpPr txBox="1"/>
          <p:nvPr/>
        </p:nvSpPr>
        <p:spPr>
          <a:xfrm>
            <a:off x="8275320" y="2167128"/>
            <a:ext cx="3154680" cy="219456"/>
          </a:xfrm>
          <a:prstGeom prst="rect">
            <a:avLst/>
          </a:prstGeom>
          <a:noFill/>
          <a:ln/>
        </p:spPr>
        <p:txBody>
          <a:bodyPr wrap="square" lIns="0" tIns="0" rIns="0" bIns="0" rtlCol="0" anchor="ctr"/>
          <a:lstStyle/>
          <a:p>
            <a:pPr indent="0" marL="0">
              <a:buNone/>
            </a:pPr>
            <a:r>
              <a:rPr lang="en-US" sz="900" b="1" spc="150" kern="0" dirty="0">
                <a:solidFill>
                  <a:srgbClr val="2A654E"/>
                </a:solidFill>
                <a:latin typeface="Arial" pitchFamily="34" charset="0"/>
                <a:ea typeface="Arial" pitchFamily="34" charset="-122"/>
                <a:cs typeface="Arial" pitchFamily="34" charset="-120"/>
              </a:rPr>
              <a:t>RESOLUTION</a:t>
            </a:r>
            <a:endParaRPr lang="en-US" sz="900" dirty="0"/>
          </a:p>
        </p:txBody>
      </p:sp>
      <p:sp>
        <p:nvSpPr>
          <p:cNvPr id="19" name="Text 16"/>
          <p:cNvSpPr txBox="1"/>
          <p:nvPr/>
        </p:nvSpPr>
        <p:spPr>
          <a:xfrm>
            <a:off x="8275320" y="2423160"/>
            <a:ext cx="3154680" cy="868680"/>
          </a:xfrm>
          <a:prstGeom prst="rect">
            <a:avLst/>
          </a:prstGeom>
          <a:noFill/>
          <a:ln/>
        </p:spPr>
        <p:txBody>
          <a:bodyPr wrap="square" lIns="0" tIns="0" rIns="0" bIns="0" rtlCol="0" anchor="t"/>
          <a:lstStyle/>
          <a:p>
            <a:pPr indent="0" marL="0">
              <a:buNone/>
            </a:pPr>
            <a:r>
              <a:rPr lang="en-US" sz="1700" b="1" dirty="0">
                <a:solidFill>
                  <a:srgbClr val="113A2A"/>
                </a:solidFill>
                <a:latin typeface="Arial" pitchFamily="34" charset="0"/>
                <a:ea typeface="Arial" pitchFamily="34" charset="-122"/>
                <a:cs typeface="Arial" pitchFamily="34" charset="-120"/>
              </a:rPr>
              <a:t>One workspace per engagement, on a shared Karta foundation</a:t>
            </a:r>
            <a:endParaRPr lang="en-US" sz="1700" dirty="0"/>
          </a:p>
        </p:txBody>
      </p:sp>
      <p:sp>
        <p:nvSpPr>
          <p:cNvPr id="20" name="Text 17"/>
          <p:cNvSpPr txBox="1"/>
          <p:nvPr/>
        </p:nvSpPr>
        <p:spPr>
          <a:xfrm>
            <a:off x="8275320" y="3337560"/>
            <a:ext cx="3154680" cy="1691640"/>
          </a:xfrm>
          <a:prstGeom prst="rect">
            <a:avLst/>
          </a:prstGeom>
          <a:noFill/>
          <a:ln/>
        </p:spPr>
        <p:txBody>
          <a:bodyPr wrap="square" rtlCol="0" anchor="t"/>
          <a:lstStyle/>
          <a:p>
            <a:pPr marL="342900" indent="-342900">
              <a:spcAft>
                <a:spcPts val="800"/>
              </a:spcAft>
              <a:buSzPct val="100000"/>
              <a:buChar char="•"/>
            </a:pPr>
            <a:r>
              <a:rPr lang="en-US" sz="1200" dirty="0">
                <a:solidFill>
                  <a:srgbClr val="113A2A"/>
                </a:solidFill>
                <a:latin typeface="Arial" pitchFamily="34" charset="0"/>
                <a:ea typeface="Arial" pitchFamily="34" charset="-122"/>
                <a:cs typeface="Arial" pitchFamily="34" charset="-120"/>
              </a:rPr>
              <a:t>Where the engagement stands in Karta's lifecycle, what needs attention, and which capabilities help next.</a:t>
            </a:r>
            <a:endParaRPr lang="en-US" sz="1200" dirty="0"/>
          </a:p>
          <a:p>
            <a:pPr marL="342900" indent="-342900">
              <a:spcAft>
                <a:spcPts val="800"/>
              </a:spcAft>
              <a:buSzPct val="100000"/>
              <a:buChar char="•"/>
            </a:pPr>
            <a:r>
              <a:rPr lang="en-US" sz="1200" dirty="0">
                <a:solidFill>
                  <a:srgbClr val="113A2A"/>
                </a:solidFill>
                <a:latin typeface="Arial" pitchFamily="34" charset="0"/>
                <a:ea typeface="Arial" pitchFamily="34" charset="-122"/>
                <a:cs typeface="Arial" pitchFamily="34" charset="-120"/>
              </a:rPr>
              <a:t>Project evidence, delivery guidance and reviewed outputs in one consistent experience. Improve it once, and every project benefits.</a:t>
            </a:r>
            <a:endParaRPr lang="en-US" sz="1200" dirty="0"/>
          </a:p>
        </p:txBody>
      </p:sp>
      <p:sp>
        <p:nvSpPr>
          <p:cNvPr id="21" name="Shape 18"/>
          <p:cNvSpPr/>
          <p:nvPr/>
        </p:nvSpPr>
        <p:spPr>
          <a:xfrm>
            <a:off x="457200" y="5440680"/>
            <a:ext cx="11274552" cy="731520"/>
          </a:xfrm>
          <a:prstGeom prst="roundRect">
            <a:avLst>
              <a:gd name="adj" fmla="val 12500"/>
            </a:avLst>
          </a:prstGeom>
          <a:solidFill>
            <a:srgbClr val="F5F4F2"/>
          </a:solidFill>
          <a:ln w="12700">
            <a:solidFill>
              <a:srgbClr val="E4E2DE"/>
            </a:solidFill>
            <a:prstDash val="solid"/>
          </a:ln>
        </p:spPr>
      </p:sp>
      <p:sp>
        <p:nvSpPr>
          <p:cNvPr id="22" name="Text 19"/>
          <p:cNvSpPr txBox="1"/>
          <p:nvPr/>
        </p:nvSpPr>
        <p:spPr>
          <a:xfrm>
            <a:off x="685800" y="5532120"/>
            <a:ext cx="10789920" cy="548640"/>
          </a:xfrm>
          <a:prstGeom prst="rect">
            <a:avLst/>
          </a:prstGeom>
          <a:noFill/>
          <a:ln/>
        </p:spPr>
        <p:txBody>
          <a:bodyPr wrap="square" lIns="0" tIns="0" rIns="0" bIns="0" rtlCol="0" anchor="ctr"/>
          <a:lstStyle/>
          <a:p>
            <a:pPr indent="0" marL="0">
              <a:buNone/>
            </a:pPr>
            <a:r>
              <a:rPr lang="en-US" sz="1400" b="1" dirty="0">
                <a:solidFill>
                  <a:srgbClr val="113A2A"/>
                </a:solidFill>
                <a:latin typeface="Arial" pitchFamily="34" charset="0"/>
                <a:ea typeface="Arial" pitchFamily="34" charset="-122"/>
                <a:cs typeface="Arial" pitchFamily="34" charset="-120"/>
              </a:rPr>
              <a:t>The opportunity now is to turn the activity already underway into reusable ways of working that Karta can support, measure and scale.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3</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The Engagement Workspace gives each project its own home for that work</a:t>
            </a:r>
            <a:endParaRPr lang="en-US" sz="3000" dirty="0"/>
          </a:p>
        </p:txBody>
      </p:sp>
      <p:sp>
        <p:nvSpPr>
          <p:cNvPr id="7" name="Text 4"/>
          <p:cNvSpPr txBox="1"/>
          <p:nvPr/>
        </p:nvSpPr>
        <p:spPr>
          <a:xfrm>
            <a:off x="457200" y="1783080"/>
            <a:ext cx="9601200" cy="640080"/>
          </a:xfrm>
          <a:prstGeom prst="rect">
            <a:avLst/>
          </a:prstGeom>
          <a:noFill/>
          <a:ln/>
        </p:spPr>
        <p:txBody>
          <a:bodyPr wrap="square" lIns="0" tIns="0" rIns="0" bIns="0" rtlCol="0" anchor="t"/>
          <a:lstStyle/>
          <a:p>
            <a:pPr indent="0" marL="0">
              <a:buNone/>
            </a:pPr>
            <a:r>
              <a:rPr lang="en-US" sz="1400" dirty="0">
                <a:solidFill>
                  <a:srgbClr val="6E6961"/>
                </a:solidFill>
                <a:latin typeface="Arial" pitchFamily="34" charset="0"/>
                <a:ea typeface="Arial" pitchFamily="34" charset="-122"/>
                <a:cs typeface="Arial" pitchFamily="34" charset="-120"/>
              </a:rPr>
              <a:t>One workspace per engagement, on a shared foundation we improve across projects as we learn.</a:t>
            </a:r>
            <a:endParaRPr lang="en-US" sz="1400" dirty="0"/>
          </a:p>
        </p:txBody>
      </p:sp>
      <p:sp>
        <p:nvSpPr>
          <p:cNvPr id="8" name="Shape 5"/>
          <p:cNvSpPr/>
          <p:nvPr/>
        </p:nvSpPr>
        <p:spPr>
          <a:xfrm>
            <a:off x="457200" y="2706624"/>
            <a:ext cx="1527048" cy="566928"/>
          </a:xfrm>
          <a:prstGeom prst="roundRect">
            <a:avLst>
              <a:gd name="adj" fmla="val 12903"/>
            </a:avLst>
          </a:prstGeom>
          <a:solidFill>
            <a:srgbClr val="FFFFFF"/>
          </a:solidFill>
          <a:ln w="12700">
            <a:solidFill>
              <a:srgbClr val="C9C5BE"/>
            </a:solidFill>
            <a:prstDash val="solid"/>
          </a:ln>
        </p:spPr>
      </p:sp>
      <p:sp>
        <p:nvSpPr>
          <p:cNvPr id="9" name="Text 6"/>
          <p:cNvSpPr txBox="1"/>
          <p:nvPr/>
        </p:nvSpPr>
        <p:spPr>
          <a:xfrm>
            <a:off x="548640"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1  Project Planning</a:t>
            </a:r>
            <a:endParaRPr lang="en-US" sz="1000" dirty="0"/>
          </a:p>
        </p:txBody>
      </p:sp>
      <p:sp>
        <p:nvSpPr>
          <p:cNvPr id="10" name="Shape 7"/>
          <p:cNvSpPr/>
          <p:nvPr/>
        </p:nvSpPr>
        <p:spPr>
          <a:xfrm>
            <a:off x="2075688" y="2706624"/>
            <a:ext cx="1527048" cy="566928"/>
          </a:xfrm>
          <a:prstGeom prst="roundRect">
            <a:avLst>
              <a:gd name="adj" fmla="val 12903"/>
            </a:avLst>
          </a:prstGeom>
          <a:solidFill>
            <a:srgbClr val="FFFFFF"/>
          </a:solidFill>
          <a:ln w="12700">
            <a:solidFill>
              <a:srgbClr val="C9C5BE"/>
            </a:solidFill>
            <a:prstDash val="solid"/>
          </a:ln>
        </p:spPr>
      </p:sp>
      <p:sp>
        <p:nvSpPr>
          <p:cNvPr id="11" name="Text 8"/>
          <p:cNvSpPr txBox="1"/>
          <p:nvPr/>
        </p:nvSpPr>
        <p:spPr>
          <a:xfrm>
            <a:off x="2167128"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2  Foundations</a:t>
            </a:r>
            <a:endParaRPr lang="en-US" sz="1000" dirty="0"/>
          </a:p>
        </p:txBody>
      </p:sp>
      <p:sp>
        <p:nvSpPr>
          <p:cNvPr id="12" name="Shape 9"/>
          <p:cNvSpPr/>
          <p:nvPr/>
        </p:nvSpPr>
        <p:spPr>
          <a:xfrm>
            <a:off x="3694176" y="2706624"/>
            <a:ext cx="1527048" cy="566928"/>
          </a:xfrm>
          <a:prstGeom prst="roundRect">
            <a:avLst>
              <a:gd name="adj" fmla="val 12903"/>
            </a:avLst>
          </a:prstGeom>
          <a:solidFill>
            <a:srgbClr val="2A654E"/>
          </a:solidFill>
          <a:ln w="12700">
            <a:solidFill>
              <a:srgbClr val="2A654E"/>
            </a:solidFill>
            <a:prstDash val="solid"/>
          </a:ln>
        </p:spPr>
      </p:sp>
      <p:sp>
        <p:nvSpPr>
          <p:cNvPr id="13" name="Text 10"/>
          <p:cNvSpPr txBox="1"/>
          <p:nvPr/>
        </p:nvSpPr>
        <p:spPr>
          <a:xfrm>
            <a:off x="3785616" y="2706624"/>
            <a:ext cx="1371600" cy="56692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3  Build</a:t>
            </a:r>
            <a:endParaRPr lang="en-US" sz="1000" dirty="0"/>
          </a:p>
        </p:txBody>
      </p:sp>
      <p:sp>
        <p:nvSpPr>
          <p:cNvPr id="14" name="Shape 11"/>
          <p:cNvSpPr/>
          <p:nvPr/>
        </p:nvSpPr>
        <p:spPr>
          <a:xfrm>
            <a:off x="5312664" y="2706624"/>
            <a:ext cx="1527048" cy="566928"/>
          </a:xfrm>
          <a:prstGeom prst="roundRect">
            <a:avLst>
              <a:gd name="adj" fmla="val 12903"/>
            </a:avLst>
          </a:prstGeom>
          <a:solidFill>
            <a:srgbClr val="FFFFFF"/>
          </a:solidFill>
          <a:ln w="12700">
            <a:solidFill>
              <a:srgbClr val="C9C5BE"/>
            </a:solidFill>
            <a:prstDash val="solid"/>
          </a:ln>
        </p:spPr>
      </p:sp>
      <p:sp>
        <p:nvSpPr>
          <p:cNvPr id="15" name="Text 12"/>
          <p:cNvSpPr txBox="1"/>
          <p:nvPr/>
        </p:nvSpPr>
        <p:spPr>
          <a:xfrm>
            <a:off x="5404104"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4  Test</a:t>
            </a:r>
            <a:endParaRPr lang="en-US" sz="1000" dirty="0"/>
          </a:p>
        </p:txBody>
      </p:sp>
      <p:sp>
        <p:nvSpPr>
          <p:cNvPr id="16" name="Shape 13"/>
          <p:cNvSpPr/>
          <p:nvPr/>
        </p:nvSpPr>
        <p:spPr>
          <a:xfrm>
            <a:off x="6931152" y="2706624"/>
            <a:ext cx="1527048" cy="566928"/>
          </a:xfrm>
          <a:prstGeom prst="roundRect">
            <a:avLst>
              <a:gd name="adj" fmla="val 12903"/>
            </a:avLst>
          </a:prstGeom>
          <a:solidFill>
            <a:srgbClr val="FFFFFF"/>
          </a:solidFill>
          <a:ln w="12700">
            <a:solidFill>
              <a:srgbClr val="C9C5BE"/>
            </a:solidFill>
            <a:prstDash val="solid"/>
          </a:ln>
        </p:spPr>
      </p:sp>
      <p:sp>
        <p:nvSpPr>
          <p:cNvPr id="17" name="Text 14"/>
          <p:cNvSpPr txBox="1"/>
          <p:nvPr/>
        </p:nvSpPr>
        <p:spPr>
          <a:xfrm>
            <a:off x="7022592"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5  Train</a:t>
            </a:r>
            <a:endParaRPr lang="en-US" sz="1000" dirty="0"/>
          </a:p>
        </p:txBody>
      </p:sp>
      <p:sp>
        <p:nvSpPr>
          <p:cNvPr id="18" name="Shape 15"/>
          <p:cNvSpPr/>
          <p:nvPr/>
        </p:nvSpPr>
        <p:spPr>
          <a:xfrm>
            <a:off x="8549640" y="2706624"/>
            <a:ext cx="1527048" cy="566928"/>
          </a:xfrm>
          <a:prstGeom prst="roundRect">
            <a:avLst>
              <a:gd name="adj" fmla="val 12903"/>
            </a:avLst>
          </a:prstGeom>
          <a:solidFill>
            <a:srgbClr val="FFFFFF"/>
          </a:solidFill>
          <a:ln w="12700">
            <a:solidFill>
              <a:srgbClr val="C9C5BE"/>
            </a:solidFill>
            <a:prstDash val="solid"/>
          </a:ln>
        </p:spPr>
      </p:sp>
      <p:sp>
        <p:nvSpPr>
          <p:cNvPr id="19" name="Text 16"/>
          <p:cNvSpPr txBox="1"/>
          <p:nvPr/>
        </p:nvSpPr>
        <p:spPr>
          <a:xfrm>
            <a:off x="8641080"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6  Deploy</a:t>
            </a:r>
            <a:endParaRPr lang="en-US" sz="1000" dirty="0"/>
          </a:p>
        </p:txBody>
      </p:sp>
      <p:sp>
        <p:nvSpPr>
          <p:cNvPr id="20" name="Shape 17"/>
          <p:cNvSpPr/>
          <p:nvPr/>
        </p:nvSpPr>
        <p:spPr>
          <a:xfrm>
            <a:off x="10168128" y="2706624"/>
            <a:ext cx="1527048" cy="566928"/>
          </a:xfrm>
          <a:prstGeom prst="roundRect">
            <a:avLst>
              <a:gd name="adj" fmla="val 12903"/>
            </a:avLst>
          </a:prstGeom>
          <a:solidFill>
            <a:srgbClr val="FFFFFF"/>
          </a:solidFill>
          <a:ln w="12700">
            <a:solidFill>
              <a:srgbClr val="C9C5BE"/>
            </a:solidFill>
            <a:prstDash val="solid"/>
          </a:ln>
        </p:spPr>
      </p:sp>
      <p:sp>
        <p:nvSpPr>
          <p:cNvPr id="21" name="Text 18"/>
          <p:cNvSpPr txBox="1"/>
          <p:nvPr/>
        </p:nvSpPr>
        <p:spPr>
          <a:xfrm>
            <a:off x="10259568" y="2706624"/>
            <a:ext cx="1371600" cy="566928"/>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7  Continuous Support</a:t>
            </a:r>
            <a:endParaRPr lang="en-US" sz="1000" dirty="0"/>
          </a:p>
        </p:txBody>
      </p:sp>
      <p:sp>
        <p:nvSpPr>
          <p:cNvPr id="22" name="Text 19"/>
          <p:cNvSpPr txBox="1"/>
          <p:nvPr/>
        </p:nvSpPr>
        <p:spPr>
          <a:xfrm>
            <a:off x="457200" y="2468880"/>
            <a:ext cx="731520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KARTA'S DELIVERY LIFECYCLE · WHERE THE ENGAGEMENT STANDS</a:t>
            </a:r>
            <a:endParaRPr lang="en-US" sz="850" dirty="0"/>
          </a:p>
        </p:txBody>
      </p:sp>
      <p:sp>
        <p:nvSpPr>
          <p:cNvPr id="23" name="Shape 20"/>
          <p:cNvSpPr/>
          <p:nvPr/>
        </p:nvSpPr>
        <p:spPr>
          <a:xfrm>
            <a:off x="457200" y="3429000"/>
            <a:ext cx="3611880" cy="2148840"/>
          </a:xfrm>
          <a:prstGeom prst="roundRect">
            <a:avLst>
              <a:gd name="adj" fmla="val 4255"/>
            </a:avLst>
          </a:prstGeom>
          <a:solidFill>
            <a:srgbClr val="FFFFFF"/>
          </a:solidFill>
          <a:ln w="12700">
            <a:solidFill>
              <a:srgbClr val="E4E2DE"/>
            </a:solidFill>
            <a:prstDash val="solid"/>
          </a:ln>
        </p:spPr>
      </p:sp>
      <p:sp>
        <p:nvSpPr>
          <p:cNvPr id="24" name="Text 21"/>
          <p:cNvSpPr txBox="1"/>
          <p:nvPr/>
        </p:nvSpPr>
        <p:spPr>
          <a:xfrm>
            <a:off x="658368" y="3611880"/>
            <a:ext cx="3209544" cy="50292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What needs attention</a:t>
            </a:r>
            <a:endParaRPr lang="en-US" sz="1400" dirty="0"/>
          </a:p>
        </p:txBody>
      </p:sp>
      <p:sp>
        <p:nvSpPr>
          <p:cNvPr id="25" name="Text 22"/>
          <p:cNvSpPr txBox="1"/>
          <p:nvPr/>
        </p:nvSpPr>
        <p:spPr>
          <a:xfrm>
            <a:off x="658368" y="4114800"/>
            <a:ext cx="3209544" cy="132588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Milestones past their date, open high-priority items, missing sources and unconfirmed dates, calculated from the evidence, not typed in.</a:t>
            </a:r>
            <a:endParaRPr lang="en-US" sz="1150" dirty="0"/>
          </a:p>
        </p:txBody>
      </p:sp>
      <p:sp>
        <p:nvSpPr>
          <p:cNvPr id="26" name="Shape 23"/>
          <p:cNvSpPr/>
          <p:nvPr/>
        </p:nvSpPr>
        <p:spPr>
          <a:xfrm>
            <a:off x="4251960" y="3429000"/>
            <a:ext cx="3611880" cy="2148840"/>
          </a:xfrm>
          <a:prstGeom prst="roundRect">
            <a:avLst>
              <a:gd name="adj" fmla="val 4255"/>
            </a:avLst>
          </a:prstGeom>
          <a:solidFill>
            <a:srgbClr val="FFFFFF"/>
          </a:solidFill>
          <a:ln w="12700">
            <a:solidFill>
              <a:srgbClr val="E4E2DE"/>
            </a:solidFill>
            <a:prstDash val="solid"/>
          </a:ln>
        </p:spPr>
      </p:sp>
      <p:sp>
        <p:nvSpPr>
          <p:cNvPr id="27" name="Text 24"/>
          <p:cNvSpPr txBox="1"/>
          <p:nvPr/>
        </p:nvSpPr>
        <p:spPr>
          <a:xfrm>
            <a:off x="4453128" y="3611880"/>
            <a:ext cx="3209544" cy="50292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Which capabilities can help next</a:t>
            </a:r>
            <a:endParaRPr lang="en-US" sz="1400" dirty="0"/>
          </a:p>
        </p:txBody>
      </p:sp>
      <p:sp>
        <p:nvSpPr>
          <p:cNvPr id="28" name="Text 25"/>
          <p:cNvSpPr txBox="1"/>
          <p:nvPr/>
        </p:nvSpPr>
        <p:spPr>
          <a:xfrm>
            <a:off x="4453128" y="4114800"/>
            <a:ext cx="3209544" cy="132588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Weekly Status, sprint review preparation, meeting capture, UAT preparation, each placed on the stage where it belongs and labelled by readiness.</a:t>
            </a:r>
            <a:endParaRPr lang="en-US" sz="1150" dirty="0"/>
          </a:p>
        </p:txBody>
      </p:sp>
      <p:sp>
        <p:nvSpPr>
          <p:cNvPr id="29" name="Shape 26"/>
          <p:cNvSpPr/>
          <p:nvPr/>
        </p:nvSpPr>
        <p:spPr>
          <a:xfrm>
            <a:off x="8046720" y="3429000"/>
            <a:ext cx="3611880" cy="2148840"/>
          </a:xfrm>
          <a:prstGeom prst="roundRect">
            <a:avLst>
              <a:gd name="adj" fmla="val 4255"/>
            </a:avLst>
          </a:prstGeom>
          <a:solidFill>
            <a:srgbClr val="FFFFFF"/>
          </a:solidFill>
          <a:ln w="12700">
            <a:solidFill>
              <a:srgbClr val="E4E2DE"/>
            </a:solidFill>
            <a:prstDash val="solid"/>
          </a:ln>
        </p:spPr>
      </p:sp>
      <p:sp>
        <p:nvSpPr>
          <p:cNvPr id="30" name="Text 27"/>
          <p:cNvSpPr txBox="1"/>
          <p:nvPr/>
        </p:nvSpPr>
        <p:spPr>
          <a:xfrm>
            <a:off x="8247888" y="3611880"/>
            <a:ext cx="3209544" cy="50292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Evidence, guidance and reviewed outputs</a:t>
            </a:r>
            <a:endParaRPr lang="en-US" sz="1400" dirty="0"/>
          </a:p>
        </p:txBody>
      </p:sp>
      <p:sp>
        <p:nvSpPr>
          <p:cNvPr id="31" name="Text 28"/>
          <p:cNvSpPr txBox="1"/>
          <p:nvPr/>
        </p:nvSpPr>
        <p:spPr>
          <a:xfrm>
            <a:off x="8247888" y="4114800"/>
            <a:ext cx="3209544" cy="132588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Project evidence from the systems of record, Karta's delivery guidance for the current stage, and the approved outputs, all in one consistent experience.</a:t>
            </a:r>
            <a:endParaRPr lang="en-US" sz="1150" dirty="0"/>
          </a:p>
        </p:txBody>
      </p:sp>
      <p:sp>
        <p:nvSpPr>
          <p:cNvPr id="32" name="Text 29"/>
          <p:cNvSpPr txBox="1"/>
          <p:nvPr/>
        </p:nvSpPr>
        <p:spPr>
          <a:xfrm>
            <a:off x="457200" y="5760720"/>
            <a:ext cx="11274552" cy="365760"/>
          </a:xfrm>
          <a:prstGeom prst="rect">
            <a:avLst/>
          </a:prstGeom>
          <a:noFill/>
          <a:ln/>
        </p:spPr>
        <p:txBody>
          <a:bodyPr wrap="square" lIns="0" tIns="0" rIns="0" bIns="0" rtlCol="0" anchor="ctr"/>
          <a:lstStyle/>
          <a:p>
            <a:pPr indent="0" marL="0">
              <a:buNone/>
            </a:pPr>
            <a:r>
              <a:rPr lang="en-US" sz="1250" i="1" dirty="0">
                <a:solidFill>
                  <a:srgbClr val="6E6961"/>
                </a:solidFill>
                <a:latin typeface="Arial" pitchFamily="34" charset="0"/>
                <a:ea typeface="Arial" pitchFamily="34" charset="-122"/>
                <a:cs typeface="Arial" pitchFamily="34" charset="-120"/>
              </a:rPr>
              <a:t>Each engagement has its own workspace. The shared foundation lets us improve the experience across projects as we learn.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4</a:t>
            </a:r>
            <a:endParaRPr lang="en-US" sz="900" dirty="0"/>
          </a:p>
        </p:txBody>
      </p:sp>
      <p:sp>
        <p:nvSpPr>
          <p:cNvPr id="6" name="Text 3"/>
          <p:cNvSpPr txBox="1"/>
          <p:nvPr/>
        </p:nvSpPr>
        <p:spPr>
          <a:xfrm>
            <a:off x="457200" y="841248"/>
            <a:ext cx="544068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KARTA AI ENGAGEMENT WORKSPACE</a:t>
            </a:r>
            <a:endParaRPr lang="en-US" sz="850" dirty="0"/>
          </a:p>
        </p:txBody>
      </p:sp>
      <p:sp>
        <p:nvSpPr>
          <p:cNvPr id="7" name="Text 4"/>
          <p:cNvSpPr txBox="1"/>
          <p:nvPr/>
        </p:nvSpPr>
        <p:spPr>
          <a:xfrm>
            <a:off x="457200" y="1042416"/>
            <a:ext cx="5440680" cy="868680"/>
          </a:xfrm>
          <a:prstGeom prst="rect">
            <a:avLst/>
          </a:prstGeom>
          <a:noFill/>
          <a:ln/>
        </p:spPr>
        <p:txBody>
          <a:bodyPr wrap="square" lIns="0" tIns="0" rIns="0" bIns="0" rtlCol="0" anchor="t"/>
          <a:lstStyle/>
          <a:p>
            <a:pPr indent="0" marL="0">
              <a:buNone/>
            </a:pPr>
            <a:r>
              <a:rPr lang="en-US" sz="2400" b="1" dirty="0">
                <a:solidFill>
                  <a:srgbClr val="113A2A"/>
                </a:solidFill>
                <a:latin typeface="Arial" pitchFamily="34" charset="0"/>
                <a:ea typeface="Arial" pitchFamily="34" charset="-122"/>
                <a:cs typeface="Arial" pitchFamily="34" charset="-120"/>
              </a:rPr>
              <a:t>Open Monday already knowing where your engagement stands.</a:t>
            </a:r>
            <a:endParaRPr lang="en-US" sz="2400" dirty="0"/>
          </a:p>
        </p:txBody>
      </p:sp>
      <p:sp>
        <p:nvSpPr>
          <p:cNvPr id="8" name="Text 5"/>
          <p:cNvSpPr txBox="1"/>
          <p:nvPr/>
        </p:nvSpPr>
        <p:spPr>
          <a:xfrm>
            <a:off x="457200" y="1920240"/>
            <a:ext cx="5440680" cy="530352"/>
          </a:xfrm>
          <a:prstGeom prst="rect">
            <a:avLst/>
          </a:prstGeom>
          <a:noFill/>
          <a:ln/>
        </p:spPr>
        <p:txBody>
          <a:bodyPr wrap="square" lIns="0" tIns="0" rIns="0" bIns="0" rtlCol="0" anchor="t"/>
          <a:lstStyle/>
          <a:p>
            <a:pPr indent="0" marL="0">
              <a:buNone/>
            </a:pPr>
            <a:r>
              <a:rPr lang="en-US" sz="1050" dirty="0">
                <a:solidFill>
                  <a:srgbClr val="6E6961"/>
                </a:solidFill>
                <a:latin typeface="Arial" pitchFamily="34" charset="0"/>
                <a:ea typeface="Arial" pitchFamily="34" charset="-122"/>
                <a:cs typeface="Arial" pitchFamily="34" charset="-120"/>
              </a:rPr>
              <a:t>Every Karta engagement gets its own AI-enabled workspace. Claude </a:t>
            </a:r>
            <a:pPr indent="0" marL="0">
              <a:buNone/>
            </a:pPr>
            <a:r>
              <a:rPr lang="en-US" sz="1050" b="1" dirty="0">
                <a:solidFill>
                  <a:srgbClr val="113A2A"/>
                </a:solidFill>
                <a:latin typeface="Arial" pitchFamily="34" charset="0"/>
                <a:ea typeface="Arial" pitchFamily="34" charset="-122"/>
                <a:cs typeface="Arial" pitchFamily="34" charset="-120"/>
              </a:rPr>
              <a:t>reads the engagement's evidence</a:t>
            </a:r>
            <a:pPr indent="0" marL="0">
              <a:buNone/>
            </a:pPr>
            <a:r>
              <a:rPr lang="en-US" sz="1050" dirty="0">
                <a:solidFill>
                  <a:srgbClr val="6E6961"/>
                </a:solidFill>
                <a:latin typeface="Arial" pitchFamily="34" charset="0"/>
                <a:ea typeface="Arial" pitchFamily="34" charset="-122"/>
                <a:cs typeface="Arial" pitchFamily="34" charset="-120"/>
              </a:rPr>
              <a:t>, </a:t>
            </a:r>
            <a:pPr indent="0" marL="0">
              <a:buNone/>
            </a:pPr>
            <a:r>
              <a:rPr lang="en-US" sz="1050" b="1" dirty="0">
                <a:solidFill>
                  <a:srgbClr val="113A2A"/>
                </a:solidFill>
                <a:latin typeface="Arial" pitchFamily="34" charset="0"/>
                <a:ea typeface="Arial" pitchFamily="34" charset="-122"/>
                <a:cs typeface="Arial" pitchFamily="34" charset="-120"/>
              </a:rPr>
              <a:t>drafts Karta's artifacts</a:t>
            </a:r>
            <a:pPr indent="0" marL="0">
              <a:buNone/>
            </a:pPr>
            <a:r>
              <a:rPr lang="en-US" sz="1050" dirty="0">
                <a:solidFill>
                  <a:srgbClr val="6E6961"/>
                </a:solidFill>
                <a:latin typeface="Arial" pitchFamily="34" charset="0"/>
                <a:ea typeface="Arial" pitchFamily="34" charset="-122"/>
                <a:cs typeface="Arial" pitchFamily="34" charset="-120"/>
              </a:rPr>
              <a:t> and </a:t>
            </a:r>
            <a:pPr indent="0" marL="0">
              <a:buNone/>
            </a:pPr>
            <a:r>
              <a:rPr lang="en-US" sz="1050" b="1" dirty="0">
                <a:solidFill>
                  <a:srgbClr val="113A2A"/>
                </a:solidFill>
                <a:latin typeface="Arial" pitchFamily="34" charset="0"/>
                <a:ea typeface="Arial" pitchFamily="34" charset="-122"/>
                <a:cs typeface="Arial" pitchFamily="34" charset="-120"/>
              </a:rPr>
              <a:t>remembers every decision</a:t>
            </a:r>
            <a:pPr indent="0" marL="0">
              <a:buNone/>
            </a:pPr>
            <a:r>
              <a:rPr lang="en-US" sz="1050" dirty="0">
                <a:solidFill>
                  <a:srgbClr val="6E6961"/>
                </a:solidFill>
                <a:latin typeface="Arial" pitchFamily="34" charset="0"/>
                <a:ea typeface="Arial" pitchFamily="34" charset="-122"/>
                <a:cs typeface="Arial" pitchFamily="34" charset="-120"/>
              </a:rPr>
              <a:t>, inside Karta's method and with a named person accountable for every output.</a:t>
            </a:r>
            <a:endParaRPr lang="en-US" sz="1050" dirty="0"/>
          </a:p>
        </p:txBody>
      </p:sp>
      <p:sp>
        <p:nvSpPr>
          <p:cNvPr id="9" name="Shape 6"/>
          <p:cNvSpPr/>
          <p:nvPr/>
        </p:nvSpPr>
        <p:spPr>
          <a:xfrm>
            <a:off x="457200" y="2505456"/>
            <a:ext cx="237744" cy="237744"/>
          </a:xfrm>
          <a:prstGeom prst="ellipse">
            <a:avLst/>
          </a:prstGeom>
          <a:solidFill>
            <a:srgbClr val="2A654E"/>
          </a:solidFill>
          <a:ln w="12700">
            <a:solidFill>
              <a:srgbClr val="2A654E"/>
            </a:solidFill>
            <a:prstDash val="solid"/>
          </a:ln>
        </p:spPr>
      </p:sp>
      <p:sp>
        <p:nvSpPr>
          <p:cNvPr id="10" name="Text 7"/>
          <p:cNvSpPr txBox="1"/>
          <p:nvPr/>
        </p:nvSpPr>
        <p:spPr>
          <a:xfrm>
            <a:off x="457200" y="250545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a:t>
            </a:r>
            <a:endParaRPr lang="en-US" sz="950" dirty="0"/>
          </a:p>
        </p:txBody>
      </p:sp>
      <p:sp>
        <p:nvSpPr>
          <p:cNvPr id="11" name="Text 8"/>
          <p:cNvSpPr txBox="1"/>
          <p:nvPr/>
        </p:nvSpPr>
        <p:spPr>
          <a:xfrm>
            <a:off x="786384" y="2487168"/>
            <a:ext cx="5111496" cy="182880"/>
          </a:xfrm>
          <a:prstGeom prst="rect">
            <a:avLst/>
          </a:prstGeom>
          <a:noFill/>
          <a:ln/>
        </p:spPr>
        <p:txBody>
          <a:bodyPr wrap="square" lIns="0" tIns="0" rIns="0" bIns="0" rtlCol="0" anchor="ctr"/>
          <a:lstStyle/>
          <a:p>
            <a:pPr indent="0" marL="0">
              <a:buNone/>
            </a:pPr>
            <a:r>
              <a:rPr lang="en-US" sz="1150" b="1" dirty="0">
                <a:solidFill>
                  <a:srgbClr val="113A2A"/>
                </a:solidFill>
                <a:latin typeface="Arial" pitchFamily="34" charset="0"/>
                <a:ea typeface="Arial" pitchFamily="34" charset="-122"/>
                <a:cs typeface="Arial" pitchFamily="34" charset="-120"/>
              </a:rPr>
              <a:t>See where you stand</a:t>
            </a:r>
            <a:endParaRPr lang="en-US" sz="1150" dirty="0"/>
          </a:p>
        </p:txBody>
      </p:sp>
      <p:sp>
        <p:nvSpPr>
          <p:cNvPr id="12" name="Text 9"/>
          <p:cNvSpPr txBox="1"/>
          <p:nvPr/>
        </p:nvSpPr>
        <p:spPr>
          <a:xfrm>
            <a:off x="786384" y="2660904"/>
            <a:ext cx="5111496" cy="18288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The lifecycle, the next control point, and whether its evidence is ready.</a:t>
            </a:r>
            <a:endParaRPr lang="en-US" sz="850" dirty="0"/>
          </a:p>
        </p:txBody>
      </p:sp>
      <p:sp>
        <p:nvSpPr>
          <p:cNvPr id="13" name="Shape 10"/>
          <p:cNvSpPr/>
          <p:nvPr/>
        </p:nvSpPr>
        <p:spPr>
          <a:xfrm>
            <a:off x="457200" y="2871216"/>
            <a:ext cx="237744" cy="237744"/>
          </a:xfrm>
          <a:prstGeom prst="ellipse">
            <a:avLst/>
          </a:prstGeom>
          <a:solidFill>
            <a:srgbClr val="2A654E"/>
          </a:solidFill>
          <a:ln w="12700">
            <a:solidFill>
              <a:srgbClr val="2A654E"/>
            </a:solidFill>
            <a:prstDash val="solid"/>
          </a:ln>
        </p:spPr>
      </p:sp>
      <p:sp>
        <p:nvSpPr>
          <p:cNvPr id="14" name="Text 11"/>
          <p:cNvSpPr txBox="1"/>
          <p:nvPr/>
        </p:nvSpPr>
        <p:spPr>
          <a:xfrm>
            <a:off x="457200" y="287121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a:t>
            </a:r>
            <a:endParaRPr lang="en-US" sz="950" dirty="0"/>
          </a:p>
        </p:txBody>
      </p:sp>
      <p:sp>
        <p:nvSpPr>
          <p:cNvPr id="15" name="Text 12"/>
          <p:cNvSpPr txBox="1"/>
          <p:nvPr/>
        </p:nvSpPr>
        <p:spPr>
          <a:xfrm>
            <a:off x="786384" y="2852928"/>
            <a:ext cx="5111496" cy="182880"/>
          </a:xfrm>
          <a:prstGeom prst="rect">
            <a:avLst/>
          </a:prstGeom>
          <a:noFill/>
          <a:ln/>
        </p:spPr>
        <p:txBody>
          <a:bodyPr wrap="square" lIns="0" tIns="0" rIns="0" bIns="0" rtlCol="0" anchor="ctr"/>
          <a:lstStyle/>
          <a:p>
            <a:pPr indent="0" marL="0">
              <a:buNone/>
            </a:pPr>
            <a:r>
              <a:rPr lang="en-US" sz="1150" b="1" dirty="0">
                <a:solidFill>
                  <a:srgbClr val="113A2A"/>
                </a:solidFill>
                <a:latin typeface="Arial" pitchFamily="34" charset="0"/>
                <a:ea typeface="Arial" pitchFamily="34" charset="-122"/>
                <a:cs typeface="Arial" pitchFamily="34" charset="-120"/>
              </a:rPr>
              <a:t>Know what needs attention</a:t>
            </a:r>
            <a:endParaRPr lang="en-US" sz="1150" dirty="0"/>
          </a:p>
        </p:txBody>
      </p:sp>
      <p:sp>
        <p:nvSpPr>
          <p:cNvPr id="16" name="Text 13"/>
          <p:cNvSpPr txBox="1"/>
          <p:nvPr/>
        </p:nvSpPr>
        <p:spPr>
          <a:xfrm>
            <a:off x="786384" y="3026664"/>
            <a:ext cx="5111496" cy="18288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Slipped dates, open decisions, capacity gaps. Calculated, not typed.</a:t>
            </a:r>
            <a:endParaRPr lang="en-US" sz="850" dirty="0"/>
          </a:p>
        </p:txBody>
      </p:sp>
      <p:sp>
        <p:nvSpPr>
          <p:cNvPr id="17" name="Shape 14"/>
          <p:cNvSpPr/>
          <p:nvPr/>
        </p:nvSpPr>
        <p:spPr>
          <a:xfrm>
            <a:off x="457200" y="3236976"/>
            <a:ext cx="237744" cy="237744"/>
          </a:xfrm>
          <a:prstGeom prst="ellipse">
            <a:avLst/>
          </a:prstGeom>
          <a:solidFill>
            <a:srgbClr val="2A654E"/>
          </a:solidFill>
          <a:ln w="12700">
            <a:solidFill>
              <a:srgbClr val="2A654E"/>
            </a:solidFill>
            <a:prstDash val="solid"/>
          </a:ln>
        </p:spPr>
      </p:sp>
      <p:sp>
        <p:nvSpPr>
          <p:cNvPr id="18" name="Text 15"/>
          <p:cNvSpPr txBox="1"/>
          <p:nvPr/>
        </p:nvSpPr>
        <p:spPr>
          <a:xfrm>
            <a:off x="457200" y="323697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a:t>
            </a:r>
            <a:endParaRPr lang="en-US" sz="950" dirty="0"/>
          </a:p>
        </p:txBody>
      </p:sp>
      <p:sp>
        <p:nvSpPr>
          <p:cNvPr id="19" name="Text 16"/>
          <p:cNvSpPr txBox="1"/>
          <p:nvPr/>
        </p:nvSpPr>
        <p:spPr>
          <a:xfrm>
            <a:off x="786384" y="3218688"/>
            <a:ext cx="5111496" cy="182880"/>
          </a:xfrm>
          <a:prstGeom prst="rect">
            <a:avLst/>
          </a:prstGeom>
          <a:noFill/>
          <a:ln/>
        </p:spPr>
        <p:txBody>
          <a:bodyPr wrap="square" lIns="0" tIns="0" rIns="0" bIns="0" rtlCol="0" anchor="ctr"/>
          <a:lstStyle/>
          <a:p>
            <a:pPr indent="0" marL="0">
              <a:buNone/>
            </a:pPr>
            <a:r>
              <a:rPr lang="en-US" sz="1150" b="1" dirty="0">
                <a:solidFill>
                  <a:srgbClr val="113A2A"/>
                </a:solidFill>
                <a:latin typeface="Arial" pitchFamily="34" charset="0"/>
                <a:ea typeface="Arial" pitchFamily="34" charset="-122"/>
                <a:cs typeface="Arial" pitchFamily="34" charset="-120"/>
              </a:rPr>
              <a:t>Do the week's work without rebuilding context</a:t>
            </a:r>
            <a:endParaRPr lang="en-US" sz="1150" dirty="0"/>
          </a:p>
        </p:txBody>
      </p:sp>
      <p:sp>
        <p:nvSpPr>
          <p:cNvPr id="20" name="Text 17"/>
          <p:cNvSpPr txBox="1"/>
          <p:nvPr/>
        </p:nvSpPr>
        <p:spPr>
          <a:xfrm>
            <a:off x="786384" y="3392424"/>
            <a:ext cx="5111496" cy="18288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Status, sprint reviews and UAT scripts drafted from one approved record.</a:t>
            </a:r>
            <a:endParaRPr lang="en-US" sz="850" dirty="0"/>
          </a:p>
        </p:txBody>
      </p:sp>
      <p:sp>
        <p:nvSpPr>
          <p:cNvPr id="21" name="Shape 18"/>
          <p:cNvSpPr/>
          <p:nvPr/>
        </p:nvSpPr>
        <p:spPr>
          <a:xfrm>
            <a:off x="457200" y="3602736"/>
            <a:ext cx="237744" cy="237744"/>
          </a:xfrm>
          <a:prstGeom prst="ellipse">
            <a:avLst/>
          </a:prstGeom>
          <a:solidFill>
            <a:srgbClr val="2A654E"/>
          </a:solidFill>
          <a:ln w="12700">
            <a:solidFill>
              <a:srgbClr val="2A654E"/>
            </a:solidFill>
            <a:prstDash val="solid"/>
          </a:ln>
        </p:spPr>
      </p:sp>
      <p:sp>
        <p:nvSpPr>
          <p:cNvPr id="22" name="Text 19"/>
          <p:cNvSpPr txBox="1"/>
          <p:nvPr/>
        </p:nvSpPr>
        <p:spPr>
          <a:xfrm>
            <a:off x="457200" y="360273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t>
            </a:r>
            <a:endParaRPr lang="en-US" sz="950" dirty="0"/>
          </a:p>
        </p:txBody>
      </p:sp>
      <p:sp>
        <p:nvSpPr>
          <p:cNvPr id="23" name="Text 20"/>
          <p:cNvSpPr txBox="1"/>
          <p:nvPr/>
        </p:nvSpPr>
        <p:spPr>
          <a:xfrm>
            <a:off x="786384" y="3584448"/>
            <a:ext cx="5111496" cy="182880"/>
          </a:xfrm>
          <a:prstGeom prst="rect">
            <a:avLst/>
          </a:prstGeom>
          <a:noFill/>
          <a:ln/>
        </p:spPr>
        <p:txBody>
          <a:bodyPr wrap="square" lIns="0" tIns="0" rIns="0" bIns="0" rtlCol="0" anchor="ctr"/>
          <a:lstStyle/>
          <a:p>
            <a:pPr indent="0" marL="0">
              <a:buNone/>
            </a:pPr>
            <a:r>
              <a:rPr lang="en-US" sz="1150" b="1" dirty="0">
                <a:solidFill>
                  <a:srgbClr val="113A2A"/>
                </a:solidFill>
                <a:latin typeface="Arial" pitchFamily="34" charset="0"/>
                <a:ea typeface="Arial" pitchFamily="34" charset="-122"/>
                <a:cs typeface="Arial" pitchFamily="34" charset="-120"/>
              </a:rPr>
              <a:t>One door for every AI capability</a:t>
            </a:r>
            <a:endParaRPr lang="en-US" sz="1150" dirty="0"/>
          </a:p>
        </p:txBody>
      </p:sp>
      <p:sp>
        <p:nvSpPr>
          <p:cNvPr id="24" name="Text 21"/>
          <p:cNvSpPr txBox="1"/>
          <p:nvPr/>
        </p:nvSpPr>
        <p:spPr>
          <a:xfrm>
            <a:off x="786384" y="3758184"/>
            <a:ext cx="5111496" cy="18288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Each has an owner, a readiness label and a stage. Use and corrections are measured.</a:t>
            </a:r>
            <a:endParaRPr lang="en-US" sz="850" dirty="0"/>
          </a:p>
        </p:txBody>
      </p:sp>
      <p:sp>
        <p:nvSpPr>
          <p:cNvPr id="25" name="Text 22"/>
          <p:cNvSpPr txBox="1"/>
          <p:nvPr/>
        </p:nvSpPr>
        <p:spPr>
          <a:xfrm>
            <a:off x="457200" y="3968496"/>
            <a:ext cx="5440680" cy="310896"/>
          </a:xfrm>
          <a:prstGeom prst="rect">
            <a:avLst/>
          </a:prstGeom>
          <a:noFill/>
          <a:ln/>
        </p:spPr>
        <p:txBody>
          <a:bodyPr wrap="square" lIns="0" tIns="0" rIns="0" bIns="0" rtlCol="0" anchor="t"/>
          <a:lstStyle/>
          <a:p>
            <a:pPr indent="0" marL="0">
              <a:buNone/>
            </a:pPr>
            <a:r>
              <a:rPr lang="en-US" sz="900" b="1" dirty="0">
                <a:solidFill>
                  <a:srgbClr val="113A2A"/>
                </a:solidFill>
                <a:latin typeface="Arial" pitchFamily="34" charset="0"/>
                <a:ea typeface="Arial" pitchFamily="34" charset="-122"/>
                <a:cs typeface="Arial" pitchFamily="34" charset="-120"/>
              </a:rPr>
              <a:t>Real, and running. </a:t>
            </a:r>
            <a:pPr indent="0" marL="0">
              <a:buNone/>
            </a:pPr>
            <a:r>
              <a:rPr lang="en-US" sz="900" dirty="0">
                <a:solidFill>
                  <a:srgbClr val="6E6961"/>
                </a:solidFill>
                <a:latin typeface="Arial" pitchFamily="34" charset="0"/>
                <a:ea typeface="Arial" pitchFamily="34" charset="-122"/>
                <a:cs typeface="Arial" pitchFamily="34" charset="-120"/>
              </a:rPr>
              <a:t>Live for Legend since September 8, 2026. First Weekly Status approved and the deck built the next day. A new engagement is set up in about ten minutes.</a:t>
            </a:r>
            <a:endParaRPr lang="en-US" sz="900" dirty="0"/>
          </a:p>
        </p:txBody>
      </p:sp>
      <p:pic>
        <p:nvPicPr>
          <p:cNvPr id="26" name="Image 1" descr="preencoded.png">    </p:cNvPr>
          <p:cNvPicPr>
            <a:picLocks noChangeAspect="1"/>
          </p:cNvPicPr>
          <p:nvPr/>
        </p:nvPicPr>
        <p:blipFill>
          <a:blip r:embed="rId2"/>
          <a:stretch>
            <a:fillRect/>
          </a:stretch>
        </p:blipFill>
        <p:spPr>
          <a:xfrm>
            <a:off x="6172200" y="868680"/>
            <a:ext cx="5559552" cy="3011424"/>
          </a:xfrm>
          <a:prstGeom prst="rect">
            <a:avLst/>
          </a:prstGeom>
        </p:spPr>
      </p:pic>
      <p:sp>
        <p:nvSpPr>
          <p:cNvPr id="27" name="Shape 23"/>
          <p:cNvSpPr/>
          <p:nvPr/>
        </p:nvSpPr>
        <p:spPr>
          <a:xfrm>
            <a:off x="8003121" y="1213348"/>
            <a:ext cx="274320" cy="274320"/>
          </a:xfrm>
          <a:prstGeom prst="ellipse">
            <a:avLst/>
          </a:prstGeom>
          <a:solidFill>
            <a:srgbClr val="2A654E"/>
          </a:solidFill>
          <a:ln w="22225">
            <a:solidFill>
              <a:srgbClr val="FFFFFF"/>
            </a:solidFill>
            <a:prstDash val="solid"/>
          </a:ln>
        </p:spPr>
      </p:sp>
      <p:sp>
        <p:nvSpPr>
          <p:cNvPr id="28" name="Text 24"/>
          <p:cNvSpPr txBox="1"/>
          <p:nvPr/>
        </p:nvSpPr>
        <p:spPr>
          <a:xfrm>
            <a:off x="8003121" y="12133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a:t>
            </a:r>
            <a:endParaRPr lang="en-US" sz="1000" dirty="0"/>
          </a:p>
        </p:txBody>
      </p:sp>
      <p:sp>
        <p:nvSpPr>
          <p:cNvPr id="29" name="Shape 25"/>
          <p:cNvSpPr/>
          <p:nvPr/>
        </p:nvSpPr>
        <p:spPr>
          <a:xfrm>
            <a:off x="8775899" y="1490399"/>
            <a:ext cx="274320" cy="274320"/>
          </a:xfrm>
          <a:prstGeom prst="ellipse">
            <a:avLst/>
          </a:prstGeom>
          <a:solidFill>
            <a:srgbClr val="2A654E"/>
          </a:solidFill>
          <a:ln w="22225">
            <a:solidFill>
              <a:srgbClr val="FFFFFF"/>
            </a:solidFill>
            <a:prstDash val="solid"/>
          </a:ln>
        </p:spPr>
      </p:sp>
      <p:sp>
        <p:nvSpPr>
          <p:cNvPr id="30" name="Text 26"/>
          <p:cNvSpPr txBox="1"/>
          <p:nvPr/>
        </p:nvSpPr>
        <p:spPr>
          <a:xfrm>
            <a:off x="8775899" y="1490399"/>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a:t>
            </a:r>
            <a:endParaRPr lang="en-US" sz="1000" dirty="0"/>
          </a:p>
        </p:txBody>
      </p:sp>
      <p:sp>
        <p:nvSpPr>
          <p:cNvPr id="31" name="Shape 27"/>
          <p:cNvSpPr/>
          <p:nvPr/>
        </p:nvSpPr>
        <p:spPr>
          <a:xfrm>
            <a:off x="8725863" y="2628717"/>
            <a:ext cx="274320" cy="274320"/>
          </a:xfrm>
          <a:prstGeom prst="ellipse">
            <a:avLst/>
          </a:prstGeom>
          <a:solidFill>
            <a:srgbClr val="2A654E"/>
          </a:solidFill>
          <a:ln w="22225">
            <a:solidFill>
              <a:srgbClr val="FFFFFF"/>
            </a:solidFill>
            <a:prstDash val="solid"/>
          </a:ln>
        </p:spPr>
      </p:sp>
      <p:sp>
        <p:nvSpPr>
          <p:cNvPr id="32" name="Text 28"/>
          <p:cNvSpPr txBox="1"/>
          <p:nvPr/>
        </p:nvSpPr>
        <p:spPr>
          <a:xfrm>
            <a:off x="8725863" y="2628717"/>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a:t>
            </a:r>
            <a:endParaRPr lang="en-US" sz="1000" dirty="0"/>
          </a:p>
        </p:txBody>
      </p:sp>
      <p:sp>
        <p:nvSpPr>
          <p:cNvPr id="33" name="Shape 29"/>
          <p:cNvSpPr/>
          <p:nvPr/>
        </p:nvSpPr>
        <p:spPr>
          <a:xfrm>
            <a:off x="6485364" y="2252289"/>
            <a:ext cx="274320" cy="274320"/>
          </a:xfrm>
          <a:prstGeom prst="ellipse">
            <a:avLst/>
          </a:prstGeom>
          <a:solidFill>
            <a:srgbClr val="2A654E"/>
          </a:solidFill>
          <a:ln w="22225">
            <a:solidFill>
              <a:srgbClr val="FFFFFF"/>
            </a:solidFill>
            <a:prstDash val="solid"/>
          </a:ln>
        </p:spPr>
      </p:sp>
      <p:sp>
        <p:nvSpPr>
          <p:cNvPr id="34" name="Text 30"/>
          <p:cNvSpPr txBox="1"/>
          <p:nvPr/>
        </p:nvSpPr>
        <p:spPr>
          <a:xfrm>
            <a:off x="6485364" y="2252289"/>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a:t>
            </a:r>
            <a:endParaRPr lang="en-US" sz="1000" dirty="0"/>
          </a:p>
        </p:txBody>
      </p:sp>
      <p:sp>
        <p:nvSpPr>
          <p:cNvPr id="35" name="Text 31"/>
          <p:cNvSpPr txBox="1"/>
          <p:nvPr/>
        </p:nvSpPr>
        <p:spPr>
          <a:xfrm>
            <a:off x="457200" y="4389120"/>
            <a:ext cx="566928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A DIGITAL PARTNER AT EVERY STAGE · THE TWO HIGHEST-VALUE WORKFLOWS PER STAGE</a:t>
            </a:r>
            <a:endParaRPr lang="en-US" sz="850" dirty="0"/>
          </a:p>
        </p:txBody>
      </p:sp>
      <p:sp>
        <p:nvSpPr>
          <p:cNvPr id="36" name="Shape 32"/>
          <p:cNvSpPr/>
          <p:nvPr/>
        </p:nvSpPr>
        <p:spPr>
          <a:xfrm>
            <a:off x="6126480" y="4398264"/>
            <a:ext cx="384048" cy="155448"/>
          </a:xfrm>
          <a:prstGeom prst="roundRect">
            <a:avLst>
              <a:gd name="adj" fmla="val 17647"/>
            </a:avLst>
          </a:prstGeom>
          <a:solidFill>
            <a:srgbClr val="2A654E"/>
          </a:solidFill>
          <a:ln w="9525">
            <a:solidFill>
              <a:srgbClr val="2A654E"/>
            </a:solidFill>
            <a:prstDash val="solid"/>
          </a:ln>
        </p:spPr>
      </p:sp>
      <p:sp>
        <p:nvSpPr>
          <p:cNvPr id="37" name="Text 33"/>
          <p:cNvSpPr txBox="1"/>
          <p:nvPr/>
        </p:nvSpPr>
        <p:spPr>
          <a:xfrm>
            <a:off x="6126480" y="4398264"/>
            <a:ext cx="384048" cy="155448"/>
          </a:xfrm>
          <a:prstGeom prst="rect">
            <a:avLst/>
          </a:prstGeom>
          <a:noFill/>
          <a:ln/>
        </p:spPr>
        <p:txBody>
          <a:bodyPr wrap="square" lIns="0" tIns="0" rIns="0" bIns="0" rtlCol="0" anchor="ctr"/>
          <a:lstStyle/>
          <a:p>
            <a:pPr algn="ctr" indent="0" marL="0">
              <a:buNone/>
            </a:pPr>
            <a:r>
              <a:rPr lang="en-US" sz="600" b="1" spc="100" kern="0" dirty="0">
                <a:solidFill>
                  <a:srgbClr val="FFFFFF"/>
                </a:solidFill>
                <a:latin typeface="Arial" pitchFamily="34" charset="0"/>
                <a:ea typeface="Arial" pitchFamily="34" charset="-122"/>
                <a:cs typeface="Arial" pitchFamily="34" charset="-120"/>
              </a:rPr>
              <a:t>LIVE</a:t>
            </a:r>
            <a:endParaRPr lang="en-US" sz="600" dirty="0"/>
          </a:p>
        </p:txBody>
      </p:sp>
      <p:sp>
        <p:nvSpPr>
          <p:cNvPr id="38" name="Text 34"/>
          <p:cNvSpPr txBox="1"/>
          <p:nvPr/>
        </p:nvSpPr>
        <p:spPr>
          <a:xfrm>
            <a:off x="6547104" y="4379976"/>
            <a:ext cx="1051560" cy="182880"/>
          </a:xfrm>
          <a:prstGeom prst="rect">
            <a:avLst/>
          </a:prstGeom>
          <a:noFill/>
          <a:ln/>
        </p:spPr>
        <p:txBody>
          <a:bodyPr wrap="square" lIns="0" tIns="0" rIns="0" bIns="0" rtlCol="0" anchor="ctr"/>
          <a:lstStyle/>
          <a:p>
            <a:pPr indent="0" marL="0">
              <a:buNone/>
            </a:pPr>
            <a:r>
              <a:rPr lang="en-US" sz="750" dirty="0">
                <a:solidFill>
                  <a:srgbClr val="6E6961"/>
                </a:solidFill>
                <a:latin typeface="Arial" pitchFamily="34" charset="0"/>
                <a:ea typeface="Arial" pitchFamily="34" charset="-122"/>
                <a:cs typeface="Arial" pitchFamily="34" charset="-120"/>
              </a:rPr>
              <a:t>in the workspace today</a:t>
            </a:r>
            <a:endParaRPr lang="en-US" sz="750" dirty="0"/>
          </a:p>
        </p:txBody>
      </p:sp>
      <p:sp>
        <p:nvSpPr>
          <p:cNvPr id="39" name="Shape 35"/>
          <p:cNvSpPr/>
          <p:nvPr/>
        </p:nvSpPr>
        <p:spPr>
          <a:xfrm>
            <a:off x="7690104" y="4398264"/>
            <a:ext cx="384048" cy="155448"/>
          </a:xfrm>
          <a:prstGeom prst="roundRect">
            <a:avLst>
              <a:gd name="adj" fmla="val 17647"/>
            </a:avLst>
          </a:prstGeom>
          <a:solidFill>
            <a:srgbClr val="FFFFFF"/>
          </a:solidFill>
          <a:ln w="9525">
            <a:solidFill>
              <a:srgbClr val="2A654E"/>
            </a:solidFill>
            <a:prstDash val="solid"/>
          </a:ln>
        </p:spPr>
      </p:sp>
      <p:sp>
        <p:nvSpPr>
          <p:cNvPr id="40" name="Text 36"/>
          <p:cNvSpPr txBox="1"/>
          <p:nvPr/>
        </p:nvSpPr>
        <p:spPr>
          <a:xfrm>
            <a:off x="7690104" y="4398264"/>
            <a:ext cx="384048" cy="155448"/>
          </a:xfrm>
          <a:prstGeom prst="rect">
            <a:avLst/>
          </a:prstGeom>
          <a:noFill/>
          <a:ln/>
        </p:spPr>
        <p:txBody>
          <a:bodyPr wrap="square" lIns="0" tIns="0" rIns="0" bIns="0" rtlCol="0" anchor="ctr"/>
          <a:lstStyle/>
          <a:p>
            <a:pPr algn="ctr" indent="0" marL="0">
              <a:buNone/>
            </a:pPr>
            <a:r>
              <a:rPr lang="en-US" sz="600" b="1" spc="100" kern="0" dirty="0">
                <a:solidFill>
                  <a:srgbClr val="2A654E"/>
                </a:solidFill>
                <a:latin typeface="Arial" pitchFamily="34" charset="0"/>
                <a:ea typeface="Arial" pitchFamily="34" charset="-122"/>
                <a:cs typeface="Arial" pitchFamily="34" charset="-120"/>
              </a:rPr>
              <a:t>SKILL</a:t>
            </a:r>
            <a:endParaRPr lang="en-US" sz="600" dirty="0"/>
          </a:p>
        </p:txBody>
      </p:sp>
      <p:sp>
        <p:nvSpPr>
          <p:cNvPr id="41" name="Text 37"/>
          <p:cNvSpPr txBox="1"/>
          <p:nvPr/>
        </p:nvSpPr>
        <p:spPr>
          <a:xfrm>
            <a:off x="8110728" y="4379976"/>
            <a:ext cx="1188720" cy="182880"/>
          </a:xfrm>
          <a:prstGeom prst="rect">
            <a:avLst/>
          </a:prstGeom>
          <a:noFill/>
          <a:ln/>
        </p:spPr>
        <p:txBody>
          <a:bodyPr wrap="square" lIns="0" tIns="0" rIns="0" bIns="0" rtlCol="0" anchor="ctr"/>
          <a:lstStyle/>
          <a:p>
            <a:pPr indent="0" marL="0">
              <a:buNone/>
            </a:pPr>
            <a:r>
              <a:rPr lang="en-US" sz="750" dirty="0">
                <a:solidFill>
                  <a:srgbClr val="6E6961"/>
                </a:solidFill>
                <a:latin typeface="Arial" pitchFamily="34" charset="0"/>
                <a:ea typeface="Arial" pitchFamily="34" charset="-122"/>
                <a:cs typeface="Arial" pitchFamily="34" charset="-120"/>
              </a:rPr>
              <a:t>in a Claude session today</a:t>
            </a:r>
            <a:endParaRPr lang="en-US" sz="750" dirty="0"/>
          </a:p>
        </p:txBody>
      </p:sp>
      <p:sp>
        <p:nvSpPr>
          <p:cNvPr id="42" name="Shape 38"/>
          <p:cNvSpPr/>
          <p:nvPr/>
        </p:nvSpPr>
        <p:spPr>
          <a:xfrm>
            <a:off x="9390888" y="4398264"/>
            <a:ext cx="384048" cy="155448"/>
          </a:xfrm>
          <a:prstGeom prst="roundRect">
            <a:avLst>
              <a:gd name="adj" fmla="val 17647"/>
            </a:avLst>
          </a:prstGeom>
          <a:solidFill>
            <a:srgbClr val="FFFFFF"/>
          </a:solidFill>
          <a:ln w="9525">
            <a:solidFill>
              <a:srgbClr val="9A6B1F"/>
            </a:solidFill>
            <a:prstDash val="solid"/>
          </a:ln>
        </p:spPr>
      </p:sp>
      <p:sp>
        <p:nvSpPr>
          <p:cNvPr id="43" name="Text 39"/>
          <p:cNvSpPr txBox="1"/>
          <p:nvPr/>
        </p:nvSpPr>
        <p:spPr>
          <a:xfrm>
            <a:off x="9390888" y="4398264"/>
            <a:ext cx="384048" cy="155448"/>
          </a:xfrm>
          <a:prstGeom prst="rect">
            <a:avLst/>
          </a:prstGeom>
          <a:noFill/>
          <a:ln/>
        </p:spPr>
        <p:txBody>
          <a:bodyPr wrap="square" lIns="0" tIns="0" rIns="0" bIns="0" rtlCol="0" anchor="ctr"/>
          <a:lstStyle/>
          <a:p>
            <a:pPr algn="ctr" indent="0" marL="0">
              <a:buNone/>
            </a:pPr>
            <a:r>
              <a:rPr lang="en-US" sz="600" b="1" spc="100" kern="0" dirty="0">
                <a:solidFill>
                  <a:srgbClr val="9A6B1F"/>
                </a:solidFill>
                <a:latin typeface="Arial" pitchFamily="34" charset="0"/>
                <a:ea typeface="Arial" pitchFamily="34" charset="-122"/>
                <a:cs typeface="Arial" pitchFamily="34" charset="-120"/>
              </a:rPr>
              <a:t>NEXT</a:t>
            </a:r>
            <a:endParaRPr lang="en-US" sz="600" dirty="0"/>
          </a:p>
        </p:txBody>
      </p:sp>
      <p:sp>
        <p:nvSpPr>
          <p:cNvPr id="44" name="Text 40"/>
          <p:cNvSpPr txBox="1"/>
          <p:nvPr/>
        </p:nvSpPr>
        <p:spPr>
          <a:xfrm>
            <a:off x="9811512" y="4379976"/>
            <a:ext cx="731520" cy="182880"/>
          </a:xfrm>
          <a:prstGeom prst="rect">
            <a:avLst/>
          </a:prstGeom>
          <a:noFill/>
          <a:ln/>
        </p:spPr>
        <p:txBody>
          <a:bodyPr wrap="square" lIns="0" tIns="0" rIns="0" bIns="0" rtlCol="0" anchor="ctr"/>
          <a:lstStyle/>
          <a:p>
            <a:pPr indent="0" marL="0">
              <a:buNone/>
            </a:pPr>
            <a:r>
              <a:rPr lang="en-US" sz="750" dirty="0">
                <a:solidFill>
                  <a:srgbClr val="6E6961"/>
                </a:solidFill>
                <a:latin typeface="Arial" pitchFamily="34" charset="0"/>
                <a:ea typeface="Arial" pitchFamily="34" charset="-122"/>
                <a:cs typeface="Arial" pitchFamily="34" charset="-120"/>
              </a:rPr>
              <a:t>the 90-day push</a:t>
            </a:r>
            <a:endParaRPr lang="en-US" sz="750" dirty="0"/>
          </a:p>
        </p:txBody>
      </p:sp>
      <p:sp>
        <p:nvSpPr>
          <p:cNvPr id="45" name="Shape 41"/>
          <p:cNvSpPr/>
          <p:nvPr/>
        </p:nvSpPr>
        <p:spPr>
          <a:xfrm>
            <a:off x="10634472" y="4398264"/>
            <a:ext cx="384048" cy="155448"/>
          </a:xfrm>
          <a:prstGeom prst="roundRect">
            <a:avLst>
              <a:gd name="adj" fmla="val 17647"/>
            </a:avLst>
          </a:prstGeom>
          <a:solidFill>
            <a:srgbClr val="FFFFFF"/>
          </a:solidFill>
          <a:ln w="9525">
            <a:solidFill>
              <a:srgbClr val="FFFFFF"/>
            </a:solidFill>
            <a:prstDash val="solid"/>
          </a:ln>
        </p:spPr>
      </p:sp>
      <p:sp>
        <p:nvSpPr>
          <p:cNvPr id="46" name="Text 42"/>
          <p:cNvSpPr txBox="1"/>
          <p:nvPr/>
        </p:nvSpPr>
        <p:spPr>
          <a:xfrm>
            <a:off x="10634472" y="4398264"/>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47" name="Text 43"/>
          <p:cNvSpPr txBox="1"/>
          <p:nvPr/>
        </p:nvSpPr>
        <p:spPr>
          <a:xfrm>
            <a:off x="11055096" y="4379976"/>
            <a:ext cx="365760" cy="182880"/>
          </a:xfrm>
          <a:prstGeom prst="rect">
            <a:avLst/>
          </a:prstGeom>
          <a:noFill/>
          <a:ln/>
        </p:spPr>
        <p:txBody>
          <a:bodyPr wrap="square" lIns="0" tIns="0" rIns="0" bIns="0" rtlCol="0" anchor="ctr"/>
          <a:lstStyle/>
          <a:p>
            <a:pPr indent="0" marL="0">
              <a:buNone/>
            </a:pPr>
            <a:r>
              <a:rPr lang="en-US" sz="750" dirty="0">
                <a:solidFill>
                  <a:srgbClr val="6E6961"/>
                </a:solidFill>
                <a:latin typeface="Arial" pitchFamily="34" charset="0"/>
                <a:ea typeface="Arial" pitchFamily="34" charset="-122"/>
                <a:cs typeface="Arial" pitchFamily="34" charset="-120"/>
              </a:rPr>
              <a:t>roadmap</a:t>
            </a:r>
            <a:endParaRPr lang="en-US" sz="750" dirty="0"/>
          </a:p>
        </p:txBody>
      </p:sp>
      <p:sp>
        <p:nvSpPr>
          <p:cNvPr id="48" name="Shape 44"/>
          <p:cNvSpPr/>
          <p:nvPr/>
        </p:nvSpPr>
        <p:spPr>
          <a:xfrm>
            <a:off x="457200" y="4626864"/>
            <a:ext cx="1517904" cy="420624"/>
          </a:xfrm>
          <a:prstGeom prst="roundRect">
            <a:avLst>
              <a:gd name="adj" fmla="val 13043"/>
            </a:avLst>
          </a:prstGeom>
          <a:solidFill>
            <a:srgbClr val="2A654E"/>
          </a:solidFill>
          <a:ln w="12700">
            <a:solidFill>
              <a:srgbClr val="2A654E"/>
            </a:solidFill>
            <a:prstDash val="solid"/>
          </a:ln>
        </p:spPr>
      </p:sp>
      <p:sp>
        <p:nvSpPr>
          <p:cNvPr id="49" name="Text 45"/>
          <p:cNvSpPr txBox="1"/>
          <p:nvPr/>
        </p:nvSpPr>
        <p:spPr>
          <a:xfrm>
            <a:off x="548640"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Sales to Delivery</a:t>
            </a:r>
            <a:endParaRPr lang="en-US" sz="1000" dirty="0"/>
          </a:p>
        </p:txBody>
      </p:sp>
      <p:sp>
        <p:nvSpPr>
          <p:cNvPr id="50" name="Text 46"/>
          <p:cNvSpPr txBox="1"/>
          <p:nvPr/>
        </p:nvSpPr>
        <p:spPr>
          <a:xfrm>
            <a:off x="548640"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handover</a:t>
            </a:r>
            <a:endParaRPr lang="en-US" sz="750" dirty="0"/>
          </a:p>
        </p:txBody>
      </p:sp>
      <p:sp>
        <p:nvSpPr>
          <p:cNvPr id="51" name="Text 47"/>
          <p:cNvSpPr txBox="1"/>
          <p:nvPr/>
        </p:nvSpPr>
        <p:spPr>
          <a:xfrm>
            <a:off x="475488"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Sales Handover package</a:t>
            </a:r>
            <a:endParaRPr lang="en-US" sz="850" dirty="0"/>
          </a:p>
        </p:txBody>
      </p:sp>
      <p:sp>
        <p:nvSpPr>
          <p:cNvPr id="52" name="Shape 48"/>
          <p:cNvSpPr/>
          <p:nvPr/>
        </p:nvSpPr>
        <p:spPr>
          <a:xfrm>
            <a:off x="1591056" y="5180076"/>
            <a:ext cx="384048" cy="155448"/>
          </a:xfrm>
          <a:prstGeom prst="roundRect">
            <a:avLst>
              <a:gd name="adj" fmla="val 17647"/>
            </a:avLst>
          </a:prstGeom>
          <a:solidFill>
            <a:srgbClr val="FFFFFF"/>
          </a:solidFill>
          <a:ln w="9525">
            <a:solidFill>
              <a:srgbClr val="FFFFFF"/>
            </a:solidFill>
            <a:prstDash val="solid"/>
          </a:ln>
        </p:spPr>
      </p:sp>
      <p:sp>
        <p:nvSpPr>
          <p:cNvPr id="53" name="Text 49"/>
          <p:cNvSpPr txBox="1"/>
          <p:nvPr/>
        </p:nvSpPr>
        <p:spPr>
          <a:xfrm>
            <a:off x="1591056"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54" name="Shape 50"/>
          <p:cNvSpPr/>
          <p:nvPr/>
        </p:nvSpPr>
        <p:spPr>
          <a:xfrm>
            <a:off x="457200" y="5413248"/>
            <a:ext cx="1517904" cy="0"/>
          </a:xfrm>
          <a:prstGeom prst="line">
            <a:avLst/>
          </a:prstGeom>
          <a:noFill/>
          <a:ln w="9525">
            <a:solidFill>
              <a:srgbClr val="E4E2DE"/>
            </a:solidFill>
            <a:prstDash val="solid"/>
          </a:ln>
        </p:spPr>
      </p:sp>
      <p:sp>
        <p:nvSpPr>
          <p:cNvPr id="55" name="Text 51"/>
          <p:cNvSpPr txBox="1"/>
          <p:nvPr/>
        </p:nvSpPr>
        <p:spPr>
          <a:xfrm>
            <a:off x="475488"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Kick-off deck, first two weeks</a:t>
            </a:r>
            <a:endParaRPr lang="en-US" sz="850" dirty="0"/>
          </a:p>
        </p:txBody>
      </p:sp>
      <p:sp>
        <p:nvSpPr>
          <p:cNvPr id="56" name="Shape 52"/>
          <p:cNvSpPr/>
          <p:nvPr/>
        </p:nvSpPr>
        <p:spPr>
          <a:xfrm>
            <a:off x="1591056" y="5490972"/>
            <a:ext cx="384048" cy="155448"/>
          </a:xfrm>
          <a:prstGeom prst="roundRect">
            <a:avLst>
              <a:gd name="adj" fmla="val 17647"/>
            </a:avLst>
          </a:prstGeom>
          <a:solidFill>
            <a:srgbClr val="FFFFFF"/>
          </a:solidFill>
          <a:ln w="9525">
            <a:solidFill>
              <a:srgbClr val="FFFFFF"/>
            </a:solidFill>
            <a:prstDash val="solid"/>
          </a:ln>
        </p:spPr>
      </p:sp>
      <p:sp>
        <p:nvSpPr>
          <p:cNvPr id="57" name="Text 53"/>
          <p:cNvSpPr txBox="1"/>
          <p:nvPr/>
        </p:nvSpPr>
        <p:spPr>
          <a:xfrm>
            <a:off x="1591056"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58" name="Shape 54"/>
          <p:cNvSpPr/>
          <p:nvPr/>
        </p:nvSpPr>
        <p:spPr>
          <a:xfrm>
            <a:off x="457200" y="5724144"/>
            <a:ext cx="1517904" cy="0"/>
          </a:xfrm>
          <a:prstGeom prst="line">
            <a:avLst/>
          </a:prstGeom>
          <a:noFill/>
          <a:ln w="9525">
            <a:solidFill>
              <a:srgbClr val="E4E2DE"/>
            </a:solidFill>
            <a:prstDash val="solid"/>
          </a:ln>
        </p:spPr>
      </p:sp>
      <p:sp>
        <p:nvSpPr>
          <p:cNvPr id="59" name="Shape 55"/>
          <p:cNvSpPr/>
          <p:nvPr/>
        </p:nvSpPr>
        <p:spPr>
          <a:xfrm>
            <a:off x="2083003" y="4626864"/>
            <a:ext cx="1517904" cy="420624"/>
          </a:xfrm>
          <a:prstGeom prst="roundRect">
            <a:avLst>
              <a:gd name="adj" fmla="val 13043"/>
            </a:avLst>
          </a:prstGeom>
          <a:solidFill>
            <a:srgbClr val="113A2A"/>
          </a:solidFill>
          <a:ln w="12700">
            <a:solidFill>
              <a:srgbClr val="113A2A"/>
            </a:solidFill>
            <a:prstDash val="solid"/>
          </a:ln>
        </p:spPr>
      </p:sp>
      <p:sp>
        <p:nvSpPr>
          <p:cNvPr id="60" name="Text 56"/>
          <p:cNvSpPr txBox="1"/>
          <p:nvPr/>
        </p:nvSpPr>
        <p:spPr>
          <a:xfrm>
            <a:off x="2174443"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Project Planning</a:t>
            </a:r>
            <a:endParaRPr lang="en-US" sz="1000" dirty="0"/>
          </a:p>
        </p:txBody>
      </p:sp>
      <p:sp>
        <p:nvSpPr>
          <p:cNvPr id="61" name="Text 57"/>
          <p:cNvSpPr txBox="1"/>
          <p:nvPr/>
        </p:nvSpPr>
        <p:spPr>
          <a:xfrm>
            <a:off x="2174443"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align · kick off</a:t>
            </a:r>
            <a:endParaRPr lang="en-US" sz="750" dirty="0"/>
          </a:p>
        </p:txBody>
      </p:sp>
      <p:sp>
        <p:nvSpPr>
          <p:cNvPr id="62" name="Text 58"/>
          <p:cNvSpPr txBox="1"/>
          <p:nvPr/>
        </p:nvSpPr>
        <p:spPr>
          <a:xfrm>
            <a:off x="2101291"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Engagement setup, access check</a:t>
            </a:r>
            <a:endParaRPr lang="en-US" sz="850" dirty="0"/>
          </a:p>
        </p:txBody>
      </p:sp>
      <p:sp>
        <p:nvSpPr>
          <p:cNvPr id="63" name="Shape 59"/>
          <p:cNvSpPr/>
          <p:nvPr/>
        </p:nvSpPr>
        <p:spPr>
          <a:xfrm>
            <a:off x="3216859" y="5180076"/>
            <a:ext cx="384048" cy="155448"/>
          </a:xfrm>
          <a:prstGeom prst="roundRect">
            <a:avLst>
              <a:gd name="adj" fmla="val 17647"/>
            </a:avLst>
          </a:prstGeom>
          <a:solidFill>
            <a:srgbClr val="2A654E"/>
          </a:solidFill>
          <a:ln w="9525">
            <a:solidFill>
              <a:srgbClr val="2A654E"/>
            </a:solidFill>
            <a:prstDash val="solid"/>
          </a:ln>
        </p:spPr>
      </p:sp>
      <p:sp>
        <p:nvSpPr>
          <p:cNvPr id="64" name="Text 60"/>
          <p:cNvSpPr txBox="1"/>
          <p:nvPr/>
        </p:nvSpPr>
        <p:spPr>
          <a:xfrm>
            <a:off x="3216859"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FFFFFF"/>
                </a:solidFill>
                <a:latin typeface="Arial" pitchFamily="34" charset="0"/>
                <a:ea typeface="Arial" pitchFamily="34" charset="-122"/>
                <a:cs typeface="Arial" pitchFamily="34" charset="-120"/>
              </a:rPr>
              <a:t>LIVE</a:t>
            </a:r>
            <a:endParaRPr lang="en-US" sz="600" dirty="0"/>
          </a:p>
        </p:txBody>
      </p:sp>
      <p:sp>
        <p:nvSpPr>
          <p:cNvPr id="65" name="Shape 61"/>
          <p:cNvSpPr/>
          <p:nvPr/>
        </p:nvSpPr>
        <p:spPr>
          <a:xfrm>
            <a:off x="2083003" y="5413248"/>
            <a:ext cx="1517904" cy="0"/>
          </a:xfrm>
          <a:prstGeom prst="line">
            <a:avLst/>
          </a:prstGeom>
          <a:noFill/>
          <a:ln w="9525">
            <a:solidFill>
              <a:srgbClr val="E4E2DE"/>
            </a:solidFill>
            <a:prstDash val="solid"/>
          </a:ln>
        </p:spPr>
      </p:sp>
      <p:sp>
        <p:nvSpPr>
          <p:cNvPr id="66" name="Text 62"/>
          <p:cNvSpPr txBox="1"/>
          <p:nvPr/>
        </p:nvSpPr>
        <p:spPr>
          <a:xfrm>
            <a:off x="2101291"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Data intake coordination</a:t>
            </a:r>
            <a:endParaRPr lang="en-US" sz="850" dirty="0"/>
          </a:p>
        </p:txBody>
      </p:sp>
      <p:sp>
        <p:nvSpPr>
          <p:cNvPr id="67" name="Shape 63"/>
          <p:cNvSpPr/>
          <p:nvPr/>
        </p:nvSpPr>
        <p:spPr>
          <a:xfrm>
            <a:off x="3216859" y="5490972"/>
            <a:ext cx="384048" cy="155448"/>
          </a:xfrm>
          <a:prstGeom prst="roundRect">
            <a:avLst>
              <a:gd name="adj" fmla="val 17647"/>
            </a:avLst>
          </a:prstGeom>
          <a:solidFill>
            <a:srgbClr val="FFFFFF"/>
          </a:solidFill>
          <a:ln w="9525">
            <a:solidFill>
              <a:srgbClr val="FFFFFF"/>
            </a:solidFill>
            <a:prstDash val="solid"/>
          </a:ln>
        </p:spPr>
      </p:sp>
      <p:sp>
        <p:nvSpPr>
          <p:cNvPr id="68" name="Text 64"/>
          <p:cNvSpPr txBox="1"/>
          <p:nvPr/>
        </p:nvSpPr>
        <p:spPr>
          <a:xfrm>
            <a:off x="3216859"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69" name="Shape 65"/>
          <p:cNvSpPr/>
          <p:nvPr/>
        </p:nvSpPr>
        <p:spPr>
          <a:xfrm>
            <a:off x="2083003" y="5724144"/>
            <a:ext cx="1517904" cy="0"/>
          </a:xfrm>
          <a:prstGeom prst="line">
            <a:avLst/>
          </a:prstGeom>
          <a:noFill/>
          <a:ln w="9525">
            <a:solidFill>
              <a:srgbClr val="E4E2DE"/>
            </a:solidFill>
            <a:prstDash val="solid"/>
          </a:ln>
        </p:spPr>
      </p:sp>
      <p:sp>
        <p:nvSpPr>
          <p:cNvPr id="70" name="Shape 66"/>
          <p:cNvSpPr/>
          <p:nvPr/>
        </p:nvSpPr>
        <p:spPr>
          <a:xfrm>
            <a:off x="3708806" y="4626864"/>
            <a:ext cx="1517904" cy="420624"/>
          </a:xfrm>
          <a:prstGeom prst="roundRect">
            <a:avLst>
              <a:gd name="adj" fmla="val 13043"/>
            </a:avLst>
          </a:prstGeom>
          <a:solidFill>
            <a:srgbClr val="113A2A"/>
          </a:solidFill>
          <a:ln w="12700">
            <a:solidFill>
              <a:srgbClr val="113A2A"/>
            </a:solidFill>
            <a:prstDash val="solid"/>
          </a:ln>
        </p:spPr>
      </p:sp>
      <p:sp>
        <p:nvSpPr>
          <p:cNvPr id="71" name="Text 67"/>
          <p:cNvSpPr txBox="1"/>
          <p:nvPr/>
        </p:nvSpPr>
        <p:spPr>
          <a:xfrm>
            <a:off x="3800246"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Foundations</a:t>
            </a:r>
            <a:endParaRPr lang="en-US" sz="1000" dirty="0"/>
          </a:p>
        </p:txBody>
      </p:sp>
      <p:sp>
        <p:nvSpPr>
          <p:cNvPr id="72" name="Text 68"/>
          <p:cNvSpPr txBox="1"/>
          <p:nvPr/>
        </p:nvSpPr>
        <p:spPr>
          <a:xfrm>
            <a:off x="3800246"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requirements · design</a:t>
            </a:r>
            <a:endParaRPr lang="en-US" sz="750" dirty="0"/>
          </a:p>
        </p:txBody>
      </p:sp>
      <p:sp>
        <p:nvSpPr>
          <p:cNvPr id="73" name="Text 69"/>
          <p:cNvSpPr txBox="1"/>
          <p:nvPr/>
        </p:nvSpPr>
        <p:spPr>
          <a:xfrm>
            <a:off x="3727094"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Meeting closeout to requirements</a:t>
            </a:r>
            <a:endParaRPr lang="en-US" sz="850" dirty="0"/>
          </a:p>
        </p:txBody>
      </p:sp>
      <p:sp>
        <p:nvSpPr>
          <p:cNvPr id="74" name="Shape 70"/>
          <p:cNvSpPr/>
          <p:nvPr/>
        </p:nvSpPr>
        <p:spPr>
          <a:xfrm>
            <a:off x="4842662" y="5180076"/>
            <a:ext cx="384048" cy="155448"/>
          </a:xfrm>
          <a:prstGeom prst="roundRect">
            <a:avLst>
              <a:gd name="adj" fmla="val 17647"/>
            </a:avLst>
          </a:prstGeom>
          <a:solidFill>
            <a:srgbClr val="FFFFFF"/>
          </a:solidFill>
          <a:ln w="9525">
            <a:solidFill>
              <a:srgbClr val="9A6B1F"/>
            </a:solidFill>
            <a:prstDash val="solid"/>
          </a:ln>
        </p:spPr>
      </p:sp>
      <p:sp>
        <p:nvSpPr>
          <p:cNvPr id="75" name="Text 71"/>
          <p:cNvSpPr txBox="1"/>
          <p:nvPr/>
        </p:nvSpPr>
        <p:spPr>
          <a:xfrm>
            <a:off x="4842662"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9A6B1F"/>
                </a:solidFill>
                <a:latin typeface="Arial" pitchFamily="34" charset="0"/>
                <a:ea typeface="Arial" pitchFamily="34" charset="-122"/>
                <a:cs typeface="Arial" pitchFamily="34" charset="-120"/>
              </a:rPr>
              <a:t>NEXT</a:t>
            </a:r>
            <a:endParaRPr lang="en-US" sz="600" dirty="0"/>
          </a:p>
        </p:txBody>
      </p:sp>
      <p:sp>
        <p:nvSpPr>
          <p:cNvPr id="76" name="Shape 72"/>
          <p:cNvSpPr/>
          <p:nvPr/>
        </p:nvSpPr>
        <p:spPr>
          <a:xfrm>
            <a:off x="3708806" y="5413248"/>
            <a:ext cx="1517904" cy="0"/>
          </a:xfrm>
          <a:prstGeom prst="line">
            <a:avLst/>
          </a:prstGeom>
          <a:noFill/>
          <a:ln w="9525">
            <a:solidFill>
              <a:srgbClr val="E4E2DE"/>
            </a:solidFill>
            <a:prstDash val="solid"/>
          </a:ln>
        </p:spPr>
      </p:sp>
      <p:sp>
        <p:nvSpPr>
          <p:cNvPr id="77" name="Text 73"/>
          <p:cNvSpPr txBox="1"/>
          <p:nvPr/>
        </p:nvSpPr>
        <p:spPr>
          <a:xfrm>
            <a:off x="3727094"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Design-to-scope reconciliation</a:t>
            </a:r>
            <a:endParaRPr lang="en-US" sz="850" dirty="0"/>
          </a:p>
        </p:txBody>
      </p:sp>
      <p:sp>
        <p:nvSpPr>
          <p:cNvPr id="78" name="Shape 74"/>
          <p:cNvSpPr/>
          <p:nvPr/>
        </p:nvSpPr>
        <p:spPr>
          <a:xfrm>
            <a:off x="4842662" y="5490972"/>
            <a:ext cx="384048" cy="155448"/>
          </a:xfrm>
          <a:prstGeom prst="roundRect">
            <a:avLst>
              <a:gd name="adj" fmla="val 17647"/>
            </a:avLst>
          </a:prstGeom>
          <a:solidFill>
            <a:srgbClr val="FFFFFF"/>
          </a:solidFill>
          <a:ln w="9525">
            <a:solidFill>
              <a:srgbClr val="FFFFFF"/>
            </a:solidFill>
            <a:prstDash val="solid"/>
          </a:ln>
        </p:spPr>
      </p:sp>
      <p:sp>
        <p:nvSpPr>
          <p:cNvPr id="79" name="Text 75"/>
          <p:cNvSpPr txBox="1"/>
          <p:nvPr/>
        </p:nvSpPr>
        <p:spPr>
          <a:xfrm>
            <a:off x="4842662"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80" name="Shape 76"/>
          <p:cNvSpPr/>
          <p:nvPr/>
        </p:nvSpPr>
        <p:spPr>
          <a:xfrm>
            <a:off x="3708806" y="5724144"/>
            <a:ext cx="1517904" cy="0"/>
          </a:xfrm>
          <a:prstGeom prst="line">
            <a:avLst/>
          </a:prstGeom>
          <a:noFill/>
          <a:ln w="9525">
            <a:solidFill>
              <a:srgbClr val="E4E2DE"/>
            </a:solidFill>
            <a:prstDash val="solid"/>
          </a:ln>
        </p:spPr>
      </p:sp>
      <p:sp>
        <p:nvSpPr>
          <p:cNvPr id="81" name="Shape 77"/>
          <p:cNvSpPr/>
          <p:nvPr/>
        </p:nvSpPr>
        <p:spPr>
          <a:xfrm>
            <a:off x="5334610" y="4626864"/>
            <a:ext cx="1517904" cy="420624"/>
          </a:xfrm>
          <a:prstGeom prst="roundRect">
            <a:avLst>
              <a:gd name="adj" fmla="val 13043"/>
            </a:avLst>
          </a:prstGeom>
          <a:solidFill>
            <a:srgbClr val="113A2A"/>
          </a:solidFill>
          <a:ln w="12700">
            <a:solidFill>
              <a:srgbClr val="113A2A"/>
            </a:solidFill>
            <a:prstDash val="solid"/>
          </a:ln>
        </p:spPr>
      </p:sp>
      <p:sp>
        <p:nvSpPr>
          <p:cNvPr id="82" name="Text 78"/>
          <p:cNvSpPr txBox="1"/>
          <p:nvPr/>
        </p:nvSpPr>
        <p:spPr>
          <a:xfrm>
            <a:off x="5426050"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Build</a:t>
            </a:r>
            <a:endParaRPr lang="en-US" sz="1000" dirty="0"/>
          </a:p>
        </p:txBody>
      </p:sp>
      <p:sp>
        <p:nvSpPr>
          <p:cNvPr id="83" name="Text 79"/>
          <p:cNvSpPr txBox="1"/>
          <p:nvPr/>
        </p:nvSpPr>
        <p:spPr>
          <a:xfrm>
            <a:off x="5426050"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model · reports</a:t>
            </a:r>
            <a:endParaRPr lang="en-US" sz="750" dirty="0"/>
          </a:p>
        </p:txBody>
      </p:sp>
      <p:sp>
        <p:nvSpPr>
          <p:cNvPr id="84" name="Text 80"/>
          <p:cNvSpPr txBox="1"/>
          <p:nvPr/>
        </p:nvSpPr>
        <p:spPr>
          <a:xfrm>
            <a:off x="5352898"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Weekly Status</a:t>
            </a:r>
            <a:endParaRPr lang="en-US" sz="850" dirty="0"/>
          </a:p>
        </p:txBody>
      </p:sp>
      <p:sp>
        <p:nvSpPr>
          <p:cNvPr id="85" name="Shape 81"/>
          <p:cNvSpPr/>
          <p:nvPr/>
        </p:nvSpPr>
        <p:spPr>
          <a:xfrm>
            <a:off x="6468466" y="5180076"/>
            <a:ext cx="384048" cy="155448"/>
          </a:xfrm>
          <a:prstGeom prst="roundRect">
            <a:avLst>
              <a:gd name="adj" fmla="val 17647"/>
            </a:avLst>
          </a:prstGeom>
          <a:solidFill>
            <a:srgbClr val="2A654E"/>
          </a:solidFill>
          <a:ln w="9525">
            <a:solidFill>
              <a:srgbClr val="2A654E"/>
            </a:solidFill>
            <a:prstDash val="solid"/>
          </a:ln>
        </p:spPr>
      </p:sp>
      <p:sp>
        <p:nvSpPr>
          <p:cNvPr id="86" name="Text 82"/>
          <p:cNvSpPr txBox="1"/>
          <p:nvPr/>
        </p:nvSpPr>
        <p:spPr>
          <a:xfrm>
            <a:off x="6468466"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FFFFFF"/>
                </a:solidFill>
                <a:latin typeface="Arial" pitchFamily="34" charset="0"/>
                <a:ea typeface="Arial" pitchFamily="34" charset="-122"/>
                <a:cs typeface="Arial" pitchFamily="34" charset="-120"/>
              </a:rPr>
              <a:t>LIVE</a:t>
            </a:r>
            <a:endParaRPr lang="en-US" sz="600" dirty="0"/>
          </a:p>
        </p:txBody>
      </p:sp>
      <p:sp>
        <p:nvSpPr>
          <p:cNvPr id="87" name="Shape 83"/>
          <p:cNvSpPr/>
          <p:nvPr/>
        </p:nvSpPr>
        <p:spPr>
          <a:xfrm>
            <a:off x="5334610" y="5413248"/>
            <a:ext cx="1517904" cy="0"/>
          </a:xfrm>
          <a:prstGeom prst="line">
            <a:avLst/>
          </a:prstGeom>
          <a:noFill/>
          <a:ln w="9525">
            <a:solidFill>
              <a:srgbClr val="E4E2DE"/>
            </a:solidFill>
            <a:prstDash val="solid"/>
          </a:ln>
        </p:spPr>
      </p:sp>
      <p:sp>
        <p:nvSpPr>
          <p:cNvPr id="88" name="Text 84"/>
          <p:cNvSpPr txBox="1"/>
          <p:nvPr/>
        </p:nvSpPr>
        <p:spPr>
          <a:xfrm>
            <a:off x="5352898"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Sprint review preparation</a:t>
            </a:r>
            <a:endParaRPr lang="en-US" sz="850" dirty="0"/>
          </a:p>
        </p:txBody>
      </p:sp>
      <p:sp>
        <p:nvSpPr>
          <p:cNvPr id="89" name="Shape 85"/>
          <p:cNvSpPr/>
          <p:nvPr/>
        </p:nvSpPr>
        <p:spPr>
          <a:xfrm>
            <a:off x="6468466" y="5490972"/>
            <a:ext cx="384048" cy="155448"/>
          </a:xfrm>
          <a:prstGeom prst="roundRect">
            <a:avLst>
              <a:gd name="adj" fmla="val 17647"/>
            </a:avLst>
          </a:prstGeom>
          <a:solidFill>
            <a:srgbClr val="FFFFFF"/>
          </a:solidFill>
          <a:ln w="9525">
            <a:solidFill>
              <a:srgbClr val="9A6B1F"/>
            </a:solidFill>
            <a:prstDash val="solid"/>
          </a:ln>
        </p:spPr>
      </p:sp>
      <p:sp>
        <p:nvSpPr>
          <p:cNvPr id="90" name="Text 86"/>
          <p:cNvSpPr txBox="1"/>
          <p:nvPr/>
        </p:nvSpPr>
        <p:spPr>
          <a:xfrm>
            <a:off x="6468466"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A6B1F"/>
                </a:solidFill>
                <a:latin typeface="Arial" pitchFamily="34" charset="0"/>
                <a:ea typeface="Arial" pitchFamily="34" charset="-122"/>
                <a:cs typeface="Arial" pitchFamily="34" charset="-120"/>
              </a:rPr>
              <a:t>NEXT</a:t>
            </a:r>
            <a:endParaRPr lang="en-US" sz="600" dirty="0"/>
          </a:p>
        </p:txBody>
      </p:sp>
      <p:sp>
        <p:nvSpPr>
          <p:cNvPr id="91" name="Shape 87"/>
          <p:cNvSpPr/>
          <p:nvPr/>
        </p:nvSpPr>
        <p:spPr>
          <a:xfrm>
            <a:off x="5334610" y="5724144"/>
            <a:ext cx="1517904" cy="0"/>
          </a:xfrm>
          <a:prstGeom prst="line">
            <a:avLst/>
          </a:prstGeom>
          <a:noFill/>
          <a:ln w="9525">
            <a:solidFill>
              <a:srgbClr val="E4E2DE"/>
            </a:solidFill>
            <a:prstDash val="solid"/>
          </a:ln>
        </p:spPr>
      </p:sp>
      <p:sp>
        <p:nvSpPr>
          <p:cNvPr id="92" name="Shape 88"/>
          <p:cNvSpPr/>
          <p:nvPr/>
        </p:nvSpPr>
        <p:spPr>
          <a:xfrm>
            <a:off x="6960413" y="4626864"/>
            <a:ext cx="1517904" cy="420624"/>
          </a:xfrm>
          <a:prstGeom prst="roundRect">
            <a:avLst>
              <a:gd name="adj" fmla="val 13043"/>
            </a:avLst>
          </a:prstGeom>
          <a:solidFill>
            <a:srgbClr val="113A2A"/>
          </a:solidFill>
          <a:ln w="12700">
            <a:solidFill>
              <a:srgbClr val="113A2A"/>
            </a:solidFill>
            <a:prstDash val="solid"/>
          </a:ln>
        </p:spPr>
      </p:sp>
      <p:sp>
        <p:nvSpPr>
          <p:cNvPr id="93" name="Text 89"/>
          <p:cNvSpPr txBox="1"/>
          <p:nvPr/>
        </p:nvSpPr>
        <p:spPr>
          <a:xfrm>
            <a:off x="7051853"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Test</a:t>
            </a:r>
            <a:endParaRPr lang="en-US" sz="1000" dirty="0"/>
          </a:p>
        </p:txBody>
      </p:sp>
      <p:sp>
        <p:nvSpPr>
          <p:cNvPr id="94" name="Text 90"/>
          <p:cNvSpPr txBox="1"/>
          <p:nvPr/>
        </p:nvSpPr>
        <p:spPr>
          <a:xfrm>
            <a:off x="7051853"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UAT · sign-off</a:t>
            </a:r>
            <a:endParaRPr lang="en-US" sz="750" dirty="0"/>
          </a:p>
        </p:txBody>
      </p:sp>
      <p:sp>
        <p:nvSpPr>
          <p:cNvPr id="95" name="Text 91"/>
          <p:cNvSpPr txBox="1"/>
          <p:nvPr/>
        </p:nvSpPr>
        <p:spPr>
          <a:xfrm>
            <a:off x="6978701"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UAT scripts from requirements</a:t>
            </a:r>
            <a:endParaRPr lang="en-US" sz="850" dirty="0"/>
          </a:p>
        </p:txBody>
      </p:sp>
      <p:sp>
        <p:nvSpPr>
          <p:cNvPr id="96" name="Shape 92"/>
          <p:cNvSpPr/>
          <p:nvPr/>
        </p:nvSpPr>
        <p:spPr>
          <a:xfrm>
            <a:off x="8094269" y="5180076"/>
            <a:ext cx="384048" cy="155448"/>
          </a:xfrm>
          <a:prstGeom prst="roundRect">
            <a:avLst>
              <a:gd name="adj" fmla="val 17647"/>
            </a:avLst>
          </a:prstGeom>
          <a:solidFill>
            <a:srgbClr val="FFFFFF"/>
          </a:solidFill>
          <a:ln w="9525">
            <a:solidFill>
              <a:srgbClr val="2A654E"/>
            </a:solidFill>
            <a:prstDash val="solid"/>
          </a:ln>
        </p:spPr>
      </p:sp>
      <p:sp>
        <p:nvSpPr>
          <p:cNvPr id="97" name="Text 93"/>
          <p:cNvSpPr txBox="1"/>
          <p:nvPr/>
        </p:nvSpPr>
        <p:spPr>
          <a:xfrm>
            <a:off x="8094269"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2A654E"/>
                </a:solidFill>
                <a:latin typeface="Arial" pitchFamily="34" charset="0"/>
                <a:ea typeface="Arial" pitchFamily="34" charset="-122"/>
                <a:cs typeface="Arial" pitchFamily="34" charset="-120"/>
              </a:rPr>
              <a:t>SKILL</a:t>
            </a:r>
            <a:endParaRPr lang="en-US" sz="600" dirty="0"/>
          </a:p>
        </p:txBody>
      </p:sp>
      <p:sp>
        <p:nvSpPr>
          <p:cNvPr id="98" name="Shape 94"/>
          <p:cNvSpPr/>
          <p:nvPr/>
        </p:nvSpPr>
        <p:spPr>
          <a:xfrm>
            <a:off x="6960413" y="5413248"/>
            <a:ext cx="1517904" cy="0"/>
          </a:xfrm>
          <a:prstGeom prst="line">
            <a:avLst/>
          </a:prstGeom>
          <a:noFill/>
          <a:ln w="9525">
            <a:solidFill>
              <a:srgbClr val="E4E2DE"/>
            </a:solidFill>
            <a:prstDash val="solid"/>
          </a:ln>
        </p:spPr>
      </p:sp>
      <p:sp>
        <p:nvSpPr>
          <p:cNvPr id="99" name="Text 95"/>
          <p:cNvSpPr txBox="1"/>
          <p:nvPr/>
        </p:nvSpPr>
        <p:spPr>
          <a:xfrm>
            <a:off x="6978701"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Defect intake and triage</a:t>
            </a:r>
            <a:endParaRPr lang="en-US" sz="850" dirty="0"/>
          </a:p>
        </p:txBody>
      </p:sp>
      <p:sp>
        <p:nvSpPr>
          <p:cNvPr id="100" name="Shape 96"/>
          <p:cNvSpPr/>
          <p:nvPr/>
        </p:nvSpPr>
        <p:spPr>
          <a:xfrm>
            <a:off x="8094269" y="5490972"/>
            <a:ext cx="384048" cy="155448"/>
          </a:xfrm>
          <a:prstGeom prst="roundRect">
            <a:avLst>
              <a:gd name="adj" fmla="val 17647"/>
            </a:avLst>
          </a:prstGeom>
          <a:solidFill>
            <a:srgbClr val="FFFFFF"/>
          </a:solidFill>
          <a:ln w="9525">
            <a:solidFill>
              <a:srgbClr val="FFFFFF"/>
            </a:solidFill>
            <a:prstDash val="solid"/>
          </a:ln>
        </p:spPr>
      </p:sp>
      <p:sp>
        <p:nvSpPr>
          <p:cNvPr id="101" name="Text 97"/>
          <p:cNvSpPr txBox="1"/>
          <p:nvPr/>
        </p:nvSpPr>
        <p:spPr>
          <a:xfrm>
            <a:off x="8094269"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102" name="Shape 98"/>
          <p:cNvSpPr/>
          <p:nvPr/>
        </p:nvSpPr>
        <p:spPr>
          <a:xfrm>
            <a:off x="6960413" y="5724144"/>
            <a:ext cx="1517904" cy="0"/>
          </a:xfrm>
          <a:prstGeom prst="line">
            <a:avLst/>
          </a:prstGeom>
          <a:noFill/>
          <a:ln w="9525">
            <a:solidFill>
              <a:srgbClr val="E4E2DE"/>
            </a:solidFill>
            <a:prstDash val="solid"/>
          </a:ln>
        </p:spPr>
      </p:sp>
      <p:sp>
        <p:nvSpPr>
          <p:cNvPr id="103" name="Shape 99"/>
          <p:cNvSpPr/>
          <p:nvPr/>
        </p:nvSpPr>
        <p:spPr>
          <a:xfrm>
            <a:off x="8586216" y="4626864"/>
            <a:ext cx="1517904" cy="420624"/>
          </a:xfrm>
          <a:prstGeom prst="roundRect">
            <a:avLst>
              <a:gd name="adj" fmla="val 13043"/>
            </a:avLst>
          </a:prstGeom>
          <a:solidFill>
            <a:srgbClr val="113A2A"/>
          </a:solidFill>
          <a:ln w="12700">
            <a:solidFill>
              <a:srgbClr val="113A2A"/>
            </a:solidFill>
            <a:prstDash val="solid"/>
          </a:ln>
        </p:spPr>
      </p:sp>
      <p:sp>
        <p:nvSpPr>
          <p:cNvPr id="104" name="Text 100"/>
          <p:cNvSpPr txBox="1"/>
          <p:nvPr/>
        </p:nvSpPr>
        <p:spPr>
          <a:xfrm>
            <a:off x="8677656"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Train &amp; Deploy</a:t>
            </a:r>
            <a:endParaRPr lang="en-US" sz="1000" dirty="0"/>
          </a:p>
        </p:txBody>
      </p:sp>
      <p:sp>
        <p:nvSpPr>
          <p:cNvPr id="105" name="Text 101"/>
          <p:cNvSpPr txBox="1"/>
          <p:nvPr/>
        </p:nvSpPr>
        <p:spPr>
          <a:xfrm>
            <a:off x="8677656"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training · cutover</a:t>
            </a:r>
            <a:endParaRPr lang="en-US" sz="750" dirty="0"/>
          </a:p>
        </p:txBody>
      </p:sp>
      <p:sp>
        <p:nvSpPr>
          <p:cNvPr id="106" name="Text 102"/>
          <p:cNvSpPr txBox="1"/>
          <p:nvPr/>
        </p:nvSpPr>
        <p:spPr>
          <a:xfrm>
            <a:off x="8604504"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Role-based training material</a:t>
            </a:r>
            <a:endParaRPr lang="en-US" sz="850" dirty="0"/>
          </a:p>
        </p:txBody>
      </p:sp>
      <p:sp>
        <p:nvSpPr>
          <p:cNvPr id="107" name="Shape 103"/>
          <p:cNvSpPr/>
          <p:nvPr/>
        </p:nvSpPr>
        <p:spPr>
          <a:xfrm>
            <a:off x="9720072" y="5180076"/>
            <a:ext cx="384048" cy="155448"/>
          </a:xfrm>
          <a:prstGeom prst="roundRect">
            <a:avLst>
              <a:gd name="adj" fmla="val 17647"/>
            </a:avLst>
          </a:prstGeom>
          <a:solidFill>
            <a:srgbClr val="FFFFFF"/>
          </a:solidFill>
          <a:ln w="9525">
            <a:solidFill>
              <a:srgbClr val="2A654E"/>
            </a:solidFill>
            <a:prstDash val="solid"/>
          </a:ln>
        </p:spPr>
      </p:sp>
      <p:sp>
        <p:nvSpPr>
          <p:cNvPr id="108" name="Text 104"/>
          <p:cNvSpPr txBox="1"/>
          <p:nvPr/>
        </p:nvSpPr>
        <p:spPr>
          <a:xfrm>
            <a:off x="9720072"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2A654E"/>
                </a:solidFill>
                <a:latin typeface="Arial" pitchFamily="34" charset="0"/>
                <a:ea typeface="Arial" pitchFamily="34" charset="-122"/>
                <a:cs typeface="Arial" pitchFamily="34" charset="-120"/>
              </a:rPr>
              <a:t>SKILL</a:t>
            </a:r>
            <a:endParaRPr lang="en-US" sz="600" dirty="0"/>
          </a:p>
        </p:txBody>
      </p:sp>
      <p:sp>
        <p:nvSpPr>
          <p:cNvPr id="109" name="Shape 105"/>
          <p:cNvSpPr/>
          <p:nvPr/>
        </p:nvSpPr>
        <p:spPr>
          <a:xfrm>
            <a:off x="8586216" y="5413248"/>
            <a:ext cx="1517904" cy="0"/>
          </a:xfrm>
          <a:prstGeom prst="line">
            <a:avLst/>
          </a:prstGeom>
          <a:noFill/>
          <a:ln w="9525">
            <a:solidFill>
              <a:srgbClr val="E4E2DE"/>
            </a:solidFill>
            <a:prstDash val="solid"/>
          </a:ln>
        </p:spPr>
      </p:sp>
      <p:sp>
        <p:nvSpPr>
          <p:cNvPr id="110" name="Text 106"/>
          <p:cNvSpPr txBox="1"/>
          <p:nvPr/>
        </p:nvSpPr>
        <p:spPr>
          <a:xfrm>
            <a:off x="8604504"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Go-live package and closeout</a:t>
            </a:r>
            <a:endParaRPr lang="en-US" sz="850" dirty="0"/>
          </a:p>
        </p:txBody>
      </p:sp>
      <p:sp>
        <p:nvSpPr>
          <p:cNvPr id="111" name="Shape 107"/>
          <p:cNvSpPr/>
          <p:nvPr/>
        </p:nvSpPr>
        <p:spPr>
          <a:xfrm>
            <a:off x="9720072" y="5490972"/>
            <a:ext cx="384048" cy="155448"/>
          </a:xfrm>
          <a:prstGeom prst="roundRect">
            <a:avLst>
              <a:gd name="adj" fmla="val 17647"/>
            </a:avLst>
          </a:prstGeom>
          <a:solidFill>
            <a:srgbClr val="FFFFFF"/>
          </a:solidFill>
          <a:ln w="9525">
            <a:solidFill>
              <a:srgbClr val="FFFFFF"/>
            </a:solidFill>
            <a:prstDash val="solid"/>
          </a:ln>
        </p:spPr>
      </p:sp>
      <p:sp>
        <p:nvSpPr>
          <p:cNvPr id="112" name="Text 108"/>
          <p:cNvSpPr txBox="1"/>
          <p:nvPr/>
        </p:nvSpPr>
        <p:spPr>
          <a:xfrm>
            <a:off x="9720072"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113" name="Shape 109"/>
          <p:cNvSpPr/>
          <p:nvPr/>
        </p:nvSpPr>
        <p:spPr>
          <a:xfrm>
            <a:off x="8586216" y="5724144"/>
            <a:ext cx="1517904" cy="0"/>
          </a:xfrm>
          <a:prstGeom prst="line">
            <a:avLst/>
          </a:prstGeom>
          <a:noFill/>
          <a:ln w="9525">
            <a:solidFill>
              <a:srgbClr val="E4E2DE"/>
            </a:solidFill>
            <a:prstDash val="solid"/>
          </a:ln>
        </p:spPr>
      </p:sp>
      <p:sp>
        <p:nvSpPr>
          <p:cNvPr id="114" name="Shape 110"/>
          <p:cNvSpPr/>
          <p:nvPr/>
        </p:nvSpPr>
        <p:spPr>
          <a:xfrm>
            <a:off x="10212019" y="4626864"/>
            <a:ext cx="1517904" cy="420624"/>
          </a:xfrm>
          <a:prstGeom prst="roundRect">
            <a:avLst>
              <a:gd name="adj" fmla="val 13043"/>
            </a:avLst>
          </a:prstGeom>
          <a:solidFill>
            <a:srgbClr val="2A654E"/>
          </a:solidFill>
          <a:ln w="12700">
            <a:solidFill>
              <a:srgbClr val="2A654E"/>
            </a:solidFill>
            <a:prstDash val="solid"/>
          </a:ln>
        </p:spPr>
      </p:sp>
      <p:sp>
        <p:nvSpPr>
          <p:cNvPr id="115" name="Text 111"/>
          <p:cNvSpPr txBox="1"/>
          <p:nvPr/>
        </p:nvSpPr>
        <p:spPr>
          <a:xfrm>
            <a:off x="10303459" y="4672584"/>
            <a:ext cx="1335024" cy="20116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Continuous Support</a:t>
            </a:r>
            <a:endParaRPr lang="en-US" sz="1000" dirty="0"/>
          </a:p>
        </p:txBody>
      </p:sp>
      <p:sp>
        <p:nvSpPr>
          <p:cNvPr id="116" name="Text 112"/>
          <p:cNvSpPr txBox="1"/>
          <p:nvPr/>
        </p:nvSpPr>
        <p:spPr>
          <a:xfrm>
            <a:off x="10303459" y="4864608"/>
            <a:ext cx="1335024" cy="146304"/>
          </a:xfrm>
          <a:prstGeom prst="rect">
            <a:avLst/>
          </a:prstGeom>
          <a:noFill/>
          <a:ln/>
        </p:spPr>
        <p:txBody>
          <a:bodyPr wrap="square" lIns="0" tIns="0" rIns="0" bIns="0" rtlCol="0" anchor="ctr"/>
          <a:lstStyle/>
          <a:p>
            <a:pPr indent="0" marL="0">
              <a:buNone/>
            </a:pPr>
            <a:r>
              <a:rPr lang="en-US" sz="750" dirty="0">
                <a:solidFill>
                  <a:srgbClr val="B7C9BF"/>
                </a:solidFill>
                <a:latin typeface="Arial" pitchFamily="34" charset="0"/>
                <a:ea typeface="Arial" pitchFamily="34" charset="-122"/>
                <a:cs typeface="Arial" pitchFamily="34" charset="-120"/>
              </a:rPr>
              <a:t>handover · triage</a:t>
            </a:r>
            <a:endParaRPr lang="en-US" sz="750" dirty="0"/>
          </a:p>
        </p:txBody>
      </p:sp>
      <p:sp>
        <p:nvSpPr>
          <p:cNvPr id="117" name="Text 113"/>
          <p:cNvSpPr txBox="1"/>
          <p:nvPr/>
        </p:nvSpPr>
        <p:spPr>
          <a:xfrm>
            <a:off x="10230307" y="5120640"/>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Support handover, open items</a:t>
            </a:r>
            <a:endParaRPr lang="en-US" sz="850" dirty="0"/>
          </a:p>
        </p:txBody>
      </p:sp>
      <p:sp>
        <p:nvSpPr>
          <p:cNvPr id="118" name="Shape 114"/>
          <p:cNvSpPr/>
          <p:nvPr/>
        </p:nvSpPr>
        <p:spPr>
          <a:xfrm>
            <a:off x="11345875" y="5180076"/>
            <a:ext cx="384048" cy="155448"/>
          </a:xfrm>
          <a:prstGeom prst="roundRect">
            <a:avLst>
              <a:gd name="adj" fmla="val 17647"/>
            </a:avLst>
          </a:prstGeom>
          <a:solidFill>
            <a:srgbClr val="FFFFFF"/>
          </a:solidFill>
          <a:ln w="9525">
            <a:solidFill>
              <a:srgbClr val="FFFFFF"/>
            </a:solidFill>
            <a:prstDash val="solid"/>
          </a:ln>
        </p:spPr>
      </p:sp>
      <p:sp>
        <p:nvSpPr>
          <p:cNvPr id="119" name="Text 115"/>
          <p:cNvSpPr txBox="1"/>
          <p:nvPr/>
        </p:nvSpPr>
        <p:spPr>
          <a:xfrm>
            <a:off x="11345875" y="5180076"/>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120" name="Shape 116"/>
          <p:cNvSpPr/>
          <p:nvPr/>
        </p:nvSpPr>
        <p:spPr>
          <a:xfrm>
            <a:off x="10212019" y="5413248"/>
            <a:ext cx="1517904" cy="0"/>
          </a:xfrm>
          <a:prstGeom prst="line">
            <a:avLst/>
          </a:prstGeom>
          <a:noFill/>
          <a:ln w="9525">
            <a:solidFill>
              <a:srgbClr val="E4E2DE"/>
            </a:solidFill>
            <a:prstDash val="solid"/>
          </a:ln>
        </p:spPr>
      </p:sp>
      <p:sp>
        <p:nvSpPr>
          <p:cNvPr id="121" name="Text 117"/>
          <p:cNvSpPr txBox="1"/>
          <p:nvPr/>
        </p:nvSpPr>
        <p:spPr>
          <a:xfrm>
            <a:off x="10230307" y="5431536"/>
            <a:ext cx="1060704" cy="274320"/>
          </a:xfrm>
          <a:prstGeom prst="rect">
            <a:avLst/>
          </a:prstGeom>
          <a:noFill/>
          <a:ln/>
        </p:spPr>
        <p:txBody>
          <a:bodyPr wrap="square" lIns="0" tIns="0" rIns="0" bIns="0" rtlCol="0" anchor="ctr"/>
          <a:lstStyle/>
          <a:p>
            <a:pPr indent="0" marL="0">
              <a:buNone/>
            </a:pPr>
            <a:r>
              <a:rPr lang="en-US" sz="850" b="1" dirty="0">
                <a:solidFill>
                  <a:srgbClr val="113A2A"/>
                </a:solidFill>
                <a:latin typeface="Arial" pitchFamily="34" charset="0"/>
                <a:ea typeface="Arial" pitchFamily="34" charset="-122"/>
                <a:cs typeface="Arial" pitchFamily="34" charset="-120"/>
              </a:rPr>
              <a:t>Issue triage, recurring analysis</a:t>
            </a:r>
            <a:endParaRPr lang="en-US" sz="850" dirty="0"/>
          </a:p>
        </p:txBody>
      </p:sp>
      <p:sp>
        <p:nvSpPr>
          <p:cNvPr id="122" name="Shape 118"/>
          <p:cNvSpPr/>
          <p:nvPr/>
        </p:nvSpPr>
        <p:spPr>
          <a:xfrm>
            <a:off x="11345875" y="5490972"/>
            <a:ext cx="384048" cy="155448"/>
          </a:xfrm>
          <a:prstGeom prst="roundRect">
            <a:avLst>
              <a:gd name="adj" fmla="val 17647"/>
            </a:avLst>
          </a:prstGeom>
          <a:solidFill>
            <a:srgbClr val="FFFFFF"/>
          </a:solidFill>
          <a:ln w="9525">
            <a:solidFill>
              <a:srgbClr val="FFFFFF"/>
            </a:solidFill>
            <a:prstDash val="solid"/>
          </a:ln>
        </p:spPr>
      </p:sp>
      <p:sp>
        <p:nvSpPr>
          <p:cNvPr id="123" name="Text 119"/>
          <p:cNvSpPr txBox="1"/>
          <p:nvPr/>
        </p:nvSpPr>
        <p:spPr>
          <a:xfrm>
            <a:off x="11345875" y="5490972"/>
            <a:ext cx="384048" cy="155448"/>
          </a:xfrm>
          <a:prstGeom prst="rect">
            <a:avLst/>
          </a:prstGeom>
          <a:noFill/>
          <a:ln/>
        </p:spPr>
        <p:txBody>
          <a:bodyPr wrap="square" lIns="0" tIns="0" rIns="0" bIns="0" rtlCol="0" anchor="ctr"/>
          <a:lstStyle/>
          <a:p>
            <a:pPr algn="ctr" indent="0" marL="0">
              <a:buNone/>
            </a:pPr>
            <a:r>
              <a:rPr lang="en-US" sz="600" b="1" spc="100" kern="0" dirty="0">
                <a:solidFill>
                  <a:srgbClr val="979187"/>
                </a:solidFill>
                <a:latin typeface="Arial" pitchFamily="34" charset="0"/>
                <a:ea typeface="Arial" pitchFamily="34" charset="-122"/>
                <a:cs typeface="Arial" pitchFamily="34" charset="-120"/>
              </a:rPr>
              <a:t>LATER</a:t>
            </a:r>
            <a:endParaRPr lang="en-US" sz="600" dirty="0"/>
          </a:p>
        </p:txBody>
      </p:sp>
      <p:sp>
        <p:nvSpPr>
          <p:cNvPr id="124" name="Shape 120"/>
          <p:cNvSpPr/>
          <p:nvPr/>
        </p:nvSpPr>
        <p:spPr>
          <a:xfrm>
            <a:off x="10212019" y="5724144"/>
            <a:ext cx="1517904" cy="0"/>
          </a:xfrm>
          <a:prstGeom prst="line">
            <a:avLst/>
          </a:prstGeom>
          <a:noFill/>
          <a:ln w="9525">
            <a:solidFill>
              <a:srgbClr val="E4E2DE"/>
            </a:solidFill>
            <a:prstDash val="solid"/>
          </a:ln>
        </p:spPr>
      </p:sp>
      <p:sp>
        <p:nvSpPr>
          <p:cNvPr id="125" name="Text 121"/>
          <p:cNvSpPr txBox="1"/>
          <p:nvPr/>
        </p:nvSpPr>
        <p:spPr>
          <a:xfrm>
            <a:off x="457200" y="5806440"/>
            <a:ext cx="420624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HOW IT STAYS UNDER CONTROL</a:t>
            </a:r>
            <a:endParaRPr lang="en-US" sz="850" dirty="0"/>
          </a:p>
        </p:txBody>
      </p:sp>
      <p:sp>
        <p:nvSpPr>
          <p:cNvPr id="126" name="Text 122"/>
          <p:cNvSpPr txBox="1"/>
          <p:nvPr/>
        </p:nvSpPr>
        <p:spPr>
          <a:xfrm>
            <a:off x="457200" y="5989320"/>
            <a:ext cx="4206240" cy="512064"/>
          </a:xfrm>
          <a:prstGeom prst="rect">
            <a:avLst/>
          </a:prstGeom>
          <a:noFill/>
          <a:ln/>
        </p:spPr>
        <p:txBody>
          <a:bodyPr wrap="square" lIns="0" tIns="0" rIns="0" bIns="0" rtlCol="0" anchor="t"/>
          <a:lstStyle/>
          <a:p>
            <a:pPr indent="0" marL="0">
              <a:spcAft>
                <a:spcPts val="100"/>
              </a:spcAft>
              <a:buNone/>
            </a:pPr>
            <a:r>
              <a:rPr lang="en-US" sz="800" b="1" dirty="0">
                <a:solidFill>
                  <a:srgbClr val="113A2A"/>
                </a:solidFill>
                <a:latin typeface="Arial" pitchFamily="34" charset="0"/>
                <a:ea typeface="Arial" pitchFamily="34" charset="-122"/>
                <a:cs typeface="Arial" pitchFamily="34" charset="-120"/>
              </a:rPr>
              <a:t>Reads as the person looking.</a:t>
            </a:r>
            <a:pPr indent="0" marL="0">
              <a:spcAft>
                <a:spcPts val="100"/>
              </a:spcAft>
              <a:buNone/>
            </a:pPr>
            <a:r>
              <a:rPr lang="en-US" sz="800" dirty="0">
                <a:solidFill>
                  <a:srgbClr val="6E6961"/>
                </a:solidFill>
                <a:latin typeface="Arial" pitchFamily="34" charset="0"/>
                <a:ea typeface="Arial" pitchFamily="34" charset="-122"/>
                <a:cs typeface="Arial" pitchFamily="34" charset="-120"/>
              </a:rPr>
              <a:t> No shared logins.</a:t>
            </a:r>
            <a:endParaRPr lang="en-US" sz="800" dirty="0"/>
          </a:p>
          <a:p>
            <a:pPr indent="0" marL="0">
              <a:spcAft>
                <a:spcPts val="100"/>
              </a:spcAft>
              <a:buNone/>
            </a:pPr>
            <a:r>
              <a:rPr lang="en-US" sz="800" b="1" dirty="0">
                <a:solidFill>
                  <a:srgbClr val="113A2A"/>
                </a:solidFill>
                <a:latin typeface="Arial" pitchFamily="34" charset="0"/>
                <a:ea typeface="Arial" pitchFamily="34" charset="-122"/>
                <a:cs typeface="Arial" pitchFamily="34" charset="-120"/>
              </a:rPr>
              <a:t>A named person approves.</a:t>
            </a:r>
            <a:pPr indent="0" marL="0">
              <a:spcAft>
                <a:spcPts val="100"/>
              </a:spcAft>
              <a:buNone/>
            </a:pPr>
            <a:r>
              <a:rPr lang="en-US" sz="800" dirty="0">
                <a:solidFill>
                  <a:srgbClr val="6E6961"/>
                </a:solidFill>
                <a:latin typeface="Arial" pitchFamily="34" charset="0"/>
                <a:ea typeface="Arial" pitchFamily="34" charset="-122"/>
                <a:cs typeface="Arial" pitchFamily="34" charset="-120"/>
              </a:rPr>
              <a:t> Every client output carries a name and time.</a:t>
            </a:r>
            <a:endParaRPr lang="en-US" sz="800" dirty="0"/>
          </a:p>
          <a:p>
            <a:pPr indent="0" marL="0">
              <a:spcAft>
                <a:spcPts val="100"/>
              </a:spcAft>
              <a:buNone/>
            </a:pPr>
            <a:r>
              <a:rPr lang="en-US" sz="800" b="1" dirty="0">
                <a:solidFill>
                  <a:srgbClr val="113A2A"/>
                </a:solidFill>
                <a:latin typeface="Arial" pitchFamily="34" charset="0"/>
                <a:ea typeface="Arial" pitchFamily="34" charset="-122"/>
                <a:cs typeface="Arial" pitchFamily="34" charset="-120"/>
              </a:rPr>
              <a:t>Nothing sent by software.</a:t>
            </a:r>
            <a:pPr indent="0" marL="0">
              <a:spcAft>
                <a:spcPts val="100"/>
              </a:spcAft>
              <a:buNone/>
            </a:pPr>
            <a:r>
              <a:rPr lang="en-US" sz="800" dirty="0">
                <a:solidFill>
                  <a:srgbClr val="6E6961"/>
                </a:solidFill>
                <a:latin typeface="Arial" pitchFamily="34" charset="0"/>
                <a:ea typeface="Arial" pitchFamily="34" charset="-122"/>
                <a:cs typeface="Arial" pitchFamily="34" charset="-120"/>
              </a:rPr>
              <a:t> People decide and send.</a:t>
            </a:r>
            <a:endParaRPr lang="en-US" sz="800" dirty="0"/>
          </a:p>
          <a:p>
            <a:pPr indent="0" marL="0">
              <a:spcAft>
                <a:spcPts val="100"/>
              </a:spcAft>
              <a:buNone/>
            </a:pPr>
            <a:r>
              <a:rPr lang="en-US" sz="800" b="1" dirty="0">
                <a:solidFill>
                  <a:srgbClr val="113A2A"/>
                </a:solidFill>
                <a:latin typeface="Arial" pitchFamily="34" charset="0"/>
                <a:ea typeface="Arial" pitchFamily="34" charset="-122"/>
                <a:cs typeface="Arial" pitchFamily="34" charset="-120"/>
              </a:rPr>
              <a:t>Unknown is never Green.</a:t>
            </a:r>
            <a:pPr indent="0" marL="0">
              <a:spcAft>
                <a:spcPts val="100"/>
              </a:spcAft>
              <a:buNone/>
            </a:pPr>
            <a:r>
              <a:rPr lang="en-US" sz="800" dirty="0">
                <a:solidFill>
                  <a:srgbClr val="6E6961"/>
                </a:solidFill>
                <a:latin typeface="Arial" pitchFamily="34" charset="0"/>
                <a:ea typeface="Arial" pitchFamily="34" charset="-122"/>
                <a:cs typeface="Arial" pitchFamily="34" charset="-120"/>
              </a:rPr>
              <a:t> Missing evidence is shown as missing.</a:t>
            </a:r>
            <a:endParaRPr lang="en-US" sz="800" dirty="0"/>
          </a:p>
        </p:txBody>
      </p:sp>
      <p:sp>
        <p:nvSpPr>
          <p:cNvPr id="127" name="Text 123"/>
          <p:cNvSpPr txBox="1"/>
          <p:nvPr/>
        </p:nvSpPr>
        <p:spPr>
          <a:xfrm>
            <a:off x="4846320" y="5806440"/>
            <a:ext cx="658368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THE NEXT 90 DAYS · PROJECT STATUS REPORTING FIRST, ONE RELEASE A MONTH</a:t>
            </a:r>
            <a:endParaRPr lang="en-US" sz="850" dirty="0"/>
          </a:p>
        </p:txBody>
      </p:sp>
      <p:sp>
        <p:nvSpPr>
          <p:cNvPr id="128" name="Shape 124"/>
          <p:cNvSpPr/>
          <p:nvPr/>
        </p:nvSpPr>
        <p:spPr>
          <a:xfrm>
            <a:off x="4846320" y="5998464"/>
            <a:ext cx="2103120" cy="475488"/>
          </a:xfrm>
          <a:prstGeom prst="roundRect">
            <a:avLst>
              <a:gd name="adj" fmla="val 9615"/>
            </a:avLst>
          </a:prstGeom>
          <a:solidFill>
            <a:srgbClr val="F5F4F2"/>
          </a:solidFill>
          <a:ln w="9525">
            <a:solidFill>
              <a:srgbClr val="E4E2DE"/>
            </a:solidFill>
            <a:prstDash val="solid"/>
          </a:ln>
        </p:spPr>
      </p:sp>
      <p:sp>
        <p:nvSpPr>
          <p:cNvPr id="129" name="Text 125"/>
          <p:cNvSpPr txBox="1"/>
          <p:nvPr/>
        </p:nvSpPr>
        <p:spPr>
          <a:xfrm>
            <a:off x="4937760" y="6025896"/>
            <a:ext cx="1920240" cy="137160"/>
          </a:xfrm>
          <a:prstGeom prst="rect">
            <a:avLst/>
          </a:prstGeom>
          <a:noFill/>
          <a:ln/>
        </p:spPr>
        <p:txBody>
          <a:bodyPr wrap="square" lIns="0" tIns="0" rIns="0" bIns="0" rtlCol="0" anchor="ctr"/>
          <a:lstStyle/>
          <a:p>
            <a:pPr indent="0" marL="0">
              <a:buNone/>
            </a:pPr>
            <a:r>
              <a:rPr lang="en-US" sz="750" b="1" spc="100" kern="0" dirty="0">
                <a:solidFill>
                  <a:srgbClr val="2A654E"/>
                </a:solidFill>
                <a:latin typeface="Arial" pitchFamily="34" charset="0"/>
                <a:ea typeface="Arial" pitchFamily="34" charset="-122"/>
                <a:cs typeface="Arial" pitchFamily="34" charset="-120"/>
              </a:rPr>
              <a:t>OCTOBER · Foundation</a:t>
            </a:r>
            <a:endParaRPr lang="en-US" sz="750" dirty="0"/>
          </a:p>
        </p:txBody>
      </p:sp>
      <p:sp>
        <p:nvSpPr>
          <p:cNvPr id="130" name="Text 126"/>
          <p:cNvSpPr txBox="1"/>
          <p:nvPr/>
        </p:nvSpPr>
        <p:spPr>
          <a:xfrm>
            <a:off x="4937760" y="6153912"/>
            <a:ext cx="1920240" cy="310896"/>
          </a:xfrm>
          <a:prstGeom prst="rect">
            <a:avLst/>
          </a:prstGeom>
          <a:noFill/>
          <a:ln/>
        </p:spPr>
        <p:txBody>
          <a:bodyPr wrap="square" lIns="0" tIns="0" rIns="0" bIns="0" rtlCol="0" anchor="t"/>
          <a:lstStyle/>
          <a:p>
            <a:pPr indent="0" marL="0">
              <a:buNone/>
            </a:pPr>
            <a:r>
              <a:rPr lang="en-US" sz="700" dirty="0">
                <a:solidFill>
                  <a:srgbClr val="6E6961"/>
                </a:solidFill>
                <a:latin typeface="Arial" pitchFamily="34" charset="0"/>
                <a:ea typeface="Arial" pitchFamily="34" charset="-122"/>
                <a:cs typeface="Arial" pitchFamily="34" charset="-120"/>
              </a:rPr>
              <a:t>Weekly Status every Friday on two engagements. Ask Claude live. Capability catalog with owners and readiness.</a:t>
            </a:r>
            <a:endParaRPr lang="en-US" sz="700" dirty="0"/>
          </a:p>
        </p:txBody>
      </p:sp>
      <p:sp>
        <p:nvSpPr>
          <p:cNvPr id="131" name="Shape 127"/>
          <p:cNvSpPr/>
          <p:nvPr/>
        </p:nvSpPr>
        <p:spPr>
          <a:xfrm>
            <a:off x="7059168" y="5998464"/>
            <a:ext cx="2103120" cy="475488"/>
          </a:xfrm>
          <a:prstGeom prst="roundRect">
            <a:avLst>
              <a:gd name="adj" fmla="val 9615"/>
            </a:avLst>
          </a:prstGeom>
          <a:solidFill>
            <a:srgbClr val="F5F4F2"/>
          </a:solidFill>
          <a:ln w="9525">
            <a:solidFill>
              <a:srgbClr val="E4E2DE"/>
            </a:solidFill>
            <a:prstDash val="solid"/>
          </a:ln>
        </p:spPr>
      </p:sp>
      <p:sp>
        <p:nvSpPr>
          <p:cNvPr id="132" name="Text 128"/>
          <p:cNvSpPr txBox="1"/>
          <p:nvPr/>
        </p:nvSpPr>
        <p:spPr>
          <a:xfrm>
            <a:off x="7150608" y="6025896"/>
            <a:ext cx="1920240" cy="137160"/>
          </a:xfrm>
          <a:prstGeom prst="rect">
            <a:avLst/>
          </a:prstGeom>
          <a:noFill/>
          <a:ln/>
        </p:spPr>
        <p:txBody>
          <a:bodyPr wrap="square" lIns="0" tIns="0" rIns="0" bIns="0" rtlCol="0" anchor="ctr"/>
          <a:lstStyle/>
          <a:p>
            <a:pPr indent="0" marL="0">
              <a:buNone/>
            </a:pPr>
            <a:r>
              <a:rPr lang="en-US" sz="750" b="1" spc="100" kern="0" dirty="0">
                <a:solidFill>
                  <a:srgbClr val="2A654E"/>
                </a:solidFill>
                <a:latin typeface="Arial" pitchFamily="34" charset="0"/>
                <a:ea typeface="Arial" pitchFamily="34" charset="-122"/>
                <a:cs typeface="Arial" pitchFamily="34" charset="-120"/>
              </a:rPr>
              <a:t>NOVEMBER · Context</a:t>
            </a:r>
            <a:endParaRPr lang="en-US" sz="750" dirty="0"/>
          </a:p>
        </p:txBody>
      </p:sp>
      <p:sp>
        <p:nvSpPr>
          <p:cNvPr id="133" name="Text 129"/>
          <p:cNvSpPr txBox="1"/>
          <p:nvPr/>
        </p:nvSpPr>
        <p:spPr>
          <a:xfrm>
            <a:off x="7150608" y="6153912"/>
            <a:ext cx="1920240" cy="310896"/>
          </a:xfrm>
          <a:prstGeom prst="rect">
            <a:avLst/>
          </a:prstGeom>
          <a:noFill/>
          <a:ln/>
        </p:spPr>
        <p:txBody>
          <a:bodyPr wrap="square" lIns="0" tIns="0" rIns="0" bIns="0" rtlCol="0" anchor="t"/>
          <a:lstStyle/>
          <a:p>
            <a:pPr indent="0" marL="0">
              <a:buNone/>
            </a:pPr>
            <a:r>
              <a:rPr lang="en-US" sz="700" dirty="0">
                <a:solidFill>
                  <a:srgbClr val="6E6961"/>
                </a:solidFill>
                <a:latin typeface="Arial" pitchFamily="34" charset="0"/>
                <a:ea typeface="Arial" pitchFamily="34" charset="-122"/>
                <a:cs typeface="Arial" pitchFamily="34" charset="-120"/>
              </a:rPr>
              <a:t>Granola notes and Harvest capacity read into attention items and answers. Drafting tuned from measured corrections.</a:t>
            </a:r>
            <a:endParaRPr lang="en-US" sz="700" dirty="0"/>
          </a:p>
        </p:txBody>
      </p:sp>
      <p:sp>
        <p:nvSpPr>
          <p:cNvPr id="134" name="Shape 130"/>
          <p:cNvSpPr/>
          <p:nvPr/>
        </p:nvSpPr>
        <p:spPr>
          <a:xfrm>
            <a:off x="9272016" y="5998464"/>
            <a:ext cx="2103120" cy="475488"/>
          </a:xfrm>
          <a:prstGeom prst="roundRect">
            <a:avLst>
              <a:gd name="adj" fmla="val 9615"/>
            </a:avLst>
          </a:prstGeom>
          <a:solidFill>
            <a:srgbClr val="F5F4F2"/>
          </a:solidFill>
          <a:ln w="9525">
            <a:solidFill>
              <a:srgbClr val="E4E2DE"/>
            </a:solidFill>
            <a:prstDash val="solid"/>
          </a:ln>
        </p:spPr>
      </p:sp>
      <p:sp>
        <p:nvSpPr>
          <p:cNvPr id="135" name="Text 131"/>
          <p:cNvSpPr txBox="1"/>
          <p:nvPr/>
        </p:nvSpPr>
        <p:spPr>
          <a:xfrm>
            <a:off x="9363456" y="6025896"/>
            <a:ext cx="1920240" cy="137160"/>
          </a:xfrm>
          <a:prstGeom prst="rect">
            <a:avLst/>
          </a:prstGeom>
          <a:noFill/>
          <a:ln/>
        </p:spPr>
        <p:txBody>
          <a:bodyPr wrap="square" lIns="0" tIns="0" rIns="0" bIns="0" rtlCol="0" anchor="ctr"/>
          <a:lstStyle/>
          <a:p>
            <a:pPr indent="0" marL="0">
              <a:buNone/>
            </a:pPr>
            <a:r>
              <a:rPr lang="en-US" sz="750" b="1" spc="100" kern="0" dirty="0">
                <a:solidFill>
                  <a:srgbClr val="2A654E"/>
                </a:solidFill>
                <a:latin typeface="Arial" pitchFamily="34" charset="0"/>
                <a:ea typeface="Arial" pitchFamily="34" charset="-122"/>
                <a:cs typeface="Arial" pitchFamily="34" charset="-120"/>
              </a:rPr>
              <a:t>DECEMBER · Beyond status</a:t>
            </a:r>
            <a:endParaRPr lang="en-US" sz="750" dirty="0"/>
          </a:p>
        </p:txBody>
      </p:sp>
      <p:sp>
        <p:nvSpPr>
          <p:cNvPr id="136" name="Text 132"/>
          <p:cNvSpPr txBox="1"/>
          <p:nvPr/>
        </p:nvSpPr>
        <p:spPr>
          <a:xfrm>
            <a:off x="9363456" y="6153912"/>
            <a:ext cx="1920240" cy="310896"/>
          </a:xfrm>
          <a:prstGeom prst="rect">
            <a:avLst/>
          </a:prstGeom>
          <a:noFill/>
          <a:ln/>
        </p:spPr>
        <p:txBody>
          <a:bodyPr wrap="square" lIns="0" tIns="0" rIns="0" bIns="0" rtlCol="0" anchor="t"/>
          <a:lstStyle/>
          <a:p>
            <a:pPr indent="0" marL="0">
              <a:buNone/>
            </a:pPr>
            <a:r>
              <a:rPr lang="en-US" sz="700" dirty="0">
                <a:solidFill>
                  <a:srgbClr val="6E6961"/>
                </a:solidFill>
                <a:latin typeface="Arial" pitchFamily="34" charset="0"/>
                <a:ea typeface="Arial" pitchFamily="34" charset="-122"/>
                <a:cs typeface="Arial" pitchFamily="34" charset="-120"/>
              </a:rPr>
              <a:t>Sprint review preparation live in Build. First Foundations Package piece. The evidence for the scale decision.</a:t>
            </a:r>
            <a:endParaRPr lang="en-US" sz="700" dirty="0"/>
          </a:p>
        </p:txBody>
      </p:sp>
      <p:sp>
        <p:nvSpPr>
          <p:cNvPr id="137" name="Text 133"/>
          <p:cNvSpPr txBox="1"/>
          <p:nvPr/>
        </p:nvSpPr>
        <p:spPr>
          <a:xfrm>
            <a:off x="457200" y="6547104"/>
            <a:ext cx="10515600" cy="164592"/>
          </a:xfrm>
          <a:prstGeom prst="rect">
            <a:avLst/>
          </a:prstGeom>
          <a:noFill/>
          <a:ln/>
        </p:spPr>
        <p:txBody>
          <a:bodyPr wrap="square" lIns="0" tIns="0" rIns="0" bIns="0" rtlCol="0" anchor="ctr"/>
          <a:lstStyle/>
          <a:p>
            <a:pPr indent="0" marL="0">
              <a:buNone/>
            </a:pPr>
            <a:r>
              <a:rPr lang="en-US" sz="700" i="1" dirty="0">
                <a:solidFill>
                  <a:srgbClr val="979187"/>
                </a:solidFill>
                <a:latin typeface="Arial" pitchFamily="34" charset="0"/>
                <a:ea typeface="Arial" pitchFamily="34" charset="-122"/>
                <a:cs typeface="Arial" pitchFamily="34" charset="-120"/>
              </a:rPr>
              <a:t>The screen is the workspace running on sample data; the engagement, people and decisions on it are fictional.</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5</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Imagine opening your engagement workspace at the start of the week</a:t>
            </a:r>
            <a:endParaRPr lang="en-US" sz="3000" dirty="0"/>
          </a:p>
        </p:txBody>
      </p:sp>
      <p:sp>
        <p:nvSpPr>
          <p:cNvPr id="7" name="Shape 4"/>
          <p:cNvSpPr/>
          <p:nvPr/>
        </p:nvSpPr>
        <p:spPr>
          <a:xfrm>
            <a:off x="457200" y="2011680"/>
            <a:ext cx="2103120" cy="2377440"/>
          </a:xfrm>
          <a:prstGeom prst="roundRect">
            <a:avLst>
              <a:gd name="adj" fmla="val 4348"/>
            </a:avLst>
          </a:prstGeom>
          <a:solidFill>
            <a:srgbClr val="FFFFFF"/>
          </a:solidFill>
          <a:ln w="12700">
            <a:solidFill>
              <a:srgbClr val="E4E2DE"/>
            </a:solidFill>
            <a:prstDash val="solid"/>
          </a:ln>
        </p:spPr>
      </p:sp>
      <p:sp>
        <p:nvSpPr>
          <p:cNvPr id="8" name="Shape 5"/>
          <p:cNvSpPr/>
          <p:nvPr/>
        </p:nvSpPr>
        <p:spPr>
          <a:xfrm>
            <a:off x="658368" y="2194560"/>
            <a:ext cx="329184" cy="329184"/>
          </a:xfrm>
          <a:prstGeom prst="ellipse">
            <a:avLst/>
          </a:prstGeom>
          <a:solidFill>
            <a:srgbClr val="2A654E"/>
          </a:solidFill>
          <a:ln w="12700">
            <a:solidFill>
              <a:srgbClr val="2A654E"/>
            </a:solidFill>
            <a:prstDash val="solid"/>
          </a:ln>
        </p:spPr>
      </p:sp>
      <p:sp>
        <p:nvSpPr>
          <p:cNvPr id="9" name="Text 6"/>
          <p:cNvSpPr txBox="1"/>
          <p:nvPr/>
        </p:nvSpPr>
        <p:spPr>
          <a:xfrm>
            <a:off x="658368" y="2194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658368" y="2633472"/>
            <a:ext cx="170078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Orient</a:t>
            </a:r>
            <a:endParaRPr lang="en-US" sz="1400" dirty="0"/>
          </a:p>
        </p:txBody>
      </p:sp>
      <p:sp>
        <p:nvSpPr>
          <p:cNvPr id="11" name="Text 8"/>
          <p:cNvSpPr txBox="1"/>
          <p:nvPr/>
        </p:nvSpPr>
        <p:spPr>
          <a:xfrm>
            <a:off x="658368" y="3090672"/>
            <a:ext cx="1700784" cy="116128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See the current stage, the milestones and what information is missing.</a:t>
            </a:r>
            <a:endParaRPr lang="en-US" sz="1150" dirty="0"/>
          </a:p>
        </p:txBody>
      </p:sp>
      <p:sp>
        <p:nvSpPr>
          <p:cNvPr id="12" name="Shape 9"/>
          <p:cNvSpPr/>
          <p:nvPr/>
        </p:nvSpPr>
        <p:spPr>
          <a:xfrm>
            <a:off x="2560320" y="3200400"/>
            <a:ext cx="182880" cy="0"/>
          </a:xfrm>
          <a:prstGeom prst="line">
            <a:avLst/>
          </a:prstGeom>
          <a:noFill/>
          <a:ln w="22225">
            <a:solidFill>
              <a:srgbClr val="2A654E"/>
            </a:solidFill>
            <a:prstDash val="solid"/>
            <a:tailEnd type="triangle"/>
          </a:ln>
        </p:spPr>
      </p:sp>
      <p:sp>
        <p:nvSpPr>
          <p:cNvPr id="13" name="Shape 10"/>
          <p:cNvSpPr/>
          <p:nvPr/>
        </p:nvSpPr>
        <p:spPr>
          <a:xfrm>
            <a:off x="2743200" y="2011680"/>
            <a:ext cx="2103120" cy="2377440"/>
          </a:xfrm>
          <a:prstGeom prst="roundRect">
            <a:avLst>
              <a:gd name="adj" fmla="val 4348"/>
            </a:avLst>
          </a:prstGeom>
          <a:solidFill>
            <a:srgbClr val="FFFFFF"/>
          </a:solidFill>
          <a:ln w="12700">
            <a:solidFill>
              <a:srgbClr val="E4E2DE"/>
            </a:solidFill>
            <a:prstDash val="solid"/>
          </a:ln>
        </p:spPr>
      </p:sp>
      <p:sp>
        <p:nvSpPr>
          <p:cNvPr id="14" name="Shape 11"/>
          <p:cNvSpPr/>
          <p:nvPr/>
        </p:nvSpPr>
        <p:spPr>
          <a:xfrm>
            <a:off x="2944368" y="2194560"/>
            <a:ext cx="329184" cy="329184"/>
          </a:xfrm>
          <a:prstGeom prst="ellipse">
            <a:avLst/>
          </a:prstGeom>
          <a:solidFill>
            <a:srgbClr val="2A654E"/>
          </a:solidFill>
          <a:ln w="12700">
            <a:solidFill>
              <a:srgbClr val="2A654E"/>
            </a:solidFill>
            <a:prstDash val="solid"/>
          </a:ln>
        </p:spPr>
      </p:sp>
      <p:sp>
        <p:nvSpPr>
          <p:cNvPr id="15" name="Text 12"/>
          <p:cNvSpPr txBox="1"/>
          <p:nvPr/>
        </p:nvSpPr>
        <p:spPr>
          <a:xfrm>
            <a:off x="2944368" y="2194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3"/>
          <p:cNvSpPr txBox="1"/>
          <p:nvPr/>
        </p:nvSpPr>
        <p:spPr>
          <a:xfrm>
            <a:off x="2944368" y="2633472"/>
            <a:ext cx="170078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Open Weekly Status</a:t>
            </a:r>
            <a:endParaRPr lang="en-US" sz="1400" dirty="0"/>
          </a:p>
        </p:txBody>
      </p:sp>
      <p:sp>
        <p:nvSpPr>
          <p:cNvPr id="17" name="Text 14"/>
          <p:cNvSpPr txBox="1"/>
          <p:nvPr/>
        </p:nvSpPr>
        <p:spPr>
          <a:xfrm>
            <a:off x="2944368" y="3090672"/>
            <a:ext cx="1700784" cy="116128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The workspace reads the available evidence from Asana and SharePoint, as you.</a:t>
            </a:r>
            <a:endParaRPr lang="en-US" sz="1150" dirty="0"/>
          </a:p>
        </p:txBody>
      </p:sp>
      <p:sp>
        <p:nvSpPr>
          <p:cNvPr id="18" name="Shape 15"/>
          <p:cNvSpPr/>
          <p:nvPr/>
        </p:nvSpPr>
        <p:spPr>
          <a:xfrm>
            <a:off x="4846320" y="3200400"/>
            <a:ext cx="182880" cy="0"/>
          </a:xfrm>
          <a:prstGeom prst="line">
            <a:avLst/>
          </a:prstGeom>
          <a:noFill/>
          <a:ln w="22225">
            <a:solidFill>
              <a:srgbClr val="2A654E"/>
            </a:solidFill>
            <a:prstDash val="solid"/>
            <a:tailEnd type="triangle"/>
          </a:ln>
        </p:spPr>
      </p:sp>
      <p:sp>
        <p:nvSpPr>
          <p:cNvPr id="19" name="Shape 16"/>
          <p:cNvSpPr/>
          <p:nvPr/>
        </p:nvSpPr>
        <p:spPr>
          <a:xfrm>
            <a:off x="5029200" y="2011680"/>
            <a:ext cx="2103120" cy="2377440"/>
          </a:xfrm>
          <a:prstGeom prst="roundRect">
            <a:avLst>
              <a:gd name="adj" fmla="val 4348"/>
            </a:avLst>
          </a:prstGeom>
          <a:solidFill>
            <a:srgbClr val="FFFFFF"/>
          </a:solidFill>
          <a:ln w="12700">
            <a:solidFill>
              <a:srgbClr val="E4E2DE"/>
            </a:solidFill>
            <a:prstDash val="solid"/>
          </a:ln>
        </p:spPr>
      </p:sp>
      <p:sp>
        <p:nvSpPr>
          <p:cNvPr id="20" name="Shape 17"/>
          <p:cNvSpPr/>
          <p:nvPr/>
        </p:nvSpPr>
        <p:spPr>
          <a:xfrm>
            <a:off x="5230368" y="2194560"/>
            <a:ext cx="329184" cy="329184"/>
          </a:xfrm>
          <a:prstGeom prst="ellipse">
            <a:avLst/>
          </a:prstGeom>
          <a:solidFill>
            <a:srgbClr val="2A654E"/>
          </a:solidFill>
          <a:ln w="12700">
            <a:solidFill>
              <a:srgbClr val="2A654E"/>
            </a:solidFill>
            <a:prstDash val="solid"/>
          </a:ln>
        </p:spPr>
      </p:sp>
      <p:sp>
        <p:nvSpPr>
          <p:cNvPr id="21" name="Text 18"/>
          <p:cNvSpPr txBox="1"/>
          <p:nvPr/>
        </p:nvSpPr>
        <p:spPr>
          <a:xfrm>
            <a:off x="5230368" y="2194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19"/>
          <p:cNvSpPr txBox="1"/>
          <p:nvPr/>
        </p:nvSpPr>
        <p:spPr>
          <a:xfrm>
            <a:off x="5230368" y="2633472"/>
            <a:ext cx="170078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Draft</a:t>
            </a:r>
            <a:endParaRPr lang="en-US" sz="1400" dirty="0"/>
          </a:p>
        </p:txBody>
      </p:sp>
      <p:sp>
        <p:nvSpPr>
          <p:cNvPr id="23" name="Text 20"/>
          <p:cNvSpPr txBox="1"/>
          <p:nvPr/>
        </p:nvSpPr>
        <p:spPr>
          <a:xfrm>
            <a:off x="5230368" y="3090672"/>
            <a:ext cx="1700784" cy="116128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One click. Claude prepares a draft narrative and suggests a status for each area.</a:t>
            </a:r>
            <a:endParaRPr lang="en-US" sz="1150" dirty="0"/>
          </a:p>
        </p:txBody>
      </p:sp>
      <p:sp>
        <p:nvSpPr>
          <p:cNvPr id="24" name="Shape 21"/>
          <p:cNvSpPr/>
          <p:nvPr/>
        </p:nvSpPr>
        <p:spPr>
          <a:xfrm>
            <a:off x="7132320" y="3200400"/>
            <a:ext cx="182880" cy="0"/>
          </a:xfrm>
          <a:prstGeom prst="line">
            <a:avLst/>
          </a:prstGeom>
          <a:noFill/>
          <a:ln w="22225">
            <a:solidFill>
              <a:srgbClr val="2A654E"/>
            </a:solidFill>
            <a:prstDash val="solid"/>
            <a:tailEnd type="triangle"/>
          </a:ln>
        </p:spPr>
      </p:sp>
      <p:sp>
        <p:nvSpPr>
          <p:cNvPr id="25" name="Shape 22"/>
          <p:cNvSpPr/>
          <p:nvPr/>
        </p:nvSpPr>
        <p:spPr>
          <a:xfrm>
            <a:off x="7315200" y="2011680"/>
            <a:ext cx="2103120" cy="2377440"/>
          </a:xfrm>
          <a:prstGeom prst="roundRect">
            <a:avLst>
              <a:gd name="adj" fmla="val 4348"/>
            </a:avLst>
          </a:prstGeom>
          <a:solidFill>
            <a:srgbClr val="FFFFFF"/>
          </a:solidFill>
          <a:ln w="12700">
            <a:solidFill>
              <a:srgbClr val="E4E2DE"/>
            </a:solidFill>
            <a:prstDash val="solid"/>
          </a:ln>
        </p:spPr>
      </p:sp>
      <p:sp>
        <p:nvSpPr>
          <p:cNvPr id="26" name="Shape 23"/>
          <p:cNvSpPr/>
          <p:nvPr/>
        </p:nvSpPr>
        <p:spPr>
          <a:xfrm>
            <a:off x="7516368" y="2194560"/>
            <a:ext cx="329184" cy="329184"/>
          </a:xfrm>
          <a:prstGeom prst="ellipse">
            <a:avLst/>
          </a:prstGeom>
          <a:solidFill>
            <a:srgbClr val="2A654E"/>
          </a:solidFill>
          <a:ln w="12700">
            <a:solidFill>
              <a:srgbClr val="2A654E"/>
            </a:solidFill>
            <a:prstDash val="solid"/>
          </a:ln>
        </p:spPr>
      </p:sp>
      <p:sp>
        <p:nvSpPr>
          <p:cNvPr id="27" name="Text 24"/>
          <p:cNvSpPr txBox="1"/>
          <p:nvPr/>
        </p:nvSpPr>
        <p:spPr>
          <a:xfrm>
            <a:off x="7516368" y="2194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8" name="Text 25"/>
          <p:cNvSpPr txBox="1"/>
          <p:nvPr/>
        </p:nvSpPr>
        <p:spPr>
          <a:xfrm>
            <a:off x="7516368" y="2633472"/>
            <a:ext cx="170078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Review and approve</a:t>
            </a:r>
            <a:endParaRPr lang="en-US" sz="1400" dirty="0"/>
          </a:p>
        </p:txBody>
      </p:sp>
      <p:sp>
        <p:nvSpPr>
          <p:cNvPr id="29" name="Text 26"/>
          <p:cNvSpPr txBox="1"/>
          <p:nvPr/>
        </p:nvSpPr>
        <p:spPr>
          <a:xfrm>
            <a:off x="7516368" y="3090672"/>
            <a:ext cx="1700784" cy="116128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A reviewer applies their judgment, corrects the content and approves under their own name.</a:t>
            </a:r>
            <a:endParaRPr lang="en-US" sz="1150" dirty="0"/>
          </a:p>
        </p:txBody>
      </p:sp>
      <p:sp>
        <p:nvSpPr>
          <p:cNvPr id="30" name="Shape 27"/>
          <p:cNvSpPr/>
          <p:nvPr/>
        </p:nvSpPr>
        <p:spPr>
          <a:xfrm>
            <a:off x="9418320" y="3200400"/>
            <a:ext cx="182880" cy="0"/>
          </a:xfrm>
          <a:prstGeom prst="line">
            <a:avLst/>
          </a:prstGeom>
          <a:noFill/>
          <a:ln w="22225">
            <a:solidFill>
              <a:srgbClr val="2A654E"/>
            </a:solidFill>
            <a:prstDash val="solid"/>
            <a:tailEnd type="triangle"/>
          </a:ln>
        </p:spPr>
      </p:sp>
      <p:sp>
        <p:nvSpPr>
          <p:cNvPr id="31" name="Shape 28"/>
          <p:cNvSpPr/>
          <p:nvPr/>
        </p:nvSpPr>
        <p:spPr>
          <a:xfrm>
            <a:off x="9601200" y="2011680"/>
            <a:ext cx="2103120" cy="2377440"/>
          </a:xfrm>
          <a:prstGeom prst="roundRect">
            <a:avLst>
              <a:gd name="adj" fmla="val 4348"/>
            </a:avLst>
          </a:prstGeom>
          <a:solidFill>
            <a:srgbClr val="FFFFFF"/>
          </a:solidFill>
          <a:ln w="12700">
            <a:solidFill>
              <a:srgbClr val="E4E2DE"/>
            </a:solidFill>
            <a:prstDash val="solid"/>
          </a:ln>
        </p:spPr>
      </p:sp>
      <p:sp>
        <p:nvSpPr>
          <p:cNvPr id="32" name="Shape 29"/>
          <p:cNvSpPr/>
          <p:nvPr/>
        </p:nvSpPr>
        <p:spPr>
          <a:xfrm>
            <a:off x="9802368" y="2194560"/>
            <a:ext cx="329184" cy="329184"/>
          </a:xfrm>
          <a:prstGeom prst="ellipse">
            <a:avLst/>
          </a:prstGeom>
          <a:solidFill>
            <a:srgbClr val="2A654E"/>
          </a:solidFill>
          <a:ln w="12700">
            <a:solidFill>
              <a:srgbClr val="2A654E"/>
            </a:solidFill>
            <a:prstDash val="solid"/>
          </a:ln>
        </p:spPr>
      </p:sp>
      <p:sp>
        <p:nvSpPr>
          <p:cNvPr id="33" name="Text 30"/>
          <p:cNvSpPr txBox="1"/>
          <p:nvPr/>
        </p:nvSpPr>
        <p:spPr>
          <a:xfrm>
            <a:off x="9802368" y="2194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txBox="1"/>
          <p:nvPr/>
        </p:nvSpPr>
        <p:spPr>
          <a:xfrm>
            <a:off x="9802368" y="2633472"/>
            <a:ext cx="170078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Deck and record</a:t>
            </a:r>
            <a:endParaRPr lang="en-US" sz="1400" dirty="0"/>
          </a:p>
        </p:txBody>
      </p:sp>
      <p:sp>
        <p:nvSpPr>
          <p:cNvPr id="35" name="Text 32"/>
          <p:cNvSpPr txBox="1"/>
          <p:nvPr/>
        </p:nvSpPr>
        <p:spPr>
          <a:xfrm>
            <a:off x="9802368" y="3090672"/>
            <a:ext cx="1700784" cy="116128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The workspace produces the KCG status deck and retains the approved record, with who and when.</a:t>
            </a:r>
            <a:endParaRPr lang="en-US" sz="1150" dirty="0"/>
          </a:p>
        </p:txBody>
      </p:sp>
      <p:sp>
        <p:nvSpPr>
          <p:cNvPr id="36" name="Shape 33"/>
          <p:cNvSpPr/>
          <p:nvPr/>
        </p:nvSpPr>
        <p:spPr>
          <a:xfrm>
            <a:off x="457200" y="4663440"/>
            <a:ext cx="11274552" cy="1188720"/>
          </a:xfrm>
          <a:prstGeom prst="roundRect">
            <a:avLst>
              <a:gd name="adj" fmla="val 7692"/>
            </a:avLst>
          </a:prstGeom>
          <a:solidFill>
            <a:srgbClr val="EAF1ED"/>
          </a:solidFill>
          <a:ln w="12700">
            <a:solidFill>
              <a:srgbClr val="2A654E"/>
            </a:solidFill>
            <a:prstDash val="solid"/>
          </a:ln>
        </p:spPr>
      </p:sp>
      <p:sp>
        <p:nvSpPr>
          <p:cNvPr id="37" name="Text 34"/>
          <p:cNvSpPr txBox="1"/>
          <p:nvPr/>
        </p:nvSpPr>
        <p:spPr>
          <a:xfrm>
            <a:off x="685800" y="4800600"/>
            <a:ext cx="4572000" cy="22860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WHAT STAYS WITH PEOPLE</a:t>
            </a:r>
            <a:endParaRPr lang="en-US" sz="850" dirty="0"/>
          </a:p>
        </p:txBody>
      </p:sp>
      <p:sp>
        <p:nvSpPr>
          <p:cNvPr id="38" name="Text 35"/>
          <p:cNvSpPr txBox="1"/>
          <p:nvPr/>
        </p:nvSpPr>
        <p:spPr>
          <a:xfrm>
            <a:off x="685800" y="5029200"/>
            <a:ext cx="10789920" cy="777240"/>
          </a:xfrm>
          <a:prstGeom prst="rect">
            <a:avLst/>
          </a:prstGeom>
          <a:noFill/>
          <a:ln/>
        </p:spPr>
        <p:txBody>
          <a:bodyPr wrap="square" lIns="0" tIns="0" rIns="0" bIns="0" rtlCol="0" anchor="ctr"/>
          <a:lstStyle/>
          <a:p>
            <a:pPr indent="0" marL="0">
              <a:buNone/>
            </a:pPr>
            <a:r>
              <a:rPr lang="en-US" sz="1250" dirty="0">
                <a:solidFill>
                  <a:srgbClr val="113A2A"/>
                </a:solidFill>
                <a:latin typeface="Arial" pitchFamily="34" charset="0"/>
                <a:ea typeface="Arial" pitchFamily="34" charset="-122"/>
                <a:cs typeface="Arial" pitchFamily="34" charset="-120"/>
              </a:rPr>
              <a:t>Judgment, correction and approval. Nothing reaches a client that a named person did not approve, and nothing is sent by software. Dates, status colors and the file itself are produced by code, not by the model. Missing evidence is shown as missing, never as good news.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6</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This is running today</a:t>
            </a:r>
            <a:endParaRPr lang="en-US" sz="3000" dirty="0"/>
          </a:p>
        </p:txBody>
      </p:sp>
      <p:sp>
        <p:nvSpPr>
          <p:cNvPr id="7" name="Text 4"/>
          <p:cNvSpPr txBox="1"/>
          <p:nvPr/>
        </p:nvSpPr>
        <p:spPr>
          <a:xfrm>
            <a:off x="457200" y="1783080"/>
            <a:ext cx="9601200" cy="640080"/>
          </a:xfrm>
          <a:prstGeom prst="rect">
            <a:avLst/>
          </a:prstGeom>
          <a:noFill/>
          <a:ln/>
        </p:spPr>
        <p:txBody>
          <a:bodyPr wrap="square" lIns="0" tIns="0" rIns="0" bIns="0" rtlCol="0" anchor="t"/>
          <a:lstStyle/>
          <a:p>
            <a:pPr indent="0" marL="0">
              <a:buNone/>
            </a:pPr>
            <a:r>
              <a:rPr lang="en-US" sz="1400" dirty="0">
                <a:solidFill>
                  <a:srgbClr val="6E6961"/>
                </a:solidFill>
                <a:latin typeface="Arial" pitchFamily="34" charset="0"/>
                <a:ea typeface="Arial" pitchFamily="34" charset="-122"/>
                <a:cs typeface="Arial" pitchFamily="34" charset="-120"/>
              </a:rPr>
              <a:t>We have recorded an approved status and generated the deck for Legend. That gives us a concrete starting point for demonstrating the experience and measuring its value.</a:t>
            </a:r>
            <a:endParaRPr lang="en-US" sz="1400" dirty="0"/>
          </a:p>
        </p:txBody>
      </p:sp>
      <p:sp>
        <p:nvSpPr>
          <p:cNvPr id="8" name="Shape 5"/>
          <p:cNvSpPr/>
          <p:nvPr/>
        </p:nvSpPr>
        <p:spPr>
          <a:xfrm>
            <a:off x="457200" y="2697480"/>
            <a:ext cx="5577840" cy="1371600"/>
          </a:xfrm>
          <a:prstGeom prst="roundRect">
            <a:avLst>
              <a:gd name="adj" fmla="val 6667"/>
            </a:avLst>
          </a:prstGeom>
          <a:solidFill>
            <a:srgbClr val="FFFFFF"/>
          </a:solidFill>
          <a:ln w="12700">
            <a:solidFill>
              <a:srgbClr val="E4E2DE"/>
            </a:solidFill>
            <a:prstDash val="solid"/>
          </a:ln>
        </p:spPr>
      </p:sp>
      <p:sp>
        <p:nvSpPr>
          <p:cNvPr id="9" name="Text 6"/>
          <p:cNvSpPr txBox="1"/>
          <p:nvPr/>
        </p:nvSpPr>
        <p:spPr>
          <a:xfrm>
            <a:off x="658368" y="2880360"/>
            <a:ext cx="517550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Legend · Continuous Support</a:t>
            </a:r>
            <a:endParaRPr lang="en-US" sz="1400" dirty="0"/>
          </a:p>
        </p:txBody>
      </p:sp>
      <p:sp>
        <p:nvSpPr>
          <p:cNvPr id="10" name="Text 7"/>
          <p:cNvSpPr txBox="1"/>
          <p:nvPr/>
        </p:nvSpPr>
        <p:spPr>
          <a:xfrm>
            <a:off x="658368" y="3337560"/>
            <a:ext cx="5175504" cy="59436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First engagement workspace live. Weekly Status version 1 approved on September 9 and the deck built the same day.</a:t>
            </a:r>
            <a:endParaRPr lang="en-US" sz="1150" dirty="0"/>
          </a:p>
        </p:txBody>
      </p:sp>
      <p:sp>
        <p:nvSpPr>
          <p:cNvPr id="11" name="Shape 8"/>
          <p:cNvSpPr/>
          <p:nvPr/>
        </p:nvSpPr>
        <p:spPr>
          <a:xfrm>
            <a:off x="6126480" y="2697480"/>
            <a:ext cx="5577840" cy="1371600"/>
          </a:xfrm>
          <a:prstGeom prst="roundRect">
            <a:avLst>
              <a:gd name="adj" fmla="val 6667"/>
            </a:avLst>
          </a:prstGeom>
          <a:solidFill>
            <a:srgbClr val="FFFFFF"/>
          </a:solidFill>
          <a:ln w="12700">
            <a:solidFill>
              <a:srgbClr val="E4E2DE"/>
            </a:solidFill>
            <a:prstDash val="solid"/>
          </a:ln>
        </p:spPr>
      </p:sp>
      <p:sp>
        <p:nvSpPr>
          <p:cNvPr id="12" name="Text 9"/>
          <p:cNvSpPr txBox="1"/>
          <p:nvPr/>
        </p:nvSpPr>
        <p:spPr>
          <a:xfrm>
            <a:off x="6327648" y="2880360"/>
            <a:ext cx="517550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Gates 0 to 6 closed</a:t>
            </a:r>
            <a:endParaRPr lang="en-US" sz="1400" dirty="0"/>
          </a:p>
        </p:txBody>
      </p:sp>
      <p:sp>
        <p:nvSpPr>
          <p:cNvPr id="13" name="Text 10"/>
          <p:cNvSpPr txBox="1"/>
          <p:nvPr/>
        </p:nvSpPr>
        <p:spPr>
          <a:xfrm>
            <a:off x="6327648" y="3337560"/>
            <a:ext cx="5175504" cy="59436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Proof of concept, connector spike, contracts, deck builder, Weekly Status end to end, home screen, pilot readiness. Each proved before the next began.</a:t>
            </a:r>
            <a:endParaRPr lang="en-US" sz="1150" dirty="0"/>
          </a:p>
        </p:txBody>
      </p:sp>
      <p:sp>
        <p:nvSpPr>
          <p:cNvPr id="14" name="Shape 11"/>
          <p:cNvSpPr/>
          <p:nvPr/>
        </p:nvSpPr>
        <p:spPr>
          <a:xfrm>
            <a:off x="457200" y="4206240"/>
            <a:ext cx="5577840" cy="1371600"/>
          </a:xfrm>
          <a:prstGeom prst="roundRect">
            <a:avLst>
              <a:gd name="adj" fmla="val 6667"/>
            </a:avLst>
          </a:prstGeom>
          <a:solidFill>
            <a:srgbClr val="FFFFFF"/>
          </a:solidFill>
          <a:ln w="12700">
            <a:solidFill>
              <a:srgbClr val="E4E2DE"/>
            </a:solidFill>
            <a:prstDash val="solid"/>
          </a:ln>
        </p:spPr>
      </p:sp>
      <p:sp>
        <p:nvSpPr>
          <p:cNvPr id="15" name="Text 12"/>
          <p:cNvSpPr txBox="1"/>
          <p:nvPr/>
        </p:nvSpPr>
        <p:spPr>
          <a:xfrm>
            <a:off x="658368" y="4389120"/>
            <a:ext cx="517550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About ten minutes</a:t>
            </a:r>
            <a:endParaRPr lang="en-US" sz="1400" dirty="0"/>
          </a:p>
        </p:txBody>
      </p:sp>
      <p:sp>
        <p:nvSpPr>
          <p:cNvPr id="16" name="Text 13"/>
          <p:cNvSpPr txBox="1"/>
          <p:nvPr/>
        </p:nvSpPr>
        <p:spPr>
          <a:xfrm>
            <a:off x="658368" y="4846320"/>
            <a:ext cx="5175504" cy="59436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To stand up a new engagement from the blank template: names, the owner, and links to Asana, SharePoint, Granola and Harvest.</a:t>
            </a:r>
            <a:endParaRPr lang="en-US" sz="1150" dirty="0"/>
          </a:p>
        </p:txBody>
      </p:sp>
      <p:sp>
        <p:nvSpPr>
          <p:cNvPr id="17" name="Shape 14"/>
          <p:cNvSpPr/>
          <p:nvPr/>
        </p:nvSpPr>
        <p:spPr>
          <a:xfrm>
            <a:off x="6126480" y="4206240"/>
            <a:ext cx="5577840" cy="1371600"/>
          </a:xfrm>
          <a:prstGeom prst="roundRect">
            <a:avLst>
              <a:gd name="adj" fmla="val 6667"/>
            </a:avLst>
          </a:prstGeom>
          <a:solidFill>
            <a:srgbClr val="FFFFFF"/>
          </a:solidFill>
          <a:ln w="12700">
            <a:solidFill>
              <a:srgbClr val="E4E2DE"/>
            </a:solidFill>
            <a:prstDash val="solid"/>
          </a:ln>
        </p:spPr>
      </p:sp>
      <p:sp>
        <p:nvSpPr>
          <p:cNvPr id="18" name="Text 15"/>
          <p:cNvSpPr txBox="1"/>
          <p:nvPr/>
        </p:nvSpPr>
        <p:spPr>
          <a:xfrm>
            <a:off x="6327648" y="4389120"/>
            <a:ext cx="5175504" cy="4572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A second workspace in a cold test</a:t>
            </a:r>
            <a:endParaRPr lang="en-US" sz="1400" dirty="0"/>
          </a:p>
        </p:txBody>
      </p:sp>
      <p:sp>
        <p:nvSpPr>
          <p:cNvPr id="19" name="Text 16"/>
          <p:cNvSpPr txBox="1"/>
          <p:nvPr/>
        </p:nvSpPr>
        <p:spPr>
          <a:xfrm>
            <a:off x="6327648" y="4846320"/>
            <a:ext cx="5175504" cy="594360"/>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Two colleagues who have not seen it before are setting one up to show us where the gaps are.</a:t>
            </a:r>
            <a:endParaRPr lang="en-US" sz="1150" dirty="0"/>
          </a:p>
        </p:txBody>
      </p:sp>
      <p:sp>
        <p:nvSpPr>
          <p:cNvPr id="20" name="Text 17"/>
          <p:cNvSpPr txBox="1"/>
          <p:nvPr/>
        </p:nvSpPr>
        <p:spPr>
          <a:xfrm>
            <a:off x="457200" y="5760720"/>
            <a:ext cx="11274552" cy="411480"/>
          </a:xfrm>
          <a:prstGeom prst="rect">
            <a:avLst/>
          </a:prstGeom>
          <a:noFill/>
          <a:ln/>
        </p:spPr>
        <p:txBody>
          <a:bodyPr wrap="square" lIns="0" tIns="0" rIns="0" bIns="0" rtlCol="0" anchor="ctr"/>
          <a:lstStyle/>
          <a:p>
            <a:pPr indent="0" marL="0">
              <a:buNone/>
            </a:pPr>
            <a:r>
              <a:rPr lang="en-US" sz="1200" i="1" dirty="0">
                <a:solidFill>
                  <a:srgbClr val="6E6961"/>
                </a:solidFill>
                <a:latin typeface="Arial" pitchFamily="34" charset="0"/>
                <a:ea typeface="Arial" pitchFamily="34" charset="-122"/>
                <a:cs typeface="Arial" pitchFamily="34" charset="-120"/>
              </a:rPr>
              <a:t>Today the reviewer saves and distributes the deck. Once IT approves a one-time consent, the deck saves straight into the engagement's SharePoint folder as the reviewer.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7</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Our first two priorities show how the workspace supports different parts of delivery</a:t>
            </a:r>
            <a:endParaRPr lang="en-US" sz="3000" dirty="0"/>
          </a:p>
        </p:txBody>
      </p:sp>
      <p:sp>
        <p:nvSpPr>
          <p:cNvPr id="7" name="Shape 4"/>
          <p:cNvSpPr/>
          <p:nvPr/>
        </p:nvSpPr>
        <p:spPr>
          <a:xfrm>
            <a:off x="457200" y="1965960"/>
            <a:ext cx="5532120" cy="2743200"/>
          </a:xfrm>
          <a:prstGeom prst="roundRect">
            <a:avLst>
              <a:gd name="adj" fmla="val 3333"/>
            </a:avLst>
          </a:prstGeom>
          <a:solidFill>
            <a:srgbClr val="FFFFFF"/>
          </a:solidFill>
          <a:ln w="12700">
            <a:solidFill>
              <a:srgbClr val="E4E2DE"/>
            </a:solidFill>
            <a:prstDash val="solid"/>
          </a:ln>
        </p:spPr>
      </p:sp>
      <p:sp>
        <p:nvSpPr>
          <p:cNvPr id="8" name="Text 5"/>
          <p:cNvSpPr txBox="1"/>
          <p:nvPr/>
        </p:nvSpPr>
        <p:spPr>
          <a:xfrm>
            <a:off x="658368" y="2148840"/>
            <a:ext cx="5129784"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PRIORITY 1 · EVERY STAGE</a:t>
            </a:r>
            <a:endParaRPr lang="en-US" sz="850" dirty="0"/>
          </a:p>
        </p:txBody>
      </p:sp>
      <p:sp>
        <p:nvSpPr>
          <p:cNvPr id="9" name="Text 6"/>
          <p:cNvSpPr txBox="1"/>
          <p:nvPr/>
        </p:nvSpPr>
        <p:spPr>
          <a:xfrm>
            <a:off x="658368" y="2386584"/>
            <a:ext cx="5129784" cy="502920"/>
          </a:xfrm>
          <a:prstGeom prst="rect">
            <a:avLst/>
          </a:prstGeom>
          <a:noFill/>
          <a:ln/>
        </p:spPr>
        <p:txBody>
          <a:bodyPr wrap="square" lIns="0" tIns="0" rIns="0" bIns="0" rtlCol="0" anchor="t"/>
          <a:lstStyle/>
          <a:p>
            <a:pPr indent="0" marL="0">
              <a:buNone/>
            </a:pPr>
            <a:r>
              <a:rPr lang="en-US" sz="1700" b="1" dirty="0">
                <a:solidFill>
                  <a:srgbClr val="113A2A"/>
                </a:solidFill>
                <a:latin typeface="Arial" pitchFamily="34" charset="0"/>
                <a:ea typeface="Arial" pitchFamily="34" charset="-122"/>
                <a:cs typeface="Arial" pitchFamily="34" charset="-120"/>
              </a:rPr>
              <a:t>Project Status Reporting</a:t>
            </a:r>
            <a:endParaRPr lang="en-US" sz="1700" dirty="0"/>
          </a:p>
        </p:txBody>
      </p:sp>
      <p:sp>
        <p:nvSpPr>
          <p:cNvPr id="10" name="Text 7"/>
          <p:cNvSpPr txBox="1"/>
          <p:nvPr/>
        </p:nvSpPr>
        <p:spPr>
          <a:xfrm>
            <a:off x="658368" y="2889504"/>
            <a:ext cx="5129784" cy="1682496"/>
          </a:xfrm>
          <a:prstGeom prst="rect">
            <a:avLst/>
          </a:prstGeom>
          <a:noFill/>
          <a:ln/>
        </p:spPr>
        <p:txBody>
          <a:bodyPr wrap="square" lIns="0" tIns="0" rIns="0" bIns="0" rtlCol="0" anchor="t"/>
          <a:lstStyle/>
          <a:p>
            <a:pPr indent="0" marL="0">
              <a:buNone/>
            </a:pPr>
            <a:r>
              <a:rPr lang="en-US" sz="1200" dirty="0">
                <a:solidFill>
                  <a:srgbClr val="6E6961"/>
                </a:solidFill>
                <a:latin typeface="Arial" pitchFamily="34" charset="0"/>
                <a:ea typeface="Arial" pitchFamily="34" charset="-122"/>
                <a:cs typeface="Arial" pitchFamily="34" charset="-120"/>
              </a:rPr>
              <a:t>A recurring activity with measurable preparation effort and clear reuse across engagements.</a:t>
            </a:r>
            <a:endParaRPr lang="en-US" sz="1200" dirty="0"/>
          </a:p>
          <a:p>
            <a:pPr indent="0" marL="0">
              <a:buNone/>
            </a:pPr>
            <a:endParaRPr lang="en-US" sz="1200" dirty="0"/>
          </a:p>
          <a:p>
            <a:pPr indent="0" marL="0">
              <a:buNone/>
            </a:pPr>
            <a:r>
              <a:rPr lang="en-US" sz="1200" dirty="0">
                <a:solidFill>
                  <a:srgbClr val="6E6961"/>
                </a:solidFill>
                <a:latin typeface="Arial" pitchFamily="34" charset="0"/>
                <a:ea typeface="Arial" pitchFamily="34" charset="-122"/>
                <a:cs typeface="Arial" pitchFamily="34" charset="-120"/>
              </a:rPr>
              <a:t>Evidence read as the consultant, a drafted narrative, deterministic status, a named approval, and a deck on the KCG template. Live for Legend; weekly on two engagements through the pilot.</a:t>
            </a:r>
            <a:endParaRPr lang="en-US" sz="1200" dirty="0"/>
          </a:p>
        </p:txBody>
      </p:sp>
      <p:sp>
        <p:nvSpPr>
          <p:cNvPr id="11" name="Shape 8"/>
          <p:cNvSpPr/>
          <p:nvPr/>
        </p:nvSpPr>
        <p:spPr>
          <a:xfrm>
            <a:off x="6199632" y="1965960"/>
            <a:ext cx="5532120" cy="2743200"/>
          </a:xfrm>
          <a:prstGeom prst="roundRect">
            <a:avLst>
              <a:gd name="adj" fmla="val 3333"/>
            </a:avLst>
          </a:prstGeom>
          <a:solidFill>
            <a:srgbClr val="FFFFFF"/>
          </a:solidFill>
          <a:ln w="12700">
            <a:solidFill>
              <a:srgbClr val="E4E2DE"/>
            </a:solidFill>
            <a:prstDash val="solid"/>
          </a:ln>
        </p:spPr>
      </p:sp>
      <p:sp>
        <p:nvSpPr>
          <p:cNvPr id="12" name="Text 9"/>
          <p:cNvSpPr txBox="1"/>
          <p:nvPr/>
        </p:nvSpPr>
        <p:spPr>
          <a:xfrm>
            <a:off x="6400800" y="2148840"/>
            <a:ext cx="5129784"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PRIORITY 2 · FOUNDATIONS</a:t>
            </a:r>
            <a:endParaRPr lang="en-US" sz="850" dirty="0"/>
          </a:p>
        </p:txBody>
      </p:sp>
      <p:sp>
        <p:nvSpPr>
          <p:cNvPr id="13" name="Text 10"/>
          <p:cNvSpPr txBox="1"/>
          <p:nvPr/>
        </p:nvSpPr>
        <p:spPr>
          <a:xfrm>
            <a:off x="6400800" y="2386584"/>
            <a:ext cx="5129784" cy="502920"/>
          </a:xfrm>
          <a:prstGeom prst="rect">
            <a:avLst/>
          </a:prstGeom>
          <a:noFill/>
          <a:ln/>
        </p:spPr>
        <p:txBody>
          <a:bodyPr wrap="square" lIns="0" tIns="0" rIns="0" bIns="0" rtlCol="0" anchor="t"/>
          <a:lstStyle/>
          <a:p>
            <a:pPr indent="0" marL="0">
              <a:buNone/>
            </a:pPr>
            <a:r>
              <a:rPr lang="en-US" sz="1700" b="1" dirty="0">
                <a:solidFill>
                  <a:srgbClr val="113A2A"/>
                </a:solidFill>
                <a:latin typeface="Arial" pitchFamily="34" charset="0"/>
                <a:ea typeface="Arial" pitchFamily="34" charset="-122"/>
                <a:cs typeface="Arial" pitchFamily="34" charset="-120"/>
              </a:rPr>
              <a:t>The Foundations Package</a:t>
            </a:r>
            <a:endParaRPr lang="en-US" sz="1700" dirty="0"/>
          </a:p>
        </p:txBody>
      </p:sp>
      <p:sp>
        <p:nvSpPr>
          <p:cNvPr id="14" name="Text 11"/>
          <p:cNvSpPr txBox="1"/>
          <p:nvPr/>
        </p:nvSpPr>
        <p:spPr>
          <a:xfrm>
            <a:off x="6400800" y="2889504"/>
            <a:ext cx="5129784" cy="1682496"/>
          </a:xfrm>
          <a:prstGeom prst="rect">
            <a:avLst/>
          </a:prstGeom>
          <a:noFill/>
          <a:ln/>
        </p:spPr>
        <p:txBody>
          <a:bodyPr wrap="square" lIns="0" tIns="0" rIns="0" bIns="0" rtlCol="0" anchor="t"/>
          <a:lstStyle/>
          <a:p>
            <a:pPr indent="0" marL="0">
              <a:buNone/>
            </a:pPr>
            <a:r>
              <a:rPr lang="en-US" sz="1200" dirty="0">
                <a:solidFill>
                  <a:srgbClr val="6E6961"/>
                </a:solidFill>
                <a:latin typeface="Arial" pitchFamily="34" charset="0"/>
                <a:ea typeface="Arial" pitchFamily="34" charset="-122"/>
                <a:cs typeface="Arial" pitchFamily="34" charset="-120"/>
              </a:rPr>
              <a:t>From business requirements to mockups, addressing ambiguity before build.</a:t>
            </a:r>
            <a:endParaRPr lang="en-US" sz="1200" dirty="0"/>
          </a:p>
          <a:p>
            <a:pPr indent="0" marL="0">
              <a:buNone/>
            </a:pPr>
            <a:endParaRPr lang="en-US" sz="1200" dirty="0"/>
          </a:p>
          <a:p>
            <a:pPr indent="0" marL="0">
              <a:buNone/>
            </a:pPr>
            <a:r>
              <a:rPr lang="en-US" sz="1200" dirty="0">
                <a:solidFill>
                  <a:srgbClr val="6E6961"/>
                </a:solidFill>
                <a:latin typeface="Arial" pitchFamily="34" charset="0"/>
                <a:ea typeface="Arial" pitchFamily="34" charset="-122"/>
                <a:cs typeface="Arial" pitchFamily="34" charset="-120"/>
              </a:rPr>
              <a:t>Makes requirements, assumptions, decisions and scope boundaries visible so teams can identify gaps and improve the handoff into development. The Mockup Generator is the first piece already in use.</a:t>
            </a:r>
            <a:endParaRPr lang="en-US" sz="1200" dirty="0"/>
          </a:p>
        </p:txBody>
      </p:sp>
      <p:sp>
        <p:nvSpPr>
          <p:cNvPr id="15" name="Shape 12"/>
          <p:cNvSpPr/>
          <p:nvPr/>
        </p:nvSpPr>
        <p:spPr>
          <a:xfrm>
            <a:off x="457200" y="4937760"/>
            <a:ext cx="11274552" cy="1051560"/>
          </a:xfrm>
          <a:prstGeom prst="roundRect">
            <a:avLst>
              <a:gd name="adj" fmla="val 8696"/>
            </a:avLst>
          </a:prstGeom>
          <a:solidFill>
            <a:srgbClr val="F5F4F2"/>
          </a:solidFill>
          <a:ln w="12700">
            <a:solidFill>
              <a:srgbClr val="E4E2DE"/>
            </a:solidFill>
            <a:prstDash val="solid"/>
          </a:ln>
        </p:spPr>
      </p:sp>
      <p:sp>
        <p:nvSpPr>
          <p:cNvPr id="16" name="Text 13"/>
          <p:cNvSpPr txBox="1"/>
          <p:nvPr/>
        </p:nvSpPr>
        <p:spPr>
          <a:xfrm>
            <a:off x="685800" y="5074920"/>
            <a:ext cx="10789920" cy="777240"/>
          </a:xfrm>
          <a:prstGeom prst="rect">
            <a:avLst/>
          </a:prstGeom>
          <a:noFill/>
          <a:ln/>
        </p:spPr>
        <p:txBody>
          <a:bodyPr wrap="square" lIns="0" tIns="0" rIns="0" bIns="0" rtlCol="0" anchor="ctr"/>
          <a:lstStyle/>
          <a:p>
            <a:pPr indent="0" marL="0">
              <a:buNone/>
            </a:pPr>
            <a:r>
              <a:rPr lang="en-US" sz="1250" dirty="0">
                <a:solidFill>
                  <a:srgbClr val="113A2A"/>
                </a:solidFill>
                <a:latin typeface="Arial" pitchFamily="34" charset="0"/>
                <a:ea typeface="Arial" pitchFamily="34" charset="-122"/>
                <a:cs typeface="Arial" pitchFamily="34" charset="-120"/>
              </a:rPr>
              <a:t>The workspace gives these capabilities a place in the engagement journey. Some run directly inside it; others may first connect to guided workflows in a consultant's Claude session. Over time, reviewed outputs from one activity inform the next, so context is not rebuilt.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8</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As we integrate more AI, governance matters more, not less</a:t>
            </a:r>
            <a:endParaRPr lang="en-US" sz="3000" dirty="0"/>
          </a:p>
        </p:txBody>
      </p:sp>
      <p:sp>
        <p:nvSpPr>
          <p:cNvPr id="7" name="Text 4"/>
          <p:cNvSpPr txBox="1"/>
          <p:nvPr/>
        </p:nvSpPr>
        <p:spPr>
          <a:xfrm>
            <a:off x="457200" y="1783080"/>
            <a:ext cx="9601200" cy="640080"/>
          </a:xfrm>
          <a:prstGeom prst="rect">
            <a:avLst/>
          </a:prstGeom>
          <a:noFill/>
          <a:ln/>
        </p:spPr>
        <p:txBody>
          <a:bodyPr wrap="square" lIns="0" tIns="0" rIns="0" bIns="0" rtlCol="0" anchor="t"/>
          <a:lstStyle/>
          <a:p>
            <a:pPr indent="0" marL="0">
              <a:buNone/>
            </a:pPr>
            <a:r>
              <a:rPr lang="en-US" sz="1400" dirty="0">
                <a:solidFill>
                  <a:srgbClr val="6E6961"/>
                </a:solidFill>
                <a:latin typeface="Arial" pitchFamily="34" charset="0"/>
                <a:ea typeface="Arial" pitchFamily="34" charset="-122"/>
                <a:cs typeface="Arial" pitchFamily="34" charset="-120"/>
              </a:rPr>
              <a:t>At the Karta level: a consistent process for deciding which opportunities receive investment, which enter a pilot, and which are ready to scale.</a:t>
            </a:r>
            <a:endParaRPr lang="en-US" sz="1400" dirty="0"/>
          </a:p>
        </p:txBody>
      </p:sp>
      <p:sp>
        <p:nvSpPr>
          <p:cNvPr id="8" name="Shape 5"/>
          <p:cNvSpPr/>
          <p:nvPr/>
        </p:nvSpPr>
        <p:spPr>
          <a:xfrm>
            <a:off x="457200" y="2697480"/>
            <a:ext cx="2651760" cy="1554480"/>
          </a:xfrm>
          <a:prstGeom prst="roundRect">
            <a:avLst>
              <a:gd name="adj" fmla="val 5882"/>
            </a:avLst>
          </a:prstGeom>
          <a:solidFill>
            <a:srgbClr val="FFFFFF"/>
          </a:solidFill>
          <a:ln w="12700">
            <a:solidFill>
              <a:srgbClr val="E4E2DE"/>
            </a:solidFill>
            <a:prstDash val="solid"/>
          </a:ln>
        </p:spPr>
      </p:sp>
      <p:sp>
        <p:nvSpPr>
          <p:cNvPr id="9" name="Shape 6"/>
          <p:cNvSpPr/>
          <p:nvPr/>
        </p:nvSpPr>
        <p:spPr>
          <a:xfrm>
            <a:off x="658368" y="2880360"/>
            <a:ext cx="329184" cy="329184"/>
          </a:xfrm>
          <a:prstGeom prst="ellipse">
            <a:avLst/>
          </a:prstGeom>
          <a:solidFill>
            <a:srgbClr val="2A654E"/>
          </a:solidFill>
          <a:ln w="12700">
            <a:solidFill>
              <a:srgbClr val="2A654E"/>
            </a:solidFill>
            <a:prstDash val="solid"/>
          </a:ln>
        </p:spPr>
      </p:sp>
      <p:sp>
        <p:nvSpPr>
          <p:cNvPr id="10" name="Text 7"/>
          <p:cNvSpPr txBox="1"/>
          <p:nvPr/>
        </p:nvSpPr>
        <p:spPr>
          <a:xfrm>
            <a:off x="658368" y="2880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txBox="1"/>
          <p:nvPr/>
        </p:nvSpPr>
        <p:spPr>
          <a:xfrm>
            <a:off x="658368" y="3319272"/>
            <a:ext cx="2249424" cy="457200"/>
          </a:xfrm>
          <a:prstGeom prst="rect">
            <a:avLst/>
          </a:prstGeom>
          <a:noFill/>
          <a:ln/>
        </p:spPr>
        <p:txBody>
          <a:bodyPr wrap="square" lIns="0" tIns="0" rIns="0" bIns="0" rtlCol="0" anchor="t"/>
          <a:lstStyle/>
          <a:p>
            <a:pPr indent="0" marL="0">
              <a:buNone/>
            </a:pPr>
            <a:r>
              <a:rPr lang="en-US" sz="1500" b="1" dirty="0">
                <a:solidFill>
                  <a:srgbClr val="113A2A"/>
                </a:solidFill>
                <a:latin typeface="Arial" pitchFamily="34" charset="0"/>
                <a:ea typeface="Arial" pitchFamily="34" charset="-122"/>
                <a:cs typeface="Arial" pitchFamily="34" charset="-120"/>
              </a:rPr>
              <a:t>Idea</a:t>
            </a:r>
            <a:endParaRPr lang="en-US" sz="1500" dirty="0"/>
          </a:p>
        </p:txBody>
      </p:sp>
      <p:sp>
        <p:nvSpPr>
          <p:cNvPr id="12" name="Text 9"/>
          <p:cNvSpPr txBox="1"/>
          <p:nvPr/>
        </p:nvSpPr>
        <p:spPr>
          <a:xfrm>
            <a:off x="658368" y="3776472"/>
            <a:ext cx="2249424" cy="33832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Any employee can contribute one.</a:t>
            </a:r>
            <a:endParaRPr lang="en-US" sz="1150" dirty="0"/>
          </a:p>
        </p:txBody>
      </p:sp>
      <p:sp>
        <p:nvSpPr>
          <p:cNvPr id="13" name="Shape 10"/>
          <p:cNvSpPr/>
          <p:nvPr/>
        </p:nvSpPr>
        <p:spPr>
          <a:xfrm>
            <a:off x="3108960" y="3474720"/>
            <a:ext cx="182880" cy="0"/>
          </a:xfrm>
          <a:prstGeom prst="line">
            <a:avLst/>
          </a:prstGeom>
          <a:noFill/>
          <a:ln w="22225">
            <a:solidFill>
              <a:srgbClr val="2A654E"/>
            </a:solidFill>
            <a:prstDash val="solid"/>
            <a:tailEnd type="triangle"/>
          </a:ln>
        </p:spPr>
      </p:sp>
      <p:sp>
        <p:nvSpPr>
          <p:cNvPr id="14" name="Shape 11"/>
          <p:cNvSpPr/>
          <p:nvPr/>
        </p:nvSpPr>
        <p:spPr>
          <a:xfrm>
            <a:off x="3291840" y="2697480"/>
            <a:ext cx="2651760" cy="1554480"/>
          </a:xfrm>
          <a:prstGeom prst="roundRect">
            <a:avLst>
              <a:gd name="adj" fmla="val 5882"/>
            </a:avLst>
          </a:prstGeom>
          <a:solidFill>
            <a:srgbClr val="FFFFFF"/>
          </a:solidFill>
          <a:ln w="12700">
            <a:solidFill>
              <a:srgbClr val="E4E2DE"/>
            </a:solidFill>
            <a:prstDash val="solid"/>
          </a:ln>
        </p:spPr>
      </p:sp>
      <p:sp>
        <p:nvSpPr>
          <p:cNvPr id="15" name="Shape 12"/>
          <p:cNvSpPr/>
          <p:nvPr/>
        </p:nvSpPr>
        <p:spPr>
          <a:xfrm>
            <a:off x="3493008" y="2880360"/>
            <a:ext cx="329184" cy="329184"/>
          </a:xfrm>
          <a:prstGeom prst="ellipse">
            <a:avLst/>
          </a:prstGeom>
          <a:solidFill>
            <a:srgbClr val="2A654E"/>
          </a:solidFill>
          <a:ln w="12700">
            <a:solidFill>
              <a:srgbClr val="2A654E"/>
            </a:solidFill>
            <a:prstDash val="solid"/>
          </a:ln>
        </p:spPr>
      </p:sp>
      <p:sp>
        <p:nvSpPr>
          <p:cNvPr id="16" name="Text 13"/>
          <p:cNvSpPr txBox="1"/>
          <p:nvPr/>
        </p:nvSpPr>
        <p:spPr>
          <a:xfrm>
            <a:off x="3493008" y="2880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txBox="1"/>
          <p:nvPr/>
        </p:nvSpPr>
        <p:spPr>
          <a:xfrm>
            <a:off x="3493008" y="3319272"/>
            <a:ext cx="2249424" cy="457200"/>
          </a:xfrm>
          <a:prstGeom prst="rect">
            <a:avLst/>
          </a:prstGeom>
          <a:noFill/>
          <a:ln/>
        </p:spPr>
        <p:txBody>
          <a:bodyPr wrap="square" lIns="0" tIns="0" rIns="0" bIns="0" rtlCol="0" anchor="t"/>
          <a:lstStyle/>
          <a:p>
            <a:pPr indent="0" marL="0">
              <a:buNone/>
            </a:pPr>
            <a:r>
              <a:rPr lang="en-US" sz="1500" b="1" dirty="0">
                <a:solidFill>
                  <a:srgbClr val="113A2A"/>
                </a:solidFill>
                <a:latin typeface="Arial" pitchFamily="34" charset="0"/>
                <a:ea typeface="Arial" pitchFamily="34" charset="-122"/>
                <a:cs typeface="Arial" pitchFamily="34" charset="-120"/>
              </a:rPr>
              <a:t>Invest</a:t>
            </a:r>
            <a:endParaRPr lang="en-US" sz="1500" dirty="0"/>
          </a:p>
        </p:txBody>
      </p:sp>
      <p:sp>
        <p:nvSpPr>
          <p:cNvPr id="18" name="Text 15"/>
          <p:cNvSpPr txBox="1"/>
          <p:nvPr/>
        </p:nvSpPr>
        <p:spPr>
          <a:xfrm>
            <a:off x="3493008" y="3776472"/>
            <a:ext cx="2249424" cy="33832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Worth building? A named owner and defined boundaries.</a:t>
            </a:r>
            <a:endParaRPr lang="en-US" sz="1150" dirty="0"/>
          </a:p>
        </p:txBody>
      </p:sp>
      <p:sp>
        <p:nvSpPr>
          <p:cNvPr id="19" name="Shape 16"/>
          <p:cNvSpPr/>
          <p:nvPr/>
        </p:nvSpPr>
        <p:spPr>
          <a:xfrm>
            <a:off x="5943600" y="3474720"/>
            <a:ext cx="182880" cy="0"/>
          </a:xfrm>
          <a:prstGeom prst="line">
            <a:avLst/>
          </a:prstGeom>
          <a:noFill/>
          <a:ln w="22225">
            <a:solidFill>
              <a:srgbClr val="2A654E"/>
            </a:solidFill>
            <a:prstDash val="solid"/>
            <a:tailEnd type="triangle"/>
          </a:ln>
        </p:spPr>
      </p:sp>
      <p:sp>
        <p:nvSpPr>
          <p:cNvPr id="20" name="Shape 17"/>
          <p:cNvSpPr/>
          <p:nvPr/>
        </p:nvSpPr>
        <p:spPr>
          <a:xfrm>
            <a:off x="6126480" y="2697480"/>
            <a:ext cx="2651760" cy="1554480"/>
          </a:xfrm>
          <a:prstGeom prst="roundRect">
            <a:avLst>
              <a:gd name="adj" fmla="val 5882"/>
            </a:avLst>
          </a:prstGeom>
          <a:solidFill>
            <a:srgbClr val="FFFFFF"/>
          </a:solidFill>
          <a:ln w="12700">
            <a:solidFill>
              <a:srgbClr val="E4E2DE"/>
            </a:solidFill>
            <a:prstDash val="solid"/>
          </a:ln>
        </p:spPr>
      </p:sp>
      <p:sp>
        <p:nvSpPr>
          <p:cNvPr id="21" name="Shape 18"/>
          <p:cNvSpPr/>
          <p:nvPr/>
        </p:nvSpPr>
        <p:spPr>
          <a:xfrm>
            <a:off x="6327648" y="2880360"/>
            <a:ext cx="329184" cy="329184"/>
          </a:xfrm>
          <a:prstGeom prst="ellipse">
            <a:avLst/>
          </a:prstGeom>
          <a:solidFill>
            <a:srgbClr val="2A654E"/>
          </a:solidFill>
          <a:ln w="12700">
            <a:solidFill>
              <a:srgbClr val="2A654E"/>
            </a:solidFill>
            <a:prstDash val="solid"/>
          </a:ln>
        </p:spPr>
      </p:sp>
      <p:sp>
        <p:nvSpPr>
          <p:cNvPr id="22" name="Text 19"/>
          <p:cNvSpPr txBox="1"/>
          <p:nvPr/>
        </p:nvSpPr>
        <p:spPr>
          <a:xfrm>
            <a:off x="6327648" y="2880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txBox="1"/>
          <p:nvPr/>
        </p:nvSpPr>
        <p:spPr>
          <a:xfrm>
            <a:off x="6327648" y="3319272"/>
            <a:ext cx="2249424" cy="457200"/>
          </a:xfrm>
          <a:prstGeom prst="rect">
            <a:avLst/>
          </a:prstGeom>
          <a:noFill/>
          <a:ln/>
        </p:spPr>
        <p:txBody>
          <a:bodyPr wrap="square" lIns="0" tIns="0" rIns="0" bIns="0" rtlCol="0" anchor="t"/>
          <a:lstStyle/>
          <a:p>
            <a:pPr indent="0" marL="0">
              <a:buNone/>
            </a:pPr>
            <a:r>
              <a:rPr lang="en-US" sz="1500" b="1" dirty="0">
                <a:solidFill>
                  <a:srgbClr val="113A2A"/>
                </a:solidFill>
                <a:latin typeface="Arial" pitchFamily="34" charset="0"/>
                <a:ea typeface="Arial" pitchFamily="34" charset="-122"/>
                <a:cs typeface="Arial" pitchFamily="34" charset="-120"/>
              </a:rPr>
              <a:t>Pilot</a:t>
            </a:r>
            <a:endParaRPr lang="en-US" sz="1500" dirty="0"/>
          </a:p>
        </p:txBody>
      </p:sp>
      <p:sp>
        <p:nvSpPr>
          <p:cNvPr id="24" name="Text 21"/>
          <p:cNvSpPr txBox="1"/>
          <p:nvPr/>
        </p:nvSpPr>
        <p:spPr>
          <a:xfrm>
            <a:off x="6327648" y="3776472"/>
            <a:ext cx="2249424" cy="33832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Proven on a real engagement, with evidence gathered.</a:t>
            </a:r>
            <a:endParaRPr lang="en-US" sz="1150" dirty="0"/>
          </a:p>
        </p:txBody>
      </p:sp>
      <p:sp>
        <p:nvSpPr>
          <p:cNvPr id="25" name="Shape 22"/>
          <p:cNvSpPr/>
          <p:nvPr/>
        </p:nvSpPr>
        <p:spPr>
          <a:xfrm>
            <a:off x="8778240" y="3474720"/>
            <a:ext cx="182880" cy="0"/>
          </a:xfrm>
          <a:prstGeom prst="line">
            <a:avLst/>
          </a:prstGeom>
          <a:noFill/>
          <a:ln w="22225">
            <a:solidFill>
              <a:srgbClr val="2A654E"/>
            </a:solidFill>
            <a:prstDash val="solid"/>
            <a:tailEnd type="triangle"/>
          </a:ln>
        </p:spPr>
      </p:sp>
      <p:sp>
        <p:nvSpPr>
          <p:cNvPr id="26" name="Shape 23"/>
          <p:cNvSpPr/>
          <p:nvPr/>
        </p:nvSpPr>
        <p:spPr>
          <a:xfrm>
            <a:off x="8961120" y="2697480"/>
            <a:ext cx="2651760" cy="1554480"/>
          </a:xfrm>
          <a:prstGeom prst="roundRect">
            <a:avLst>
              <a:gd name="adj" fmla="val 5882"/>
            </a:avLst>
          </a:prstGeom>
          <a:solidFill>
            <a:srgbClr val="FFFFFF"/>
          </a:solidFill>
          <a:ln w="12700">
            <a:solidFill>
              <a:srgbClr val="E4E2DE"/>
            </a:solidFill>
            <a:prstDash val="solid"/>
          </a:ln>
        </p:spPr>
      </p:sp>
      <p:sp>
        <p:nvSpPr>
          <p:cNvPr id="27" name="Shape 24"/>
          <p:cNvSpPr/>
          <p:nvPr/>
        </p:nvSpPr>
        <p:spPr>
          <a:xfrm>
            <a:off x="9162288" y="2880360"/>
            <a:ext cx="329184" cy="329184"/>
          </a:xfrm>
          <a:prstGeom prst="ellipse">
            <a:avLst/>
          </a:prstGeom>
          <a:solidFill>
            <a:srgbClr val="2A654E"/>
          </a:solidFill>
          <a:ln w="12700">
            <a:solidFill>
              <a:srgbClr val="2A654E"/>
            </a:solidFill>
            <a:prstDash val="solid"/>
          </a:ln>
        </p:spPr>
      </p:sp>
      <p:sp>
        <p:nvSpPr>
          <p:cNvPr id="28" name="Text 25"/>
          <p:cNvSpPr txBox="1"/>
          <p:nvPr/>
        </p:nvSpPr>
        <p:spPr>
          <a:xfrm>
            <a:off x="9162288" y="2880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txBox="1"/>
          <p:nvPr/>
        </p:nvSpPr>
        <p:spPr>
          <a:xfrm>
            <a:off x="9162288" y="3319272"/>
            <a:ext cx="2249424" cy="457200"/>
          </a:xfrm>
          <a:prstGeom prst="rect">
            <a:avLst/>
          </a:prstGeom>
          <a:noFill/>
          <a:ln/>
        </p:spPr>
        <p:txBody>
          <a:bodyPr wrap="square" lIns="0" tIns="0" rIns="0" bIns="0" rtlCol="0" anchor="t"/>
          <a:lstStyle/>
          <a:p>
            <a:pPr indent="0" marL="0">
              <a:buNone/>
            </a:pPr>
            <a:r>
              <a:rPr lang="en-US" sz="1500" b="1" dirty="0">
                <a:solidFill>
                  <a:srgbClr val="113A2A"/>
                </a:solidFill>
                <a:latin typeface="Arial" pitchFamily="34" charset="0"/>
                <a:ea typeface="Arial" pitchFamily="34" charset="-122"/>
                <a:cs typeface="Arial" pitchFamily="34" charset="-120"/>
              </a:rPr>
              <a:t>Scale</a:t>
            </a:r>
            <a:endParaRPr lang="en-US" sz="1500" dirty="0"/>
          </a:p>
        </p:txBody>
      </p:sp>
      <p:sp>
        <p:nvSpPr>
          <p:cNvPr id="30" name="Text 27"/>
          <p:cNvSpPr txBox="1"/>
          <p:nvPr/>
        </p:nvSpPr>
        <p:spPr>
          <a:xfrm>
            <a:off x="9162288" y="3776472"/>
            <a:ext cx="2249424" cy="33832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Turned on for others, with readiness set to Validated.</a:t>
            </a:r>
            <a:endParaRPr lang="en-US" sz="1150" dirty="0"/>
          </a:p>
        </p:txBody>
      </p:sp>
      <p:sp>
        <p:nvSpPr>
          <p:cNvPr id="31" name="Text 28"/>
          <p:cNvSpPr txBox="1"/>
          <p:nvPr/>
        </p:nvSpPr>
        <p:spPr>
          <a:xfrm>
            <a:off x="457200" y="4526280"/>
            <a:ext cx="731520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EVERY CAPABILITY WE FORMALLY ADVANCE NEEDS</a:t>
            </a:r>
            <a:endParaRPr lang="en-US" sz="850" dirty="0"/>
          </a:p>
        </p:txBody>
      </p:sp>
      <p:sp>
        <p:nvSpPr>
          <p:cNvPr id="32" name="Shape 29"/>
          <p:cNvSpPr/>
          <p:nvPr/>
        </p:nvSpPr>
        <p:spPr>
          <a:xfrm>
            <a:off x="457200" y="4800600"/>
            <a:ext cx="2103120" cy="1005840"/>
          </a:xfrm>
          <a:prstGeom prst="roundRect">
            <a:avLst>
              <a:gd name="adj" fmla="val 7273"/>
            </a:avLst>
          </a:prstGeom>
          <a:solidFill>
            <a:srgbClr val="EAF1ED"/>
          </a:solidFill>
          <a:ln w="12700">
            <a:solidFill>
              <a:srgbClr val="2A654E"/>
            </a:solidFill>
            <a:prstDash val="solid"/>
          </a:ln>
        </p:spPr>
      </p:sp>
      <p:sp>
        <p:nvSpPr>
          <p:cNvPr id="33" name="Text 30"/>
          <p:cNvSpPr txBox="1"/>
          <p:nvPr/>
        </p:nvSpPr>
        <p:spPr>
          <a:xfrm>
            <a:off x="594360" y="4892040"/>
            <a:ext cx="1828800" cy="365760"/>
          </a:xfrm>
          <a:prstGeom prst="rect">
            <a:avLst/>
          </a:prstGeom>
          <a:noFill/>
          <a:ln/>
        </p:spPr>
        <p:txBody>
          <a:bodyPr wrap="square" lIns="0" tIns="0" rIns="0" bIns="0" rtlCol="0" anchor="ctr"/>
          <a:lstStyle/>
          <a:p>
            <a:pPr indent="0" marL="0">
              <a:buNone/>
            </a:pPr>
            <a:r>
              <a:rPr lang="en-US" sz="1300" b="1" dirty="0">
                <a:solidFill>
                  <a:srgbClr val="113A2A"/>
                </a:solidFill>
                <a:latin typeface="Arial" pitchFamily="34" charset="0"/>
                <a:ea typeface="Arial" pitchFamily="34" charset="-122"/>
                <a:cs typeface="Arial" pitchFamily="34" charset="-120"/>
              </a:rPr>
              <a:t>An owner</a:t>
            </a:r>
            <a:endParaRPr lang="en-US" sz="1300" dirty="0"/>
          </a:p>
        </p:txBody>
      </p:sp>
      <p:sp>
        <p:nvSpPr>
          <p:cNvPr id="34" name="Text 31"/>
          <p:cNvSpPr txBox="1"/>
          <p:nvPr/>
        </p:nvSpPr>
        <p:spPr>
          <a:xfrm>
            <a:off x="594360" y="5257800"/>
            <a:ext cx="1828800" cy="45720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accountable for it</a:t>
            </a:r>
            <a:endParaRPr lang="en-US" sz="1100" dirty="0"/>
          </a:p>
        </p:txBody>
      </p:sp>
      <p:sp>
        <p:nvSpPr>
          <p:cNvPr id="35" name="Shape 32"/>
          <p:cNvSpPr/>
          <p:nvPr/>
        </p:nvSpPr>
        <p:spPr>
          <a:xfrm>
            <a:off x="2743200" y="4800600"/>
            <a:ext cx="2103120" cy="1005840"/>
          </a:xfrm>
          <a:prstGeom prst="roundRect">
            <a:avLst>
              <a:gd name="adj" fmla="val 7273"/>
            </a:avLst>
          </a:prstGeom>
          <a:solidFill>
            <a:srgbClr val="EAF1ED"/>
          </a:solidFill>
          <a:ln w="12700">
            <a:solidFill>
              <a:srgbClr val="2A654E"/>
            </a:solidFill>
            <a:prstDash val="solid"/>
          </a:ln>
        </p:spPr>
      </p:sp>
      <p:sp>
        <p:nvSpPr>
          <p:cNvPr id="36" name="Text 33"/>
          <p:cNvSpPr txBox="1"/>
          <p:nvPr/>
        </p:nvSpPr>
        <p:spPr>
          <a:xfrm>
            <a:off x="2880360" y="4892040"/>
            <a:ext cx="1828800" cy="365760"/>
          </a:xfrm>
          <a:prstGeom prst="rect">
            <a:avLst/>
          </a:prstGeom>
          <a:noFill/>
          <a:ln/>
        </p:spPr>
        <p:txBody>
          <a:bodyPr wrap="square" lIns="0" tIns="0" rIns="0" bIns="0" rtlCol="0" anchor="ctr"/>
          <a:lstStyle/>
          <a:p>
            <a:pPr indent="0" marL="0">
              <a:buNone/>
            </a:pPr>
            <a:r>
              <a:rPr lang="en-US" sz="1300" b="1" dirty="0">
                <a:solidFill>
                  <a:srgbClr val="113A2A"/>
                </a:solidFill>
                <a:latin typeface="Arial" pitchFamily="34" charset="0"/>
                <a:ea typeface="Arial" pitchFamily="34" charset="-122"/>
                <a:cs typeface="Arial" pitchFamily="34" charset="-120"/>
              </a:rPr>
              <a:t>Defined boundaries</a:t>
            </a:r>
            <a:endParaRPr lang="en-US" sz="1300" dirty="0"/>
          </a:p>
        </p:txBody>
      </p:sp>
      <p:sp>
        <p:nvSpPr>
          <p:cNvPr id="37" name="Text 34"/>
          <p:cNvSpPr txBox="1"/>
          <p:nvPr/>
        </p:nvSpPr>
        <p:spPr>
          <a:xfrm>
            <a:off x="2880360" y="5257800"/>
            <a:ext cx="1828800" cy="45720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what it does and does not do</a:t>
            </a:r>
            <a:endParaRPr lang="en-US" sz="1100" dirty="0"/>
          </a:p>
        </p:txBody>
      </p:sp>
      <p:sp>
        <p:nvSpPr>
          <p:cNvPr id="38" name="Shape 35"/>
          <p:cNvSpPr/>
          <p:nvPr/>
        </p:nvSpPr>
        <p:spPr>
          <a:xfrm>
            <a:off x="5029200" y="4800600"/>
            <a:ext cx="2103120" cy="1005840"/>
          </a:xfrm>
          <a:prstGeom prst="roundRect">
            <a:avLst>
              <a:gd name="adj" fmla="val 7273"/>
            </a:avLst>
          </a:prstGeom>
          <a:solidFill>
            <a:srgbClr val="EAF1ED"/>
          </a:solidFill>
          <a:ln w="12700">
            <a:solidFill>
              <a:srgbClr val="2A654E"/>
            </a:solidFill>
            <a:prstDash val="solid"/>
          </a:ln>
        </p:spPr>
      </p:sp>
      <p:sp>
        <p:nvSpPr>
          <p:cNvPr id="39" name="Text 36"/>
          <p:cNvSpPr txBox="1"/>
          <p:nvPr/>
        </p:nvSpPr>
        <p:spPr>
          <a:xfrm>
            <a:off x="5166360" y="4892040"/>
            <a:ext cx="1828800" cy="365760"/>
          </a:xfrm>
          <a:prstGeom prst="rect">
            <a:avLst/>
          </a:prstGeom>
          <a:noFill/>
          <a:ln/>
        </p:spPr>
        <p:txBody>
          <a:bodyPr wrap="square" lIns="0" tIns="0" rIns="0" bIns="0" rtlCol="0" anchor="ctr"/>
          <a:lstStyle/>
          <a:p>
            <a:pPr indent="0" marL="0">
              <a:buNone/>
            </a:pPr>
            <a:r>
              <a:rPr lang="en-US" sz="1300" b="1" dirty="0">
                <a:solidFill>
                  <a:srgbClr val="113A2A"/>
                </a:solidFill>
                <a:latin typeface="Arial" pitchFamily="34" charset="0"/>
                <a:ea typeface="Arial" pitchFamily="34" charset="-122"/>
                <a:cs typeface="Arial" pitchFamily="34" charset="-120"/>
              </a:rPr>
              <a:t>Evidence of value</a:t>
            </a:r>
            <a:endParaRPr lang="en-US" sz="1300" dirty="0"/>
          </a:p>
        </p:txBody>
      </p:sp>
      <p:sp>
        <p:nvSpPr>
          <p:cNvPr id="40" name="Text 37"/>
          <p:cNvSpPr txBox="1"/>
          <p:nvPr/>
        </p:nvSpPr>
        <p:spPr>
          <a:xfrm>
            <a:off x="5166360" y="5257800"/>
            <a:ext cx="1828800" cy="45720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and of quality</a:t>
            </a:r>
            <a:endParaRPr lang="en-US" sz="1100" dirty="0"/>
          </a:p>
        </p:txBody>
      </p:sp>
      <p:sp>
        <p:nvSpPr>
          <p:cNvPr id="41" name="Shape 38"/>
          <p:cNvSpPr/>
          <p:nvPr/>
        </p:nvSpPr>
        <p:spPr>
          <a:xfrm>
            <a:off x="7315200" y="4800600"/>
            <a:ext cx="2103120" cy="1005840"/>
          </a:xfrm>
          <a:prstGeom prst="roundRect">
            <a:avLst>
              <a:gd name="adj" fmla="val 7273"/>
            </a:avLst>
          </a:prstGeom>
          <a:solidFill>
            <a:srgbClr val="EAF1ED"/>
          </a:solidFill>
          <a:ln w="12700">
            <a:solidFill>
              <a:srgbClr val="2A654E"/>
            </a:solidFill>
            <a:prstDash val="solid"/>
          </a:ln>
        </p:spPr>
      </p:sp>
      <p:sp>
        <p:nvSpPr>
          <p:cNvPr id="42" name="Text 39"/>
          <p:cNvSpPr txBox="1"/>
          <p:nvPr/>
        </p:nvSpPr>
        <p:spPr>
          <a:xfrm>
            <a:off x="7452360" y="4892040"/>
            <a:ext cx="1828800" cy="365760"/>
          </a:xfrm>
          <a:prstGeom prst="rect">
            <a:avLst/>
          </a:prstGeom>
          <a:noFill/>
          <a:ln/>
        </p:spPr>
        <p:txBody>
          <a:bodyPr wrap="square" lIns="0" tIns="0" rIns="0" bIns="0" rtlCol="0" anchor="ctr"/>
          <a:lstStyle/>
          <a:p>
            <a:pPr indent="0" marL="0">
              <a:buNone/>
            </a:pPr>
            <a:r>
              <a:rPr lang="en-US" sz="1300" b="1" dirty="0">
                <a:solidFill>
                  <a:srgbClr val="113A2A"/>
                </a:solidFill>
                <a:latin typeface="Arial" pitchFamily="34" charset="0"/>
                <a:ea typeface="Arial" pitchFamily="34" charset="-122"/>
                <a:cs typeface="Arial" pitchFamily="34" charset="-120"/>
              </a:rPr>
              <a:t>Adoption</a:t>
            </a:r>
            <a:endParaRPr lang="en-US" sz="1300" dirty="0"/>
          </a:p>
        </p:txBody>
      </p:sp>
      <p:sp>
        <p:nvSpPr>
          <p:cNvPr id="43" name="Text 40"/>
          <p:cNvSpPr txBox="1"/>
          <p:nvPr/>
        </p:nvSpPr>
        <p:spPr>
          <a:xfrm>
            <a:off x="7452360" y="5257800"/>
            <a:ext cx="1828800" cy="45720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sustained, unprompted use</a:t>
            </a:r>
            <a:endParaRPr lang="en-US" sz="1100" dirty="0"/>
          </a:p>
        </p:txBody>
      </p:sp>
      <p:sp>
        <p:nvSpPr>
          <p:cNvPr id="44" name="Shape 41"/>
          <p:cNvSpPr/>
          <p:nvPr/>
        </p:nvSpPr>
        <p:spPr>
          <a:xfrm>
            <a:off x="9601200" y="4800600"/>
            <a:ext cx="2103120" cy="1005840"/>
          </a:xfrm>
          <a:prstGeom prst="roundRect">
            <a:avLst>
              <a:gd name="adj" fmla="val 7273"/>
            </a:avLst>
          </a:prstGeom>
          <a:solidFill>
            <a:srgbClr val="EAF1ED"/>
          </a:solidFill>
          <a:ln w="12700">
            <a:solidFill>
              <a:srgbClr val="2A654E"/>
            </a:solidFill>
            <a:prstDash val="solid"/>
          </a:ln>
        </p:spPr>
      </p:sp>
      <p:sp>
        <p:nvSpPr>
          <p:cNvPr id="45" name="Text 42"/>
          <p:cNvSpPr txBox="1"/>
          <p:nvPr/>
        </p:nvSpPr>
        <p:spPr>
          <a:xfrm>
            <a:off x="9738360" y="4892040"/>
            <a:ext cx="1828800" cy="365760"/>
          </a:xfrm>
          <a:prstGeom prst="rect">
            <a:avLst/>
          </a:prstGeom>
          <a:noFill/>
          <a:ln/>
        </p:spPr>
        <p:txBody>
          <a:bodyPr wrap="square" lIns="0" tIns="0" rIns="0" bIns="0" rtlCol="0" anchor="ctr"/>
          <a:lstStyle/>
          <a:p>
            <a:pPr indent="0" marL="0">
              <a:buNone/>
            </a:pPr>
            <a:r>
              <a:rPr lang="en-US" sz="1300" b="1" dirty="0">
                <a:solidFill>
                  <a:srgbClr val="113A2A"/>
                </a:solidFill>
                <a:latin typeface="Arial" pitchFamily="34" charset="0"/>
                <a:ea typeface="Arial" pitchFamily="34" charset="-122"/>
                <a:cs typeface="Arial" pitchFamily="34" charset="-120"/>
              </a:rPr>
              <a:t>Acceptable risk</a:t>
            </a:r>
            <a:endParaRPr lang="en-US" sz="1300" dirty="0"/>
          </a:p>
        </p:txBody>
      </p:sp>
      <p:sp>
        <p:nvSpPr>
          <p:cNvPr id="46" name="Text 43"/>
          <p:cNvSpPr txBox="1"/>
          <p:nvPr/>
        </p:nvSpPr>
        <p:spPr>
          <a:xfrm>
            <a:off x="9738360" y="5257800"/>
            <a:ext cx="1828800" cy="45720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reviewed and understood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9</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The workspace is where governance becomes part of everyday delivery</a:t>
            </a:r>
            <a:endParaRPr lang="en-US" sz="3000" dirty="0"/>
          </a:p>
        </p:txBody>
      </p:sp>
      <p:sp>
        <p:nvSpPr>
          <p:cNvPr id="7" name="Text 4"/>
          <p:cNvSpPr txBox="1"/>
          <p:nvPr/>
        </p:nvSpPr>
        <p:spPr>
          <a:xfrm>
            <a:off x="457200" y="1783080"/>
            <a:ext cx="9601200" cy="640080"/>
          </a:xfrm>
          <a:prstGeom prst="rect">
            <a:avLst/>
          </a:prstGeom>
          <a:noFill/>
          <a:ln/>
        </p:spPr>
        <p:txBody>
          <a:bodyPr wrap="square" lIns="0" tIns="0" rIns="0" bIns="0" rtlCol="0" anchor="t"/>
          <a:lstStyle/>
          <a:p>
            <a:pPr indent="0" marL="0">
              <a:buNone/>
            </a:pPr>
            <a:r>
              <a:rPr lang="en-US" sz="1400" dirty="0">
                <a:solidFill>
                  <a:srgbClr val="6E6961"/>
                </a:solidFill>
                <a:latin typeface="Arial" pitchFamily="34" charset="0"/>
                <a:ea typeface="Arial" pitchFamily="34" charset="-122"/>
                <a:cs typeface="Arial" pitchFamily="34" charset="-120"/>
              </a:rPr>
              <a:t>Teams should know which capabilities are available for their engagement, whether each is experimental or validated, what information it uses, and what review is required.</a:t>
            </a:r>
            <a:endParaRPr lang="en-US" sz="1400" dirty="0"/>
          </a:p>
        </p:txBody>
      </p:sp>
      <p:sp>
        <p:nvSpPr>
          <p:cNvPr id="8" name="Text 5"/>
          <p:cNvSpPr txBox="1"/>
          <p:nvPr/>
        </p:nvSpPr>
        <p:spPr>
          <a:xfrm>
            <a:off x="457200" y="2606040"/>
            <a:ext cx="548640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ALREADY IN PLACE</a:t>
            </a:r>
            <a:endParaRPr lang="en-US" sz="850" dirty="0"/>
          </a:p>
        </p:txBody>
      </p:sp>
      <p:sp>
        <p:nvSpPr>
          <p:cNvPr id="9" name="Shape 6"/>
          <p:cNvSpPr/>
          <p:nvPr/>
        </p:nvSpPr>
        <p:spPr>
          <a:xfrm>
            <a:off x="457200" y="2852928"/>
            <a:ext cx="2743200" cy="1261872"/>
          </a:xfrm>
          <a:prstGeom prst="roundRect">
            <a:avLst>
              <a:gd name="adj" fmla="val 7246"/>
            </a:avLst>
          </a:prstGeom>
          <a:solidFill>
            <a:srgbClr val="FFFFFF"/>
          </a:solidFill>
          <a:ln w="12700">
            <a:solidFill>
              <a:srgbClr val="E4E2DE"/>
            </a:solidFill>
            <a:prstDash val="solid"/>
          </a:ln>
        </p:spPr>
      </p:sp>
      <p:sp>
        <p:nvSpPr>
          <p:cNvPr id="10" name="Text 7"/>
          <p:cNvSpPr txBox="1"/>
          <p:nvPr/>
        </p:nvSpPr>
        <p:spPr>
          <a:xfrm>
            <a:off x="658368" y="3035808"/>
            <a:ext cx="2340864" cy="365760"/>
          </a:xfrm>
          <a:prstGeom prst="rect">
            <a:avLst/>
          </a:prstGeom>
          <a:noFill/>
          <a:ln/>
        </p:spPr>
        <p:txBody>
          <a:bodyPr wrap="square" lIns="0" tIns="0" rIns="0" bIns="0" rtlCol="0" anchor="t"/>
          <a:lstStyle/>
          <a:p>
            <a:pPr indent="0" marL="0">
              <a:buNone/>
            </a:pPr>
            <a:r>
              <a:rPr lang="en-US" sz="1250" b="1" dirty="0">
                <a:solidFill>
                  <a:srgbClr val="113A2A"/>
                </a:solidFill>
                <a:latin typeface="Arial" pitchFamily="34" charset="0"/>
                <a:ea typeface="Arial" pitchFamily="34" charset="-122"/>
                <a:cs typeface="Arial" pitchFamily="34" charset="-120"/>
              </a:rPr>
              <a:t>Named approval records</a:t>
            </a:r>
            <a:endParaRPr lang="en-US" sz="1250" dirty="0"/>
          </a:p>
        </p:txBody>
      </p:sp>
      <p:sp>
        <p:nvSpPr>
          <p:cNvPr id="11" name="Text 8"/>
          <p:cNvSpPr txBox="1"/>
          <p:nvPr/>
        </p:nvSpPr>
        <p:spPr>
          <a:xfrm>
            <a:off x="658368" y="3401568"/>
            <a:ext cx="2340864" cy="576072"/>
          </a:xfrm>
          <a:prstGeom prst="rect">
            <a:avLst/>
          </a:prstGeom>
          <a:noFill/>
          <a:ln/>
        </p:spPr>
        <p:txBody>
          <a:bodyPr wrap="square" lIns="0" tIns="0" rIns="0" bIns="0" rtlCol="0" anchor="t"/>
          <a:lstStyle/>
          <a:p>
            <a:pPr indent="0" marL="0">
              <a:buNone/>
            </a:pPr>
            <a:r>
              <a:rPr lang="en-US" sz="1050" dirty="0">
                <a:solidFill>
                  <a:srgbClr val="6E6961"/>
                </a:solidFill>
                <a:latin typeface="Arial" pitchFamily="34" charset="0"/>
                <a:ea typeface="Arial" pitchFamily="34" charset="-122"/>
                <a:cs typeface="Arial" pitchFamily="34" charset="-120"/>
              </a:rPr>
              <a:t>Every approved status carries the reviewer's name, email and time.</a:t>
            </a:r>
            <a:endParaRPr lang="en-US" sz="1050" dirty="0"/>
          </a:p>
        </p:txBody>
      </p:sp>
      <p:sp>
        <p:nvSpPr>
          <p:cNvPr id="12" name="Shape 9"/>
          <p:cNvSpPr/>
          <p:nvPr/>
        </p:nvSpPr>
        <p:spPr>
          <a:xfrm>
            <a:off x="3310128" y="2852928"/>
            <a:ext cx="2743200" cy="1261872"/>
          </a:xfrm>
          <a:prstGeom prst="roundRect">
            <a:avLst>
              <a:gd name="adj" fmla="val 7246"/>
            </a:avLst>
          </a:prstGeom>
          <a:solidFill>
            <a:srgbClr val="FFFFFF"/>
          </a:solidFill>
          <a:ln w="12700">
            <a:solidFill>
              <a:srgbClr val="E4E2DE"/>
            </a:solidFill>
            <a:prstDash val="solid"/>
          </a:ln>
        </p:spPr>
      </p:sp>
      <p:sp>
        <p:nvSpPr>
          <p:cNvPr id="13" name="Text 10"/>
          <p:cNvSpPr txBox="1"/>
          <p:nvPr/>
        </p:nvSpPr>
        <p:spPr>
          <a:xfrm>
            <a:off x="3511296" y="3035808"/>
            <a:ext cx="2340864" cy="365760"/>
          </a:xfrm>
          <a:prstGeom prst="rect">
            <a:avLst/>
          </a:prstGeom>
          <a:noFill/>
          <a:ln/>
        </p:spPr>
        <p:txBody>
          <a:bodyPr wrap="square" lIns="0" tIns="0" rIns="0" bIns="0" rtlCol="0" anchor="t"/>
          <a:lstStyle/>
          <a:p>
            <a:pPr indent="0" marL="0">
              <a:buNone/>
            </a:pPr>
            <a:r>
              <a:rPr lang="en-US" sz="1250" b="1" dirty="0">
                <a:solidFill>
                  <a:srgbClr val="113A2A"/>
                </a:solidFill>
                <a:latin typeface="Arial" pitchFamily="34" charset="0"/>
                <a:ea typeface="Arial" pitchFamily="34" charset="-122"/>
                <a:cs typeface="Arial" pitchFamily="34" charset="-120"/>
              </a:rPr>
              <a:t>Visible source gaps</a:t>
            </a:r>
            <a:endParaRPr lang="en-US" sz="1250" dirty="0"/>
          </a:p>
        </p:txBody>
      </p:sp>
      <p:sp>
        <p:nvSpPr>
          <p:cNvPr id="14" name="Text 11"/>
          <p:cNvSpPr txBox="1"/>
          <p:nvPr/>
        </p:nvSpPr>
        <p:spPr>
          <a:xfrm>
            <a:off x="3511296" y="3401568"/>
            <a:ext cx="2340864" cy="576072"/>
          </a:xfrm>
          <a:prstGeom prst="rect">
            <a:avLst/>
          </a:prstGeom>
          <a:noFill/>
          <a:ln/>
        </p:spPr>
        <p:txBody>
          <a:bodyPr wrap="square" lIns="0" tIns="0" rIns="0" bIns="0" rtlCol="0" anchor="t"/>
          <a:lstStyle/>
          <a:p>
            <a:pPr indent="0" marL="0">
              <a:buNone/>
            </a:pPr>
            <a:r>
              <a:rPr lang="en-US" sz="1050" dirty="0">
                <a:solidFill>
                  <a:srgbClr val="6E6961"/>
                </a:solidFill>
                <a:latin typeface="Arial" pitchFamily="34" charset="0"/>
                <a:ea typeface="Arial" pitchFamily="34" charset="-122"/>
                <a:cs typeface="Arial" pitchFamily="34" charset="-120"/>
              </a:rPr>
              <a:t>A missing source or an unknown date is shown, recorded with the deck, and never turned Green.</a:t>
            </a:r>
            <a:endParaRPr lang="en-US" sz="1050" dirty="0"/>
          </a:p>
        </p:txBody>
      </p:sp>
      <p:sp>
        <p:nvSpPr>
          <p:cNvPr id="15" name="Shape 12"/>
          <p:cNvSpPr/>
          <p:nvPr/>
        </p:nvSpPr>
        <p:spPr>
          <a:xfrm>
            <a:off x="457200" y="4224528"/>
            <a:ext cx="2743200" cy="1261872"/>
          </a:xfrm>
          <a:prstGeom prst="roundRect">
            <a:avLst>
              <a:gd name="adj" fmla="val 7246"/>
            </a:avLst>
          </a:prstGeom>
          <a:solidFill>
            <a:srgbClr val="FFFFFF"/>
          </a:solidFill>
          <a:ln w="12700">
            <a:solidFill>
              <a:srgbClr val="E4E2DE"/>
            </a:solidFill>
            <a:prstDash val="solid"/>
          </a:ln>
        </p:spPr>
      </p:sp>
      <p:sp>
        <p:nvSpPr>
          <p:cNvPr id="16" name="Text 13"/>
          <p:cNvSpPr txBox="1"/>
          <p:nvPr/>
        </p:nvSpPr>
        <p:spPr>
          <a:xfrm>
            <a:off x="658368" y="4407408"/>
            <a:ext cx="2340864" cy="365760"/>
          </a:xfrm>
          <a:prstGeom prst="rect">
            <a:avLst/>
          </a:prstGeom>
          <a:noFill/>
          <a:ln/>
        </p:spPr>
        <p:txBody>
          <a:bodyPr wrap="square" lIns="0" tIns="0" rIns="0" bIns="0" rtlCol="0" anchor="t"/>
          <a:lstStyle/>
          <a:p>
            <a:pPr indent="0" marL="0">
              <a:buNone/>
            </a:pPr>
            <a:r>
              <a:rPr lang="en-US" sz="1250" b="1" dirty="0">
                <a:solidFill>
                  <a:srgbClr val="113A2A"/>
                </a:solidFill>
                <a:latin typeface="Arial" pitchFamily="34" charset="0"/>
                <a:ea typeface="Arial" pitchFamily="34" charset="-122"/>
                <a:cs typeface="Arial" pitchFamily="34" charset="-120"/>
              </a:rPr>
              <a:t>Readiness labels</a:t>
            </a:r>
            <a:endParaRPr lang="en-US" sz="1250" dirty="0"/>
          </a:p>
        </p:txBody>
      </p:sp>
      <p:sp>
        <p:nvSpPr>
          <p:cNvPr id="17" name="Text 14"/>
          <p:cNvSpPr txBox="1"/>
          <p:nvPr/>
        </p:nvSpPr>
        <p:spPr>
          <a:xfrm>
            <a:off x="658368" y="4773168"/>
            <a:ext cx="2340864" cy="576072"/>
          </a:xfrm>
          <a:prstGeom prst="rect">
            <a:avLst/>
          </a:prstGeom>
          <a:noFill/>
          <a:ln/>
        </p:spPr>
        <p:txBody>
          <a:bodyPr wrap="square" lIns="0" tIns="0" rIns="0" bIns="0" rtlCol="0" anchor="t"/>
          <a:lstStyle/>
          <a:p>
            <a:pPr indent="0" marL="0">
              <a:buNone/>
            </a:pPr>
            <a:r>
              <a:rPr lang="en-US" sz="1050" dirty="0">
                <a:solidFill>
                  <a:srgbClr val="6E6961"/>
                </a:solidFill>
                <a:latin typeface="Arial" pitchFamily="34" charset="0"/>
                <a:ea typeface="Arial" pitchFamily="34" charset="-122"/>
                <a:cs typeface="Arial" pitchFamily="34" charset="-120"/>
              </a:rPr>
              <a:t>Piloted, Experimental, Validated, on every capability in the catalog.</a:t>
            </a:r>
            <a:endParaRPr lang="en-US" sz="1050" dirty="0"/>
          </a:p>
        </p:txBody>
      </p:sp>
      <p:sp>
        <p:nvSpPr>
          <p:cNvPr id="18" name="Shape 15"/>
          <p:cNvSpPr/>
          <p:nvPr/>
        </p:nvSpPr>
        <p:spPr>
          <a:xfrm>
            <a:off x="3310128" y="4224528"/>
            <a:ext cx="2743200" cy="1261872"/>
          </a:xfrm>
          <a:prstGeom prst="roundRect">
            <a:avLst>
              <a:gd name="adj" fmla="val 7246"/>
            </a:avLst>
          </a:prstGeom>
          <a:solidFill>
            <a:srgbClr val="FFFFFF"/>
          </a:solidFill>
          <a:ln w="12700">
            <a:solidFill>
              <a:srgbClr val="E4E2DE"/>
            </a:solidFill>
            <a:prstDash val="solid"/>
          </a:ln>
        </p:spPr>
      </p:sp>
      <p:sp>
        <p:nvSpPr>
          <p:cNvPr id="19" name="Text 16"/>
          <p:cNvSpPr txBox="1"/>
          <p:nvPr/>
        </p:nvSpPr>
        <p:spPr>
          <a:xfrm>
            <a:off x="3511296" y="4407408"/>
            <a:ext cx="2340864" cy="365760"/>
          </a:xfrm>
          <a:prstGeom prst="rect">
            <a:avLst/>
          </a:prstGeom>
          <a:noFill/>
          <a:ln/>
        </p:spPr>
        <p:txBody>
          <a:bodyPr wrap="square" lIns="0" tIns="0" rIns="0" bIns="0" rtlCol="0" anchor="t"/>
          <a:lstStyle/>
          <a:p>
            <a:pPr indent="0" marL="0">
              <a:buNone/>
            </a:pPr>
            <a:r>
              <a:rPr lang="en-US" sz="1250" b="1" dirty="0">
                <a:solidFill>
                  <a:srgbClr val="113A2A"/>
                </a:solidFill>
                <a:latin typeface="Arial" pitchFamily="34" charset="0"/>
                <a:ea typeface="Arial" pitchFamily="34" charset="-122"/>
                <a:cs typeface="Arial" pitchFamily="34" charset="-120"/>
              </a:rPr>
              <a:t>Pilot measures</a:t>
            </a:r>
            <a:endParaRPr lang="en-US" sz="1250" dirty="0"/>
          </a:p>
        </p:txBody>
      </p:sp>
      <p:sp>
        <p:nvSpPr>
          <p:cNvPr id="20" name="Text 17"/>
          <p:cNvSpPr txBox="1"/>
          <p:nvPr/>
        </p:nvSpPr>
        <p:spPr>
          <a:xfrm>
            <a:off x="3511296" y="4773168"/>
            <a:ext cx="2340864" cy="576072"/>
          </a:xfrm>
          <a:prstGeom prst="rect">
            <a:avLst/>
          </a:prstGeom>
          <a:noFill/>
          <a:ln/>
        </p:spPr>
        <p:txBody>
          <a:bodyPr wrap="square" lIns="0" tIns="0" rIns="0" bIns="0" rtlCol="0" anchor="t"/>
          <a:lstStyle/>
          <a:p>
            <a:pPr indent="0" marL="0">
              <a:buNone/>
            </a:pPr>
            <a:r>
              <a:rPr lang="en-US" sz="1050" dirty="0">
                <a:solidFill>
                  <a:srgbClr val="6E6961"/>
                </a:solidFill>
                <a:latin typeface="Arial" pitchFamily="34" charset="0"/>
                <a:ea typeface="Arial" pitchFamily="34" charset="-122"/>
                <a:cs typeface="Arial" pitchFamily="34" charset="-120"/>
              </a:rPr>
              <a:t>Time to approval, corrections to the draft, assessments overridden, errors after approval, adoption.</a:t>
            </a:r>
            <a:endParaRPr lang="en-US" sz="1050" dirty="0"/>
          </a:p>
        </p:txBody>
      </p:sp>
      <p:sp>
        <p:nvSpPr>
          <p:cNvPr id="21" name="Text 18"/>
          <p:cNvSpPr txBox="1"/>
          <p:nvPr/>
        </p:nvSpPr>
        <p:spPr>
          <a:xfrm>
            <a:off x="6400800" y="2606040"/>
            <a:ext cx="548640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GOVERNANCE CONTINUES AFTER RELEASE</a:t>
            </a:r>
            <a:endParaRPr lang="en-US" sz="850" dirty="0"/>
          </a:p>
        </p:txBody>
      </p:sp>
      <p:sp>
        <p:nvSpPr>
          <p:cNvPr id="22" name="Shape 19"/>
          <p:cNvSpPr/>
          <p:nvPr/>
        </p:nvSpPr>
        <p:spPr>
          <a:xfrm>
            <a:off x="6400800" y="2852928"/>
            <a:ext cx="5330952" cy="2633472"/>
          </a:xfrm>
          <a:prstGeom prst="roundRect">
            <a:avLst>
              <a:gd name="adj" fmla="val 3472"/>
            </a:avLst>
          </a:prstGeom>
          <a:solidFill>
            <a:srgbClr val="EAF1ED"/>
          </a:solidFill>
          <a:ln w="12700">
            <a:solidFill>
              <a:srgbClr val="2A654E"/>
            </a:solidFill>
            <a:prstDash val="solid"/>
          </a:ln>
        </p:spPr>
      </p:sp>
      <p:sp>
        <p:nvSpPr>
          <p:cNvPr id="23" name="Text 20"/>
          <p:cNvSpPr txBox="1"/>
          <p:nvPr/>
        </p:nvSpPr>
        <p:spPr>
          <a:xfrm>
            <a:off x="6629400" y="3017520"/>
            <a:ext cx="4937760" cy="1554480"/>
          </a:xfrm>
          <a:prstGeom prst="rect">
            <a:avLst/>
          </a:prstGeom>
          <a:noFill/>
          <a:ln/>
        </p:spPr>
        <p:txBody>
          <a:bodyPr wrap="square" rtlCol="0" anchor="t"/>
          <a:lstStyle/>
          <a:p>
            <a:pPr marL="342900" indent="-342900">
              <a:spcAft>
                <a:spcPts val="600"/>
              </a:spcAft>
              <a:buSzPct val="100000"/>
              <a:buChar char="•"/>
            </a:pPr>
            <a:r>
              <a:rPr lang="en-US" sz="1250" dirty="0">
                <a:solidFill>
                  <a:srgbClr val="113A2A"/>
                </a:solidFill>
                <a:latin typeface="Arial" pitchFamily="34" charset="0"/>
                <a:ea typeface="Arial" pitchFamily="34" charset="-122"/>
                <a:cs typeface="Arial" pitchFamily="34" charset="-120"/>
              </a:rPr>
              <a:t>Where people use a capability, and where they do not</a:t>
            </a:r>
            <a:endParaRPr lang="en-US" sz="1250" dirty="0"/>
          </a:p>
          <a:p>
            <a:pPr marL="342900" indent="-342900">
              <a:spcAft>
                <a:spcPts val="600"/>
              </a:spcAft>
              <a:buSzPct val="100000"/>
              <a:buChar char="•"/>
            </a:pPr>
            <a:r>
              <a:rPr lang="en-US" sz="1250" dirty="0">
                <a:solidFill>
                  <a:srgbClr val="113A2A"/>
                </a:solidFill>
                <a:latin typeface="Arial" pitchFamily="34" charset="0"/>
                <a:ea typeface="Arial" pitchFamily="34" charset="-122"/>
                <a:cs typeface="Arial" pitchFamily="34" charset="-120"/>
              </a:rPr>
              <a:t>What they correct, and how often</a:t>
            </a:r>
            <a:endParaRPr lang="en-US" sz="1250" dirty="0"/>
          </a:p>
          <a:p>
            <a:pPr marL="342900" indent="-342900">
              <a:spcAft>
                <a:spcPts val="600"/>
              </a:spcAft>
              <a:buSzPct val="100000"/>
              <a:buChar char="•"/>
            </a:pPr>
            <a:r>
              <a:rPr lang="en-US" sz="1250" dirty="0">
                <a:solidFill>
                  <a:srgbClr val="113A2A"/>
                </a:solidFill>
                <a:latin typeface="Arial" pitchFamily="34" charset="0"/>
                <a:ea typeface="Arial" pitchFamily="34" charset="-122"/>
                <a:cs typeface="Arial" pitchFamily="34" charset="-120"/>
              </a:rPr>
              <a:t>What issues arise after approval</a:t>
            </a:r>
            <a:endParaRPr lang="en-US" sz="1250" dirty="0"/>
          </a:p>
          <a:p>
            <a:pPr marL="342900" indent="-342900">
              <a:spcAft>
                <a:spcPts val="600"/>
              </a:spcAft>
              <a:buSzPct val="100000"/>
              <a:buChar char="•"/>
            </a:pPr>
            <a:r>
              <a:rPr lang="en-US" sz="1250" dirty="0">
                <a:solidFill>
                  <a:srgbClr val="113A2A"/>
                </a:solidFill>
                <a:latin typeface="Arial" pitchFamily="34" charset="0"/>
                <a:ea typeface="Arial" pitchFamily="34" charset="-122"/>
                <a:cs typeface="Arial" pitchFamily="34" charset="-120"/>
              </a:rPr>
              <a:t>Whether the workflow is getting better week over week</a:t>
            </a:r>
            <a:endParaRPr lang="en-US" sz="1250" dirty="0"/>
          </a:p>
        </p:txBody>
      </p:sp>
      <p:sp>
        <p:nvSpPr>
          <p:cNvPr id="24" name="Text 21"/>
          <p:cNvSpPr txBox="1"/>
          <p:nvPr/>
        </p:nvSpPr>
        <p:spPr>
          <a:xfrm>
            <a:off x="6629400" y="4572000"/>
            <a:ext cx="4937760" cy="822960"/>
          </a:xfrm>
          <a:prstGeom prst="rect">
            <a:avLst/>
          </a:prstGeom>
          <a:noFill/>
          <a:ln/>
        </p:spPr>
        <p:txBody>
          <a:bodyPr wrap="square" lIns="0" tIns="0" rIns="0" bIns="0" rtlCol="0" anchor="ctr"/>
          <a:lstStyle/>
          <a:p>
            <a:pPr indent="0" marL="0">
              <a:buNone/>
            </a:pPr>
            <a:r>
              <a:rPr lang="en-US" sz="1150" dirty="0">
                <a:solidFill>
                  <a:srgbClr val="6E6961"/>
                </a:solidFill>
                <a:latin typeface="Arial" pitchFamily="34" charset="0"/>
                <a:ea typeface="Arial" pitchFamily="34" charset="-122"/>
                <a:cs typeface="Arial" pitchFamily="34" charset="-120"/>
              </a:rPr>
              <a:t>That evidence lets us refine capabilities, expand the successful ones, or withdraw those that do not meet expectations. We will strengthen enforcement and oversight as adoption grows.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3A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FFFFFF"/>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B7C9BF"/>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B7C9BF"/>
                </a:solidFill>
                <a:latin typeface="Arial" pitchFamily="34" charset="0"/>
                <a:ea typeface="Arial" pitchFamily="34" charset="-122"/>
                <a:cs typeface="Arial" pitchFamily="34" charset="-120"/>
              </a:rPr>
              <a:t>10</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What makes this Karta's is how we combine AI with our delivery expertise</a:t>
            </a:r>
            <a:endParaRPr lang="en-US" sz="3000" dirty="0"/>
          </a:p>
        </p:txBody>
      </p:sp>
      <p:sp>
        <p:nvSpPr>
          <p:cNvPr id="7" name="Shape 4"/>
          <p:cNvSpPr/>
          <p:nvPr/>
        </p:nvSpPr>
        <p:spPr>
          <a:xfrm>
            <a:off x="457200" y="2011680"/>
            <a:ext cx="5577840" cy="1280160"/>
          </a:xfrm>
          <a:prstGeom prst="roundRect">
            <a:avLst>
              <a:gd name="adj" fmla="val 7143"/>
            </a:avLst>
          </a:prstGeom>
          <a:solidFill>
            <a:srgbClr val="1A4A37"/>
          </a:solidFill>
          <a:ln w="12700">
            <a:solidFill>
              <a:srgbClr val="2F6B4E"/>
            </a:solidFill>
            <a:prstDash val="solid"/>
          </a:ln>
        </p:spPr>
      </p:sp>
      <p:sp>
        <p:nvSpPr>
          <p:cNvPr id="8" name="Text 5"/>
          <p:cNvSpPr txBox="1"/>
          <p:nvPr/>
        </p:nvSpPr>
        <p:spPr>
          <a:xfrm>
            <a:off x="658368" y="2176272"/>
            <a:ext cx="521208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Our methodology shapes the capabilities</a:t>
            </a:r>
            <a:endParaRPr lang="en-US" sz="1400" dirty="0"/>
          </a:p>
        </p:txBody>
      </p:sp>
      <p:sp>
        <p:nvSpPr>
          <p:cNvPr id="9" name="Text 6"/>
          <p:cNvSpPr txBox="1"/>
          <p:nvPr/>
        </p:nvSpPr>
        <p:spPr>
          <a:xfrm>
            <a:off x="658368" y="2560320"/>
            <a:ext cx="5212080" cy="685800"/>
          </a:xfrm>
          <a:prstGeom prst="rect">
            <a:avLst/>
          </a:prstGeom>
          <a:noFill/>
          <a:ln/>
        </p:spPr>
        <p:txBody>
          <a:bodyPr wrap="square" lIns="0" tIns="0" rIns="0" bIns="0" rtlCol="0" anchor="ctr"/>
          <a:lstStyle/>
          <a:p>
            <a:pPr indent="0" marL="0">
              <a:buNone/>
            </a:pPr>
            <a:r>
              <a:rPr lang="en-US" sz="1150" dirty="0">
                <a:solidFill>
                  <a:srgbClr val="D6E2DB"/>
                </a:solidFill>
                <a:latin typeface="Arial" pitchFamily="34" charset="0"/>
                <a:ea typeface="Arial" pitchFamily="34" charset="-122"/>
                <a:cs typeface="Arial" pitchFamily="34" charset="-120"/>
              </a:rPr>
              <a:t>The seven-stage lifecycle, our templates and our review practices decide how each capability works, not the other way round.</a:t>
            </a:r>
            <a:endParaRPr lang="en-US" sz="1150" dirty="0"/>
          </a:p>
        </p:txBody>
      </p:sp>
      <p:sp>
        <p:nvSpPr>
          <p:cNvPr id="10" name="Shape 7"/>
          <p:cNvSpPr/>
          <p:nvPr/>
        </p:nvSpPr>
        <p:spPr>
          <a:xfrm>
            <a:off x="6126480" y="2011680"/>
            <a:ext cx="5577840" cy="1280160"/>
          </a:xfrm>
          <a:prstGeom prst="roundRect">
            <a:avLst>
              <a:gd name="adj" fmla="val 7143"/>
            </a:avLst>
          </a:prstGeom>
          <a:solidFill>
            <a:srgbClr val="1A4A37"/>
          </a:solidFill>
          <a:ln w="12700">
            <a:solidFill>
              <a:srgbClr val="2F6B4E"/>
            </a:solidFill>
            <a:prstDash val="solid"/>
          </a:ln>
        </p:spPr>
      </p:sp>
      <p:sp>
        <p:nvSpPr>
          <p:cNvPr id="11" name="Text 8"/>
          <p:cNvSpPr txBox="1"/>
          <p:nvPr/>
        </p:nvSpPr>
        <p:spPr>
          <a:xfrm>
            <a:off x="6327648" y="2176272"/>
            <a:ext cx="521208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Established systems stay authoritative</a:t>
            </a:r>
            <a:endParaRPr lang="en-US" sz="1400" dirty="0"/>
          </a:p>
        </p:txBody>
      </p:sp>
      <p:sp>
        <p:nvSpPr>
          <p:cNvPr id="12" name="Text 9"/>
          <p:cNvSpPr txBox="1"/>
          <p:nvPr/>
        </p:nvSpPr>
        <p:spPr>
          <a:xfrm>
            <a:off x="6327648" y="2560320"/>
            <a:ext cx="5212080" cy="685800"/>
          </a:xfrm>
          <a:prstGeom prst="rect">
            <a:avLst/>
          </a:prstGeom>
          <a:noFill/>
          <a:ln/>
        </p:spPr>
        <p:txBody>
          <a:bodyPr wrap="square" lIns="0" tIns="0" rIns="0" bIns="0" rtlCol="0" anchor="ctr"/>
          <a:lstStyle/>
          <a:p>
            <a:pPr indent="0" marL="0">
              <a:buNone/>
            </a:pPr>
            <a:r>
              <a:rPr lang="en-US" sz="1150" dirty="0">
                <a:solidFill>
                  <a:srgbClr val="D6E2DB"/>
                </a:solidFill>
                <a:latin typeface="Arial" pitchFamily="34" charset="0"/>
                <a:ea typeface="Arial" pitchFamily="34" charset="-122"/>
                <a:cs typeface="Arial" pitchFamily="34" charset="-120"/>
              </a:rPr>
              <a:t>Asana, SharePoint and the rest remain the record. The workspace reads them as the person looking and never becomes a competing source of truth.</a:t>
            </a:r>
            <a:endParaRPr lang="en-US" sz="1150" dirty="0"/>
          </a:p>
        </p:txBody>
      </p:sp>
      <p:sp>
        <p:nvSpPr>
          <p:cNvPr id="13" name="Shape 10"/>
          <p:cNvSpPr/>
          <p:nvPr/>
        </p:nvSpPr>
        <p:spPr>
          <a:xfrm>
            <a:off x="457200" y="3429000"/>
            <a:ext cx="5577840" cy="1280160"/>
          </a:xfrm>
          <a:prstGeom prst="roundRect">
            <a:avLst>
              <a:gd name="adj" fmla="val 7143"/>
            </a:avLst>
          </a:prstGeom>
          <a:solidFill>
            <a:srgbClr val="1A4A37"/>
          </a:solidFill>
          <a:ln w="12700">
            <a:solidFill>
              <a:srgbClr val="2F6B4E"/>
            </a:solidFill>
            <a:prstDash val="solid"/>
          </a:ln>
        </p:spPr>
      </p:sp>
      <p:sp>
        <p:nvSpPr>
          <p:cNvPr id="14" name="Text 11"/>
          <p:cNvSpPr txBox="1"/>
          <p:nvPr/>
        </p:nvSpPr>
        <p:spPr>
          <a:xfrm>
            <a:off x="658368" y="3593592"/>
            <a:ext cx="521208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Missing evidence stays visible</a:t>
            </a:r>
            <a:endParaRPr lang="en-US" sz="1400" dirty="0"/>
          </a:p>
        </p:txBody>
      </p:sp>
      <p:sp>
        <p:nvSpPr>
          <p:cNvPr id="15" name="Text 12"/>
          <p:cNvSpPr txBox="1"/>
          <p:nvPr/>
        </p:nvSpPr>
        <p:spPr>
          <a:xfrm>
            <a:off x="658368" y="3977640"/>
            <a:ext cx="5212080" cy="685800"/>
          </a:xfrm>
          <a:prstGeom prst="rect">
            <a:avLst/>
          </a:prstGeom>
          <a:noFill/>
          <a:ln/>
        </p:spPr>
        <p:txBody>
          <a:bodyPr wrap="square" lIns="0" tIns="0" rIns="0" bIns="0" rtlCol="0" anchor="ctr"/>
          <a:lstStyle/>
          <a:p>
            <a:pPr indent="0" marL="0">
              <a:buNone/>
            </a:pPr>
            <a:r>
              <a:rPr lang="en-US" sz="1150" dirty="0">
                <a:solidFill>
                  <a:srgbClr val="D6E2DB"/>
                </a:solidFill>
                <a:latin typeface="Arial" pitchFamily="34" charset="0"/>
                <a:ea typeface="Arial" pitchFamily="34" charset="-122"/>
                <a:cs typeface="Arial" pitchFamily="34" charset="-120"/>
              </a:rPr>
              <a:t>Unknown is a status. A gap is recorded with the deck. Nothing defaults to good news.</a:t>
            </a:r>
            <a:endParaRPr lang="en-US" sz="1150" dirty="0"/>
          </a:p>
        </p:txBody>
      </p:sp>
      <p:sp>
        <p:nvSpPr>
          <p:cNvPr id="16" name="Shape 13"/>
          <p:cNvSpPr/>
          <p:nvPr/>
        </p:nvSpPr>
        <p:spPr>
          <a:xfrm>
            <a:off x="6126480" y="3429000"/>
            <a:ext cx="5577840" cy="1280160"/>
          </a:xfrm>
          <a:prstGeom prst="roundRect">
            <a:avLst>
              <a:gd name="adj" fmla="val 7143"/>
            </a:avLst>
          </a:prstGeom>
          <a:solidFill>
            <a:srgbClr val="1A4A37"/>
          </a:solidFill>
          <a:ln w="12700">
            <a:solidFill>
              <a:srgbClr val="2F6B4E"/>
            </a:solidFill>
            <a:prstDash val="solid"/>
          </a:ln>
        </p:spPr>
      </p:sp>
      <p:sp>
        <p:nvSpPr>
          <p:cNvPr id="17" name="Text 14"/>
          <p:cNvSpPr txBox="1"/>
          <p:nvPr/>
        </p:nvSpPr>
        <p:spPr>
          <a:xfrm>
            <a:off x="6327648" y="3593592"/>
            <a:ext cx="521208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People stay accountable</a:t>
            </a:r>
            <a:endParaRPr lang="en-US" sz="1400" dirty="0"/>
          </a:p>
        </p:txBody>
      </p:sp>
      <p:sp>
        <p:nvSpPr>
          <p:cNvPr id="18" name="Text 15"/>
          <p:cNvSpPr txBox="1"/>
          <p:nvPr/>
        </p:nvSpPr>
        <p:spPr>
          <a:xfrm>
            <a:off x="6327648" y="3977640"/>
            <a:ext cx="5212080" cy="685800"/>
          </a:xfrm>
          <a:prstGeom prst="rect">
            <a:avLst/>
          </a:prstGeom>
          <a:noFill/>
          <a:ln/>
        </p:spPr>
        <p:txBody>
          <a:bodyPr wrap="square" lIns="0" tIns="0" rIns="0" bIns="0" rtlCol="0" anchor="ctr"/>
          <a:lstStyle/>
          <a:p>
            <a:pPr indent="0" marL="0">
              <a:buNone/>
            </a:pPr>
            <a:r>
              <a:rPr lang="en-US" sz="1150" dirty="0">
                <a:solidFill>
                  <a:srgbClr val="D6E2DB"/>
                </a:solidFill>
                <a:latin typeface="Arial" pitchFamily="34" charset="0"/>
                <a:ea typeface="Arial" pitchFamily="34" charset="-122"/>
                <a:cs typeface="Arial" pitchFamily="34" charset="-120"/>
              </a:rPr>
              <a:t>A named reviewer approves every client-facing output. Software produces; people decide and send.</a:t>
            </a:r>
            <a:endParaRPr lang="en-US" sz="1150" dirty="0"/>
          </a:p>
        </p:txBody>
      </p:sp>
      <p:sp>
        <p:nvSpPr>
          <p:cNvPr id="19" name="Shape 16"/>
          <p:cNvSpPr/>
          <p:nvPr/>
        </p:nvSpPr>
        <p:spPr>
          <a:xfrm>
            <a:off x="457200" y="4983480"/>
            <a:ext cx="11274552" cy="1051560"/>
          </a:xfrm>
          <a:prstGeom prst="roundRect">
            <a:avLst>
              <a:gd name="adj" fmla="val 8696"/>
            </a:avLst>
          </a:prstGeom>
          <a:solidFill>
            <a:srgbClr val="6FB08D"/>
          </a:solidFill>
          <a:ln w="12700">
            <a:solidFill>
              <a:srgbClr val="6FB08D"/>
            </a:solidFill>
            <a:prstDash val="solid"/>
          </a:ln>
        </p:spPr>
      </p:sp>
      <p:sp>
        <p:nvSpPr>
          <p:cNvPr id="20" name="Text 17"/>
          <p:cNvSpPr txBox="1"/>
          <p:nvPr/>
        </p:nvSpPr>
        <p:spPr>
          <a:xfrm>
            <a:off x="685800" y="5102352"/>
            <a:ext cx="4572000" cy="228600"/>
          </a:xfrm>
          <a:prstGeom prst="rect">
            <a:avLst/>
          </a:prstGeom>
          <a:noFill/>
          <a:ln/>
        </p:spPr>
        <p:txBody>
          <a:bodyPr wrap="square" lIns="0" tIns="0" rIns="0" bIns="0" rtlCol="0" anchor="ctr"/>
          <a:lstStyle/>
          <a:p>
            <a:pPr indent="0" marL="0">
              <a:buNone/>
            </a:pPr>
            <a:r>
              <a:rPr lang="en-US" sz="850" b="1" spc="150" kern="0" dirty="0">
                <a:solidFill>
                  <a:srgbClr val="113A2A"/>
                </a:solidFill>
                <a:latin typeface="Arial" pitchFamily="34" charset="0"/>
                <a:ea typeface="Arial" pitchFamily="34" charset="-122"/>
                <a:cs typeface="Arial" pitchFamily="34" charset="-120"/>
              </a:rPr>
              <a:t>DEVELOPING OUR CONSULTANTS</a:t>
            </a:r>
            <a:endParaRPr lang="en-US" sz="850" dirty="0"/>
          </a:p>
        </p:txBody>
      </p:sp>
      <p:sp>
        <p:nvSpPr>
          <p:cNvPr id="21" name="Text 18"/>
          <p:cNvSpPr txBox="1"/>
          <p:nvPr/>
        </p:nvSpPr>
        <p:spPr>
          <a:xfrm>
            <a:off x="685800" y="5349240"/>
            <a:ext cx="10789920" cy="640080"/>
          </a:xfrm>
          <a:prstGeom prst="rect">
            <a:avLst/>
          </a:prstGeom>
          <a:noFill/>
          <a:ln/>
        </p:spPr>
        <p:txBody>
          <a:bodyPr wrap="square" lIns="0" tIns="0" rIns="0" bIns="0" rtlCol="0" anchor="ctr"/>
          <a:lstStyle/>
          <a:p>
            <a:pPr indent="0" marL="0">
              <a:buNone/>
            </a:pPr>
            <a:r>
              <a:rPr lang="en-US" sz="1300" dirty="0">
                <a:solidFill>
                  <a:srgbClr val="113A2A"/>
                </a:solidFill>
                <a:latin typeface="Arial" pitchFamily="34" charset="0"/>
                <a:ea typeface="Arial" pitchFamily="34" charset="-122"/>
                <a:cs typeface="Arial" pitchFamily="34" charset="-120"/>
              </a:rPr>
              <a:t>Experienced colleagues turn effective practices into reusable guidance. Junior colleagues apply that guidance in real work and develop their judgment through coaching and reviewer feedback.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979187"/>
                </a:solidFill>
                <a:latin typeface="Arial" pitchFamily="34" charset="0"/>
                <a:ea typeface="Arial" pitchFamily="34" charset="-122"/>
                <a:cs typeface="Arial" pitchFamily="34" charset="-120"/>
              </a:rPr>
              <a:t>11</a:t>
            </a:r>
            <a:endParaRPr lang="en-US" sz="900" dirty="0"/>
          </a:p>
        </p:txBody>
      </p:sp>
      <p:sp>
        <p:nvSpPr>
          <p:cNvPr id="6" name="Text 3"/>
          <p:cNvSpPr txBox="1"/>
          <p:nvPr/>
        </p:nvSpPr>
        <p:spPr>
          <a:xfrm>
            <a:off x="457200" y="960120"/>
            <a:ext cx="11247120" cy="822960"/>
          </a:xfrm>
          <a:prstGeom prst="rect">
            <a:avLst/>
          </a:prstGeom>
          <a:noFill/>
          <a:ln/>
        </p:spPr>
        <p:txBody>
          <a:bodyPr wrap="square" lIns="0" tIns="0" rIns="0" bIns="0" rtlCol="0" anchor="t"/>
          <a:lstStyle/>
          <a:p>
            <a:pPr indent="0" marL="0">
              <a:buNone/>
            </a:pPr>
            <a:r>
              <a:rPr lang="en-US" sz="3000" b="1" dirty="0">
                <a:solidFill>
                  <a:srgbClr val="113A2A"/>
                </a:solidFill>
                <a:latin typeface="Arial" pitchFamily="34" charset="0"/>
                <a:ea typeface="Arial" pitchFamily="34" charset="-122"/>
                <a:cs typeface="Arial" pitchFamily="34" charset="-120"/>
              </a:rPr>
              <a:t>The next 90 days are about proving this works beyond the initial demonstration</a:t>
            </a:r>
            <a:endParaRPr lang="en-US" sz="3000" dirty="0"/>
          </a:p>
        </p:txBody>
      </p:sp>
      <p:sp>
        <p:nvSpPr>
          <p:cNvPr id="7" name="Shape 4"/>
          <p:cNvSpPr/>
          <p:nvPr/>
        </p:nvSpPr>
        <p:spPr>
          <a:xfrm>
            <a:off x="457200" y="1965960"/>
            <a:ext cx="3611880" cy="2057400"/>
          </a:xfrm>
          <a:prstGeom prst="roundRect">
            <a:avLst>
              <a:gd name="adj" fmla="val 4444"/>
            </a:avLst>
          </a:prstGeom>
          <a:solidFill>
            <a:srgbClr val="FFFFFF"/>
          </a:solidFill>
          <a:ln w="12700">
            <a:solidFill>
              <a:srgbClr val="E4E2DE"/>
            </a:solidFill>
            <a:prstDash val="solid"/>
          </a:ln>
        </p:spPr>
      </p:sp>
      <p:sp>
        <p:nvSpPr>
          <p:cNvPr id="8" name="Shape 5"/>
          <p:cNvSpPr/>
          <p:nvPr/>
        </p:nvSpPr>
        <p:spPr>
          <a:xfrm>
            <a:off x="658368" y="2148840"/>
            <a:ext cx="329184" cy="329184"/>
          </a:xfrm>
          <a:prstGeom prst="ellipse">
            <a:avLst/>
          </a:prstGeom>
          <a:solidFill>
            <a:srgbClr val="2A654E"/>
          </a:solidFill>
          <a:ln w="12700">
            <a:solidFill>
              <a:srgbClr val="2A654E"/>
            </a:solidFill>
            <a:prstDash val="solid"/>
          </a:ln>
        </p:spPr>
      </p:sp>
      <p:sp>
        <p:nvSpPr>
          <p:cNvPr id="9" name="Text 6"/>
          <p:cNvSpPr txBox="1"/>
          <p:nvPr/>
        </p:nvSpPr>
        <p:spPr>
          <a:xfrm>
            <a:off x="658368" y="2148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658368" y="2587752"/>
            <a:ext cx="3209544" cy="6858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Validate the two priority workflows</a:t>
            </a:r>
            <a:endParaRPr lang="en-US" sz="1400" dirty="0"/>
          </a:p>
        </p:txBody>
      </p:sp>
      <p:sp>
        <p:nvSpPr>
          <p:cNvPr id="11" name="Text 8"/>
          <p:cNvSpPr txBox="1"/>
          <p:nvPr/>
        </p:nvSpPr>
        <p:spPr>
          <a:xfrm>
            <a:off x="658368" y="3273552"/>
            <a:ext cx="3209544" cy="61264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Weekly Status every week on two engagements. The Foundations Package from requirements to mockups on a live engagement.</a:t>
            </a:r>
            <a:endParaRPr lang="en-US" sz="1150" dirty="0"/>
          </a:p>
        </p:txBody>
      </p:sp>
      <p:sp>
        <p:nvSpPr>
          <p:cNvPr id="12" name="Shape 9"/>
          <p:cNvSpPr/>
          <p:nvPr/>
        </p:nvSpPr>
        <p:spPr>
          <a:xfrm>
            <a:off x="4251960" y="1965960"/>
            <a:ext cx="3611880" cy="2057400"/>
          </a:xfrm>
          <a:prstGeom prst="roundRect">
            <a:avLst>
              <a:gd name="adj" fmla="val 4444"/>
            </a:avLst>
          </a:prstGeom>
          <a:solidFill>
            <a:srgbClr val="FFFFFF"/>
          </a:solidFill>
          <a:ln w="12700">
            <a:solidFill>
              <a:srgbClr val="E4E2DE"/>
            </a:solidFill>
            <a:prstDash val="solid"/>
          </a:ln>
        </p:spPr>
      </p:sp>
      <p:sp>
        <p:nvSpPr>
          <p:cNvPr id="13" name="Shape 10"/>
          <p:cNvSpPr/>
          <p:nvPr/>
        </p:nvSpPr>
        <p:spPr>
          <a:xfrm>
            <a:off x="4453128" y="2148840"/>
            <a:ext cx="329184" cy="329184"/>
          </a:xfrm>
          <a:prstGeom prst="ellipse">
            <a:avLst/>
          </a:prstGeom>
          <a:solidFill>
            <a:srgbClr val="2A654E"/>
          </a:solidFill>
          <a:ln w="12700">
            <a:solidFill>
              <a:srgbClr val="2A654E"/>
            </a:solidFill>
            <a:prstDash val="solid"/>
          </a:ln>
        </p:spPr>
      </p:sp>
      <p:sp>
        <p:nvSpPr>
          <p:cNvPr id="14" name="Text 11"/>
          <p:cNvSpPr txBox="1"/>
          <p:nvPr/>
        </p:nvSpPr>
        <p:spPr>
          <a:xfrm>
            <a:off x="4453128" y="2148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txBox="1"/>
          <p:nvPr/>
        </p:nvSpPr>
        <p:spPr>
          <a:xfrm>
            <a:off x="4453128" y="2587752"/>
            <a:ext cx="3209544" cy="6858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Establish the minimum governance and operating foundation</a:t>
            </a:r>
            <a:endParaRPr lang="en-US" sz="1400" dirty="0"/>
          </a:p>
        </p:txBody>
      </p:sp>
      <p:sp>
        <p:nvSpPr>
          <p:cNvPr id="16" name="Text 13"/>
          <p:cNvSpPr txBox="1"/>
          <p:nvPr/>
        </p:nvSpPr>
        <p:spPr>
          <a:xfrm>
            <a:off x="4453128" y="3273552"/>
            <a:ext cx="3209544" cy="61264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The capability pipeline, owners and readiness labels in the catalog, the stand-up and onboarding processes, Karta-owned code and hosting.</a:t>
            </a:r>
            <a:endParaRPr lang="en-US" sz="1150" dirty="0"/>
          </a:p>
        </p:txBody>
      </p:sp>
      <p:sp>
        <p:nvSpPr>
          <p:cNvPr id="17" name="Shape 14"/>
          <p:cNvSpPr/>
          <p:nvPr/>
        </p:nvSpPr>
        <p:spPr>
          <a:xfrm>
            <a:off x="8046720" y="1965960"/>
            <a:ext cx="3611880" cy="2057400"/>
          </a:xfrm>
          <a:prstGeom prst="roundRect">
            <a:avLst>
              <a:gd name="adj" fmla="val 4444"/>
            </a:avLst>
          </a:prstGeom>
          <a:solidFill>
            <a:srgbClr val="FFFFFF"/>
          </a:solidFill>
          <a:ln w="12700">
            <a:solidFill>
              <a:srgbClr val="E4E2DE"/>
            </a:solidFill>
            <a:prstDash val="solid"/>
          </a:ln>
        </p:spPr>
      </p:sp>
      <p:sp>
        <p:nvSpPr>
          <p:cNvPr id="18" name="Shape 15"/>
          <p:cNvSpPr/>
          <p:nvPr/>
        </p:nvSpPr>
        <p:spPr>
          <a:xfrm>
            <a:off x="8247888" y="2148840"/>
            <a:ext cx="329184" cy="329184"/>
          </a:xfrm>
          <a:prstGeom prst="ellipse">
            <a:avLst/>
          </a:prstGeom>
          <a:solidFill>
            <a:srgbClr val="2A654E"/>
          </a:solidFill>
          <a:ln w="12700">
            <a:solidFill>
              <a:srgbClr val="2A654E"/>
            </a:solidFill>
            <a:prstDash val="solid"/>
          </a:ln>
        </p:spPr>
      </p:sp>
      <p:sp>
        <p:nvSpPr>
          <p:cNvPr id="19" name="Text 16"/>
          <p:cNvSpPr txBox="1"/>
          <p:nvPr/>
        </p:nvSpPr>
        <p:spPr>
          <a:xfrm>
            <a:off x="8247888" y="2148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7"/>
          <p:cNvSpPr txBox="1"/>
          <p:nvPr/>
        </p:nvSpPr>
        <p:spPr>
          <a:xfrm>
            <a:off x="8247888" y="2587752"/>
            <a:ext cx="3209544" cy="685800"/>
          </a:xfrm>
          <a:prstGeom prst="rect">
            <a:avLst/>
          </a:prstGeom>
          <a:noFill/>
          <a:ln/>
        </p:spPr>
        <p:txBody>
          <a:bodyPr wrap="square" lIns="0" tIns="0" rIns="0" bIns="0" rtlCol="0" anchor="t"/>
          <a:lstStyle/>
          <a:p>
            <a:pPr indent="0" marL="0">
              <a:buNone/>
            </a:pPr>
            <a:r>
              <a:rPr lang="en-US" sz="1400" b="1" dirty="0">
                <a:solidFill>
                  <a:srgbClr val="113A2A"/>
                </a:solidFill>
                <a:latin typeface="Arial" pitchFamily="34" charset="0"/>
                <a:ea typeface="Arial" pitchFamily="34" charset="-122"/>
                <a:cs typeface="Arial" pitchFamily="34" charset="-120"/>
              </a:rPr>
              <a:t>Develop practitioner capability through participation</a:t>
            </a:r>
            <a:endParaRPr lang="en-US" sz="1400" dirty="0"/>
          </a:p>
        </p:txBody>
      </p:sp>
      <p:sp>
        <p:nvSpPr>
          <p:cNvPr id="21" name="Text 18"/>
          <p:cNvSpPr txBox="1"/>
          <p:nvPr/>
        </p:nvSpPr>
        <p:spPr>
          <a:xfrm>
            <a:off x="8247888" y="3273552"/>
            <a:ext cx="3209544" cy="612648"/>
          </a:xfrm>
          <a:prstGeom prst="rect">
            <a:avLst/>
          </a:prstGeom>
          <a:noFill/>
          <a:ln/>
        </p:spPr>
        <p:txBody>
          <a:bodyPr wrap="square" lIns="0" tIns="0" rIns="0" bIns="0" rtlCol="0" anchor="t"/>
          <a:lstStyle/>
          <a:p>
            <a:pPr indent="0" marL="0">
              <a:buNone/>
            </a:pPr>
            <a:r>
              <a:rPr lang="en-US" sz="1150" dirty="0">
                <a:solidFill>
                  <a:srgbClr val="6E6961"/>
                </a:solidFill>
                <a:latin typeface="Arial" pitchFamily="34" charset="0"/>
                <a:ea typeface="Arial" pitchFamily="34" charset="-122"/>
                <a:cs typeface="Arial" pitchFamily="34" charset="-120"/>
              </a:rPr>
              <a:t>Consultants run the workflows, correct the drafts, and their corrections shape the next version.</a:t>
            </a:r>
            <a:endParaRPr lang="en-US" sz="1150" dirty="0"/>
          </a:p>
        </p:txBody>
      </p:sp>
      <p:sp>
        <p:nvSpPr>
          <p:cNvPr id="22" name="Text 19"/>
          <p:cNvSpPr txBox="1"/>
          <p:nvPr/>
        </p:nvSpPr>
        <p:spPr>
          <a:xfrm>
            <a:off x="457200" y="4251960"/>
            <a:ext cx="5486400" cy="201168"/>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WHAT WE WILL MEASURE</a:t>
            </a:r>
            <a:endParaRPr lang="en-US" sz="850" dirty="0"/>
          </a:p>
        </p:txBody>
      </p:sp>
      <p:sp>
        <p:nvSpPr>
          <p:cNvPr id="23" name="Shape 20"/>
          <p:cNvSpPr/>
          <p:nvPr/>
        </p:nvSpPr>
        <p:spPr>
          <a:xfrm>
            <a:off x="457200" y="4498848"/>
            <a:ext cx="2651760" cy="1051560"/>
          </a:xfrm>
          <a:prstGeom prst="roundRect">
            <a:avLst>
              <a:gd name="adj" fmla="val 6957"/>
            </a:avLst>
          </a:prstGeom>
          <a:solidFill>
            <a:srgbClr val="EAF1ED"/>
          </a:solidFill>
          <a:ln w="12700">
            <a:solidFill>
              <a:srgbClr val="2A654E"/>
            </a:solidFill>
            <a:prstDash val="solid"/>
          </a:ln>
        </p:spPr>
      </p:sp>
      <p:sp>
        <p:nvSpPr>
          <p:cNvPr id="24" name="Text 21"/>
          <p:cNvSpPr txBox="1"/>
          <p:nvPr/>
        </p:nvSpPr>
        <p:spPr>
          <a:xfrm>
            <a:off x="621792" y="4599432"/>
            <a:ext cx="2331720" cy="365760"/>
          </a:xfrm>
          <a:prstGeom prst="rect">
            <a:avLst/>
          </a:prstGeom>
          <a:noFill/>
          <a:ln/>
        </p:spPr>
        <p:txBody>
          <a:bodyPr wrap="square" lIns="0" tIns="0" rIns="0" bIns="0" rtlCol="0" anchor="ctr"/>
          <a:lstStyle/>
          <a:p>
            <a:pPr indent="0" marL="0">
              <a:buNone/>
            </a:pPr>
            <a:r>
              <a:rPr lang="en-US" sz="1350" b="1" dirty="0">
                <a:solidFill>
                  <a:srgbClr val="113A2A"/>
                </a:solidFill>
                <a:latin typeface="Arial" pitchFamily="34" charset="0"/>
                <a:ea typeface="Arial" pitchFamily="34" charset="-122"/>
                <a:cs typeface="Arial" pitchFamily="34" charset="-120"/>
              </a:rPr>
              <a:t>Preparation effort</a:t>
            </a:r>
            <a:endParaRPr lang="en-US" sz="1350" dirty="0"/>
          </a:p>
        </p:txBody>
      </p:sp>
      <p:sp>
        <p:nvSpPr>
          <p:cNvPr id="25" name="Text 22"/>
          <p:cNvSpPr txBox="1"/>
          <p:nvPr/>
        </p:nvSpPr>
        <p:spPr>
          <a:xfrm>
            <a:off x="621792" y="4983480"/>
            <a:ext cx="2331720" cy="50292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minutes from draft to approval</a:t>
            </a:r>
            <a:endParaRPr lang="en-US" sz="1100" dirty="0"/>
          </a:p>
        </p:txBody>
      </p:sp>
      <p:sp>
        <p:nvSpPr>
          <p:cNvPr id="26" name="Shape 23"/>
          <p:cNvSpPr/>
          <p:nvPr/>
        </p:nvSpPr>
        <p:spPr>
          <a:xfrm>
            <a:off x="3291840" y="4498848"/>
            <a:ext cx="2651760" cy="1051560"/>
          </a:xfrm>
          <a:prstGeom prst="roundRect">
            <a:avLst>
              <a:gd name="adj" fmla="val 6957"/>
            </a:avLst>
          </a:prstGeom>
          <a:solidFill>
            <a:srgbClr val="EAF1ED"/>
          </a:solidFill>
          <a:ln w="12700">
            <a:solidFill>
              <a:srgbClr val="2A654E"/>
            </a:solidFill>
            <a:prstDash val="solid"/>
          </a:ln>
        </p:spPr>
      </p:sp>
      <p:sp>
        <p:nvSpPr>
          <p:cNvPr id="27" name="Text 24"/>
          <p:cNvSpPr txBox="1"/>
          <p:nvPr/>
        </p:nvSpPr>
        <p:spPr>
          <a:xfrm>
            <a:off x="3456432" y="4599432"/>
            <a:ext cx="2331720" cy="365760"/>
          </a:xfrm>
          <a:prstGeom prst="rect">
            <a:avLst/>
          </a:prstGeom>
          <a:noFill/>
          <a:ln/>
        </p:spPr>
        <p:txBody>
          <a:bodyPr wrap="square" lIns="0" tIns="0" rIns="0" bIns="0" rtlCol="0" anchor="ctr"/>
          <a:lstStyle/>
          <a:p>
            <a:pPr indent="0" marL="0">
              <a:buNone/>
            </a:pPr>
            <a:r>
              <a:rPr lang="en-US" sz="1350" b="1" dirty="0">
                <a:solidFill>
                  <a:srgbClr val="113A2A"/>
                </a:solidFill>
                <a:latin typeface="Arial" pitchFamily="34" charset="0"/>
                <a:ea typeface="Arial" pitchFamily="34" charset="-122"/>
                <a:cs typeface="Arial" pitchFamily="34" charset="-120"/>
              </a:rPr>
              <a:t>Output quality</a:t>
            </a:r>
            <a:endParaRPr lang="en-US" sz="1350" dirty="0"/>
          </a:p>
        </p:txBody>
      </p:sp>
      <p:sp>
        <p:nvSpPr>
          <p:cNvPr id="28" name="Text 25"/>
          <p:cNvSpPr txBox="1"/>
          <p:nvPr/>
        </p:nvSpPr>
        <p:spPr>
          <a:xfrm>
            <a:off x="3456432" y="4983480"/>
            <a:ext cx="2331720" cy="50292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errors found after approval</a:t>
            </a:r>
            <a:endParaRPr lang="en-US" sz="1100" dirty="0"/>
          </a:p>
        </p:txBody>
      </p:sp>
      <p:sp>
        <p:nvSpPr>
          <p:cNvPr id="29" name="Shape 26"/>
          <p:cNvSpPr/>
          <p:nvPr/>
        </p:nvSpPr>
        <p:spPr>
          <a:xfrm>
            <a:off x="6126480" y="4498848"/>
            <a:ext cx="2651760" cy="1051560"/>
          </a:xfrm>
          <a:prstGeom prst="roundRect">
            <a:avLst>
              <a:gd name="adj" fmla="val 6957"/>
            </a:avLst>
          </a:prstGeom>
          <a:solidFill>
            <a:srgbClr val="EAF1ED"/>
          </a:solidFill>
          <a:ln w="12700">
            <a:solidFill>
              <a:srgbClr val="2A654E"/>
            </a:solidFill>
            <a:prstDash val="solid"/>
          </a:ln>
        </p:spPr>
      </p:sp>
      <p:sp>
        <p:nvSpPr>
          <p:cNvPr id="30" name="Text 27"/>
          <p:cNvSpPr txBox="1"/>
          <p:nvPr/>
        </p:nvSpPr>
        <p:spPr>
          <a:xfrm>
            <a:off x="6291072" y="4599432"/>
            <a:ext cx="2331720" cy="365760"/>
          </a:xfrm>
          <a:prstGeom prst="rect">
            <a:avLst/>
          </a:prstGeom>
          <a:noFill/>
          <a:ln/>
        </p:spPr>
        <p:txBody>
          <a:bodyPr wrap="square" lIns="0" tIns="0" rIns="0" bIns="0" rtlCol="0" anchor="ctr"/>
          <a:lstStyle/>
          <a:p>
            <a:pPr indent="0" marL="0">
              <a:buNone/>
            </a:pPr>
            <a:r>
              <a:rPr lang="en-US" sz="1350" b="1" dirty="0">
                <a:solidFill>
                  <a:srgbClr val="113A2A"/>
                </a:solidFill>
                <a:latin typeface="Arial" pitchFamily="34" charset="0"/>
                <a:ea typeface="Arial" pitchFamily="34" charset="-122"/>
                <a:cs typeface="Arial" pitchFamily="34" charset="-120"/>
              </a:rPr>
              <a:t>Corrections</a:t>
            </a:r>
            <a:endParaRPr lang="en-US" sz="1350" dirty="0"/>
          </a:p>
        </p:txBody>
      </p:sp>
      <p:sp>
        <p:nvSpPr>
          <p:cNvPr id="31" name="Text 28"/>
          <p:cNvSpPr txBox="1"/>
          <p:nvPr/>
        </p:nvSpPr>
        <p:spPr>
          <a:xfrm>
            <a:off x="6291072" y="4983480"/>
            <a:ext cx="2331720" cy="50292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how much of the draft a reviewer changed</a:t>
            </a:r>
            <a:endParaRPr lang="en-US" sz="1100" dirty="0"/>
          </a:p>
        </p:txBody>
      </p:sp>
      <p:sp>
        <p:nvSpPr>
          <p:cNvPr id="32" name="Shape 29"/>
          <p:cNvSpPr/>
          <p:nvPr/>
        </p:nvSpPr>
        <p:spPr>
          <a:xfrm>
            <a:off x="8961120" y="4498848"/>
            <a:ext cx="2651760" cy="1051560"/>
          </a:xfrm>
          <a:prstGeom prst="roundRect">
            <a:avLst>
              <a:gd name="adj" fmla="val 6957"/>
            </a:avLst>
          </a:prstGeom>
          <a:solidFill>
            <a:srgbClr val="EAF1ED"/>
          </a:solidFill>
          <a:ln w="12700">
            <a:solidFill>
              <a:srgbClr val="2A654E"/>
            </a:solidFill>
            <a:prstDash val="solid"/>
          </a:ln>
        </p:spPr>
      </p:sp>
      <p:sp>
        <p:nvSpPr>
          <p:cNvPr id="33" name="Text 30"/>
          <p:cNvSpPr txBox="1"/>
          <p:nvPr/>
        </p:nvSpPr>
        <p:spPr>
          <a:xfrm>
            <a:off x="9125712" y="4599432"/>
            <a:ext cx="2331720" cy="365760"/>
          </a:xfrm>
          <a:prstGeom prst="rect">
            <a:avLst/>
          </a:prstGeom>
          <a:noFill/>
          <a:ln/>
        </p:spPr>
        <p:txBody>
          <a:bodyPr wrap="square" lIns="0" tIns="0" rIns="0" bIns="0" rtlCol="0" anchor="ctr"/>
          <a:lstStyle/>
          <a:p>
            <a:pPr indent="0" marL="0">
              <a:buNone/>
            </a:pPr>
            <a:r>
              <a:rPr lang="en-US" sz="1350" b="1" dirty="0">
                <a:solidFill>
                  <a:srgbClr val="113A2A"/>
                </a:solidFill>
                <a:latin typeface="Arial" pitchFamily="34" charset="0"/>
                <a:ea typeface="Arial" pitchFamily="34" charset="-122"/>
                <a:cs typeface="Arial" pitchFamily="34" charset="-120"/>
              </a:rPr>
              <a:t>Sustained use</a:t>
            </a:r>
            <a:endParaRPr lang="en-US" sz="1350" dirty="0"/>
          </a:p>
        </p:txBody>
      </p:sp>
      <p:sp>
        <p:nvSpPr>
          <p:cNvPr id="34" name="Text 31"/>
          <p:cNvSpPr txBox="1"/>
          <p:nvPr/>
        </p:nvSpPr>
        <p:spPr>
          <a:xfrm>
            <a:off x="9125712" y="4983480"/>
            <a:ext cx="2331720" cy="502920"/>
          </a:xfrm>
          <a:prstGeom prst="rect">
            <a:avLst/>
          </a:prstGeom>
          <a:noFill/>
          <a:ln/>
        </p:spPr>
        <p:txBody>
          <a:bodyPr wrap="square" lIns="0" tIns="0" rIns="0" bIns="0" rtlCol="0" anchor="ctr"/>
          <a:lstStyle/>
          <a:p>
            <a:pPr indent="0" marL="0">
              <a:buNone/>
            </a:pPr>
            <a:r>
              <a:rPr lang="en-US" sz="1100" dirty="0">
                <a:solidFill>
                  <a:srgbClr val="6E6961"/>
                </a:solidFill>
                <a:latin typeface="Arial" pitchFamily="34" charset="0"/>
                <a:ea typeface="Arial" pitchFamily="34" charset="-122"/>
                <a:cs typeface="Arial" pitchFamily="34" charset="-120"/>
              </a:rPr>
              <a:t>approvals and distinct reviewers, week over week</a:t>
            </a:r>
            <a:endParaRPr lang="en-US" sz="1100" dirty="0"/>
          </a:p>
        </p:txBody>
      </p:sp>
      <p:sp>
        <p:nvSpPr>
          <p:cNvPr id="35" name="Text 32"/>
          <p:cNvSpPr txBox="1"/>
          <p:nvPr/>
        </p:nvSpPr>
        <p:spPr>
          <a:xfrm>
            <a:off x="457200" y="5715000"/>
            <a:ext cx="11274552" cy="411480"/>
          </a:xfrm>
          <a:prstGeom prst="rect">
            <a:avLst/>
          </a:prstGeom>
          <a:noFill/>
          <a:ln/>
        </p:spPr>
        <p:txBody>
          <a:bodyPr wrap="square" lIns="0" tIns="0" rIns="0" bIns="0" rtlCol="0" anchor="ctr"/>
          <a:lstStyle/>
          <a:p>
            <a:pPr indent="0" marL="0">
              <a:buNone/>
            </a:pPr>
            <a:r>
              <a:rPr lang="en-US" sz="1250" i="1" dirty="0">
                <a:solidFill>
                  <a:srgbClr val="6E6961"/>
                </a:solidFill>
                <a:latin typeface="Arial" pitchFamily="34" charset="0"/>
                <a:ea typeface="Arial" pitchFamily="34" charset="-122"/>
                <a:cs typeface="Arial" pitchFamily="34" charset="-120"/>
              </a:rPr>
              <a:t>Those results tell us what to scale, what to change, and where to focus next. The workspace records them automatically; nobody keeps a spreadsheet.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3A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FFFFFF"/>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29200" cy="274320"/>
          </a:xfrm>
          <a:prstGeom prst="rect">
            <a:avLst/>
          </a:prstGeom>
          <a:noFill/>
          <a:ln/>
        </p:spPr>
        <p:txBody>
          <a:bodyPr wrap="square" lIns="0" tIns="0" rIns="0" bIns="0" rtlCol="0" anchor="ctr"/>
          <a:lstStyle/>
          <a:p>
            <a:pPr algn="r" indent="0" marL="0">
              <a:buNone/>
            </a:pPr>
            <a:r>
              <a:rPr lang="en-US" sz="950" dirty="0">
                <a:solidFill>
                  <a:srgbClr val="B7C9BF"/>
                </a:solidFill>
                <a:latin typeface="Arial" pitchFamily="34" charset="0"/>
                <a:ea typeface="Arial" pitchFamily="34" charset="-122"/>
                <a:cs typeface="Arial" pitchFamily="34" charset="-120"/>
              </a:rPr>
              <a:t>Karta AI Engagement Workspace · September 12, 2026</a:t>
            </a:r>
            <a:endParaRPr lang="en-US" sz="950" dirty="0"/>
          </a:p>
        </p:txBody>
      </p:sp>
      <p:sp>
        <p:nvSpPr>
          <p:cNvPr id="5" name="Text 2"/>
          <p:cNvSpPr txBox="1"/>
          <p:nvPr/>
        </p:nvSpPr>
        <p:spPr>
          <a:xfrm>
            <a:off x="11430000" y="6355080"/>
            <a:ext cx="365760" cy="274320"/>
          </a:xfrm>
          <a:prstGeom prst="rect">
            <a:avLst/>
          </a:prstGeom>
          <a:noFill/>
          <a:ln/>
        </p:spPr>
        <p:txBody>
          <a:bodyPr wrap="square" lIns="0" tIns="0" rIns="0" bIns="0" rtlCol="0" anchor="ctr"/>
          <a:lstStyle/>
          <a:p>
            <a:pPr algn="r" indent="0" marL="0">
              <a:buNone/>
            </a:pPr>
            <a:r>
              <a:rPr lang="en-US" sz="900" dirty="0">
                <a:solidFill>
                  <a:srgbClr val="B7C9BF"/>
                </a:solidFill>
                <a:latin typeface="Arial" pitchFamily="34" charset="0"/>
                <a:ea typeface="Arial" pitchFamily="34" charset="-122"/>
                <a:cs typeface="Arial" pitchFamily="34" charset="-120"/>
              </a:rPr>
              <a:t>12</a:t>
            </a:r>
            <a:endParaRPr lang="en-US" sz="900" dirty="0"/>
          </a:p>
        </p:txBody>
      </p:sp>
      <p:sp>
        <p:nvSpPr>
          <p:cNvPr id="6" name="Text 3"/>
          <p:cNvSpPr txBox="1"/>
          <p:nvPr/>
        </p:nvSpPr>
        <p:spPr>
          <a:xfrm>
            <a:off x="457200" y="1920240"/>
            <a:ext cx="11247120" cy="14630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 common place for our consultants to apply AI.</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A consistent way for Karta to introduce, govern and improve it.</a:t>
            </a:r>
            <a:endParaRPr lang="en-US" sz="2800" dirty="0"/>
          </a:p>
        </p:txBody>
      </p:sp>
      <p:sp>
        <p:nvSpPr>
          <p:cNvPr id="7" name="Text 4"/>
          <p:cNvSpPr txBox="1"/>
          <p:nvPr/>
        </p:nvSpPr>
        <p:spPr>
          <a:xfrm>
            <a:off x="457200" y="3566160"/>
            <a:ext cx="9601200" cy="822960"/>
          </a:xfrm>
          <a:prstGeom prst="rect">
            <a:avLst/>
          </a:prstGeom>
          <a:noFill/>
          <a:ln/>
        </p:spPr>
        <p:txBody>
          <a:bodyPr wrap="square" lIns="0" tIns="0" rIns="0" bIns="0" rtlCol="0" anchor="ctr"/>
          <a:lstStyle/>
          <a:p>
            <a:pPr indent="0" marL="0">
              <a:buNone/>
            </a:pPr>
            <a:r>
              <a:rPr lang="en-US" sz="1700" dirty="0">
                <a:solidFill>
                  <a:srgbClr val="D6E2DB"/>
                </a:solidFill>
                <a:latin typeface="Arial" pitchFamily="34" charset="0"/>
                <a:ea typeface="Arial" pitchFamily="34" charset="-122"/>
                <a:cs typeface="Arial" pitchFamily="34" charset="-120"/>
              </a:rPr>
              <a:t>Our ambition is for every engagement to benefit from Karta's collective expertise, supported by AI and accountable human judgment.</a:t>
            </a:r>
            <a:endParaRPr lang="en-US" sz="1700" dirty="0"/>
          </a:p>
        </p:txBody>
      </p:sp>
      <p:sp>
        <p:nvSpPr>
          <p:cNvPr id="8" name="Text 5"/>
          <p:cNvSpPr txBox="1"/>
          <p:nvPr/>
        </p:nvSpPr>
        <p:spPr>
          <a:xfrm>
            <a:off x="457200" y="4754880"/>
            <a:ext cx="3657600" cy="228600"/>
          </a:xfrm>
          <a:prstGeom prst="rect">
            <a:avLst/>
          </a:prstGeom>
          <a:noFill/>
          <a:ln/>
        </p:spPr>
        <p:txBody>
          <a:bodyPr wrap="square" lIns="0" tIns="0" rIns="0" bIns="0" rtlCol="0" anchor="ctr"/>
          <a:lstStyle/>
          <a:p>
            <a:pPr indent="0" marL="0">
              <a:buNone/>
            </a:pPr>
            <a:r>
              <a:rPr lang="en-US" sz="850" b="1" spc="150" kern="0" dirty="0">
                <a:solidFill>
                  <a:srgbClr val="6FB08D"/>
                </a:solidFill>
                <a:latin typeface="Arial" pitchFamily="34" charset="0"/>
                <a:ea typeface="Arial" pitchFamily="34" charset="-122"/>
                <a:cs typeface="Arial" pitchFamily="34" charset="-120"/>
              </a:rPr>
              <a:t>THIS MONTH</a:t>
            </a:r>
            <a:endParaRPr lang="en-US" sz="850" dirty="0"/>
          </a:p>
        </p:txBody>
      </p:sp>
      <p:sp>
        <p:nvSpPr>
          <p:cNvPr id="9" name="Text 6"/>
          <p:cNvSpPr txBox="1"/>
          <p:nvPr/>
        </p:nvSpPr>
        <p:spPr>
          <a:xfrm>
            <a:off x="457200" y="4983480"/>
            <a:ext cx="10972800" cy="1097280"/>
          </a:xfrm>
          <a:prstGeom prst="rect">
            <a:avLst/>
          </a:prstGeom>
          <a:noFill/>
          <a:ln/>
        </p:spPr>
        <p:txBody>
          <a:bodyPr wrap="square" rtlCol="0" anchor="t"/>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Weekly Status every week on Legend and the second engagement</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IT consent, so decks save to SharePoint on their own and new members connect without a prompt</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Karta-owned GitHub and Google Cloud accounts, approved September 9, set up with Marianna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2026-09-11T00:42:35Z</dcterms:created>
  <dcterms:modified xsi:type="dcterms:W3CDTF">2026-09-11T00:42:35Z</dcterms:modified>
</cp:coreProperties>
</file>