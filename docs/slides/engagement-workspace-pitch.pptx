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Karta AI Engagement Workspace brings our AI strategy into the daily work of each project team. It gives consultants a common place to use AI with the project context, Karta methodology, and governance needed to improve delivery.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AI strategy focuses on strengthening our consultants, improving client delivery, and reducing repetitive effort. We already have meaningful experimentation and promising capabilities underway. The opportunity now is to turn that activity into reusable ways of working that Karta can support, measure, and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understanding an engagement takes effort. The plan is in Asana, documents are in SharePoint, and important context lives in meetings and individual knowledge. Consultants repeatedly gather and interpret that information to prepare a status report, develop a design, or bring another team member up to speed. As we introduce more AI capabilities, each needs relevant project context. Our teams also need to understand which capabilities are ready, when to use them, and how to review the results.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Engagement Workspace gives each project its own home for that work. A team member can see where the engagement stands in Karta's delivery lifecycle, what needs attention, and which capabilities can help with the next activity. The workspace brings together project evidence, delivery guidance, and reviewed outputs in a consistent experience. Each engagement has its own workspace. The shared foundation lets us improve that experience across projects as we learn.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Imagine opening your engagement workspace at the start of the week. You can orient yourself to the current stage, review milestones and missing information, and open Weekly Status. The workspace reads the available evidence and helps prepare a draft. A reviewer applies their judgment, corrects the content, and approves it. The workspace then produces the deck and retains the approved record.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have already recorded an approved status and generated deck for Legend. Today, the reviewer saves and distributes that deck. That gives us a concrete starting point for demonstrating the experience and measuring its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two priorities show how the workspace can support different parts of delivery. Project Status Reporting addresses a recurring activity with measurable preparation effort and clear reuse across engagements. The Foundations Package, from business requirements to mockups, addresses ambiguity before build. It helps make requirements, assumptions, decisions, and scope boundaries visible so teams can identify gaps and improve the handoff into development. The workspace gives these capabilities a place in the engagement journey. Some will run directly inside it; others may initially connect to guided workflows in a consultant's Claude session. Over time, reviewed outputs from one activity can help inform subsequent work, reducing the need to reconstruct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 we integrate more AI, governance becomes increasingly important. At the Karta level, we need a consistent process for deciding which opportunities receive investment, which enter a pilot, and which are ready to scale. Any employee can contribute an idea. Each capability we formally advance needs an owner, defined boundaries, and evidence of value, quality, adoption, and acceptable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Engagement Workspace is where those governance decisions become part of everyday delivery. Our intent is for teams to understand which capabilities are available for their engagement, whether they are experimental or validated, what information they use, and what review is required. We already have elements of that foundation: named approval records, visible source gaps, capability readiness labels, and pilot measures. We will strengthen enforcement and oversight as adoption grows. Governance also continues after release. We need to see where people use a capability, what they correct, what issues arise, and whether the workflow improves. That evidence lets us refine capabilities, expand successful ones, or withdraw those that do not meet expectations.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makes this Karta's is how we combine AI with our delivery expertise. Our methodology, templates, and review practices shape how the capabilities work. Established systems remain authoritative, missing evidence stays visible, and people remain accountable for client-facing outputs. This also supports the development of our consultants. Experienced colleagues can turn effective practices into reusable guidance. Junior colleagues can apply that guidance in real work and develop their judgment through coaching and reviewer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next 90 days are about proving that this works beyond the initial demonstration. We will validate the two priority workflows, establish the minimum governance and operating foundation, and develop practitioner capability through participation. We will measure preparation effort, output quality, corrections, and sustained use. Those results will tell us what to scale, what to change, and where to focus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Engagement Workspace gives our consultants a common place to apply AI and gives Karta a consistent way to introduce, govern, and improve those capabilities. Our ambition is for every engagement to benefit from Karta's collective expertise, supported by AI and accountable human judgment.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3A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310896" cy="310896"/>
          </a:xfrm>
          <a:prstGeom prst="rect">
            <a:avLst/>
          </a:prstGeom>
        </p:spPr>
      </p:pic>
      <p:sp>
        <p:nvSpPr>
          <p:cNvPr id="3" name="Text 0"/>
          <p:cNvSpPr txBox="1"/>
          <p:nvPr/>
        </p:nvSpPr>
        <p:spPr>
          <a:xfrm>
            <a:off x="868680" y="402336"/>
            <a:ext cx="3657600" cy="274320"/>
          </a:xfrm>
          <a:prstGeom prst="rect">
            <a:avLst/>
          </a:prstGeom>
          <a:noFill/>
          <a:ln/>
        </p:spPr>
        <p:txBody>
          <a:bodyPr wrap="square" lIns="0" tIns="0" rIns="0" bIns="0" rtlCol="0" anchor="ctr"/>
          <a:lstStyle/>
          <a:p>
            <a:pPr indent="0" marL="0">
              <a:buNone/>
            </a:pPr>
            <a:r>
              <a:rPr lang="en-US" sz="950" b="1" spc="200" kern="0" dirty="0">
                <a:solidFill>
                  <a:srgbClr val="FFFFFF"/>
                </a:solidFill>
                <a:latin typeface="Arial" pitchFamily="34" charset="0"/>
                <a:ea typeface="Arial" pitchFamily="34" charset="-122"/>
                <a:cs typeface="Arial" pitchFamily="34" charset="-120"/>
              </a:rPr>
              <a:t>KARTA CONSULTING GROUP</a:t>
            </a:r>
            <a:endParaRPr lang="en-US" sz="950" dirty="0"/>
          </a:p>
        </p:txBody>
      </p:sp>
      <p:sp>
        <p:nvSpPr>
          <p:cNvPr id="4" name="Text 1"/>
          <p:cNvSpPr txBox="1"/>
          <p:nvPr/>
        </p:nvSpPr>
        <p:spPr>
          <a:xfrm>
            <a:off x="6675120" y="402336"/>
            <a:ext cx="5029200" cy="274320"/>
          </a:xfrm>
          <a:prstGeom prst="rect">
            <a:avLst/>
          </a:prstGeom>
          <a:noFill/>
          <a:ln/>
        </p:spPr>
        <p:txBody>
          <a:bodyPr wrap="square" lIns="0" tIns="0" rIns="0" bIns="0" rtlCol="0" anchor="ctr"/>
          <a:lstStyle/>
          <a:p>
            <a:pPr algn="r" indent="0" marL="0">
              <a:buNone/>
            </a:pPr>
            <a:r>
              <a:rPr lang="en-US" sz="950" dirty="0">
                <a:solidFill>
                  <a:srgbClr val="B7C9BF"/>
                </a:solidFill>
                <a:latin typeface="Arial" pitchFamily="34" charset="0"/>
                <a:ea typeface="Arial" pitchFamily="34" charset="-122"/>
                <a:cs typeface="Arial" pitchFamily="34" charset="-120"/>
              </a:rPr>
              <a:t>Karta AI Engagement Workspace · September 12, 2026</a:t>
            </a:r>
            <a:endParaRPr lang="en-US" sz="950" dirty="0"/>
          </a:p>
        </p:txBody>
      </p:sp>
      <p:sp>
        <p:nvSpPr>
          <p:cNvPr id="5" name="Text 2"/>
          <p:cNvSpPr txBox="1"/>
          <p:nvPr/>
        </p:nvSpPr>
        <p:spPr>
          <a:xfrm>
            <a:off x="11430000" y="6355080"/>
            <a:ext cx="365760" cy="274320"/>
          </a:xfrm>
          <a:prstGeom prst="rect">
            <a:avLst/>
          </a:prstGeom>
          <a:noFill/>
          <a:ln/>
        </p:spPr>
        <p:txBody>
          <a:bodyPr wrap="square" lIns="0" tIns="0" rIns="0" bIns="0" rtlCol="0" anchor="ctr"/>
          <a:lstStyle/>
          <a:p>
            <a:pPr algn="r" indent="0" marL="0">
              <a:buNone/>
            </a:pPr>
            <a:r>
              <a:rPr lang="en-US" sz="900" dirty="0">
                <a:solidFill>
                  <a:srgbClr val="B7C9BF"/>
                </a:solidFill>
                <a:latin typeface="Arial" pitchFamily="34" charset="0"/>
                <a:ea typeface="Arial" pitchFamily="34" charset="-122"/>
                <a:cs typeface="Arial" pitchFamily="34" charset="-120"/>
              </a:rPr>
              <a:t>1</a:t>
            </a:r>
            <a:endParaRPr lang="en-US" sz="900" dirty="0"/>
          </a:p>
        </p:txBody>
      </p:sp>
      <p:sp>
        <p:nvSpPr>
          <p:cNvPr id="6" name="Text 3"/>
          <p:cNvSpPr txBox="1"/>
          <p:nvPr/>
        </p:nvSpPr>
        <p:spPr>
          <a:xfrm>
            <a:off x="457200" y="2011680"/>
            <a:ext cx="10972800" cy="82296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Karta AI Engagement Workspace</a:t>
            </a:r>
            <a:endParaRPr lang="en-US" sz="4000" dirty="0"/>
          </a:p>
        </p:txBody>
      </p:sp>
      <p:sp>
        <p:nvSpPr>
          <p:cNvPr id="7" name="Text 4"/>
          <p:cNvSpPr txBox="1"/>
          <p:nvPr/>
        </p:nvSpPr>
        <p:spPr>
          <a:xfrm>
            <a:off x="457200" y="2880360"/>
            <a:ext cx="10058400" cy="640080"/>
          </a:xfrm>
          <a:prstGeom prst="rect">
            <a:avLst/>
          </a:prstGeom>
          <a:noFill/>
          <a:ln/>
        </p:spPr>
        <p:txBody>
          <a:bodyPr wrap="square" lIns="0" tIns="0" rIns="0" bIns="0" rtlCol="0" anchor="ctr"/>
          <a:lstStyle/>
          <a:p>
            <a:pPr indent="0" marL="0">
              <a:buNone/>
            </a:pPr>
            <a:r>
              <a:rPr lang="en-US" sz="2000" dirty="0">
                <a:solidFill>
                  <a:srgbClr val="D6E2DB"/>
                </a:solidFill>
                <a:latin typeface="Arial" pitchFamily="34" charset="0"/>
                <a:ea typeface="Arial" pitchFamily="34" charset="-122"/>
                <a:cs typeface="Arial" pitchFamily="34" charset="-120"/>
              </a:rPr>
              <a:t>Bringing our AI strategy into the daily work of every project team</a:t>
            </a:r>
            <a:endParaRPr lang="en-US" sz="2000" dirty="0"/>
          </a:p>
        </p:txBody>
      </p:sp>
      <p:sp>
        <p:nvSpPr>
          <p:cNvPr id="8" name="Text 5"/>
          <p:cNvSpPr txBox="1"/>
          <p:nvPr/>
        </p:nvSpPr>
        <p:spPr>
          <a:xfrm>
            <a:off x="457200" y="3657600"/>
            <a:ext cx="8686800" cy="731520"/>
          </a:xfrm>
          <a:prstGeom prst="rect">
            <a:avLst/>
          </a:prstGeom>
          <a:noFill/>
          <a:ln/>
        </p:spPr>
        <p:txBody>
          <a:bodyPr wrap="square" lIns="0" tIns="0" rIns="0" bIns="0" rtlCol="0" anchor="ctr"/>
          <a:lstStyle/>
          <a:p>
            <a:pPr indent="0" marL="0">
              <a:buNone/>
            </a:pPr>
            <a:r>
              <a:rPr lang="en-US" sz="1400" dirty="0">
                <a:solidFill>
                  <a:srgbClr val="B7C9BF"/>
                </a:solidFill>
                <a:latin typeface="Arial" pitchFamily="34" charset="0"/>
                <a:ea typeface="Arial" pitchFamily="34" charset="-122"/>
                <a:cs typeface="Arial" pitchFamily="34" charset="-120"/>
              </a:rPr>
              <a:t>A common place for consultants to use AI with the project context, Karta methodology and governance needed to improve delivery.</a:t>
            </a:r>
            <a:endParaRPr lang="en-US" sz="1400" dirty="0"/>
          </a:p>
        </p:txBody>
      </p:sp>
      <p:sp>
        <p:nvSpPr>
          <p:cNvPr id="9" name="Text 6"/>
          <p:cNvSpPr txBox="1"/>
          <p:nvPr/>
        </p:nvSpPr>
        <p:spPr>
          <a:xfrm>
            <a:off x="457200" y="5760720"/>
            <a:ext cx="10058400" cy="365760"/>
          </a:xfrm>
          <a:prstGeom prst="rect">
            <a:avLst/>
          </a:prstGeom>
          <a:noFill/>
          <a:ln/>
        </p:spPr>
        <p:txBody>
          <a:bodyPr wrap="square" lIns="0" tIns="0" rIns="0" bIns="0" rtlCol="0" anchor="ctr"/>
          <a:lstStyle/>
          <a:p>
            <a:pPr indent="0" marL="0">
              <a:buNone/>
            </a:pPr>
            <a:r>
              <a:rPr lang="en-US" sz="1100" dirty="0">
                <a:solidFill>
                  <a:srgbClr val="B7C9BF"/>
                </a:solidFill>
                <a:latin typeface="Arial" pitchFamily="34" charset="0"/>
                <a:ea typeface="Arial" pitchFamily="34" charset="-122"/>
                <a:cs typeface="Arial" pitchFamily="34" charset="-120"/>
              </a:rPr>
              <a:t>Status and showcase for Will Evans and Paul Gregov · Sean Bradley · Friday, September 12,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310896" cy="310896"/>
          </a:xfrm>
          <a:prstGeom prst="rect">
            <a:avLst/>
          </a:prstGeom>
        </p:spPr>
      </p:pic>
      <p:sp>
        <p:nvSpPr>
          <p:cNvPr id="3" name="Text 0"/>
          <p:cNvSpPr txBox="1"/>
          <p:nvPr/>
        </p:nvSpPr>
        <p:spPr>
          <a:xfrm>
            <a:off x="868680" y="402336"/>
            <a:ext cx="3657600" cy="274320"/>
          </a:xfrm>
          <a:prstGeom prst="rect">
            <a:avLst/>
          </a:prstGeom>
          <a:noFill/>
          <a:ln/>
        </p:spPr>
        <p:txBody>
          <a:bodyPr wrap="square" lIns="0" tIns="0" rIns="0" bIns="0" rtlCol="0" anchor="ctr"/>
          <a:lstStyle/>
          <a:p>
            <a:pPr indent="0" marL="0">
              <a:buNone/>
            </a:pPr>
            <a:r>
              <a:rPr lang="en-US" sz="950" b="1" spc="200" kern="0" dirty="0">
                <a:solidFill>
                  <a:srgbClr val="113A2A"/>
                </a:solidFill>
                <a:latin typeface="Arial" pitchFamily="34" charset="0"/>
                <a:ea typeface="Arial" pitchFamily="34" charset="-122"/>
                <a:cs typeface="Arial" pitchFamily="34" charset="-120"/>
              </a:rPr>
              <a:t>KARTA CONSULTING GROUP</a:t>
            </a:r>
            <a:endParaRPr lang="en-US" sz="950" dirty="0"/>
          </a:p>
        </p:txBody>
      </p:sp>
      <p:sp>
        <p:nvSpPr>
          <p:cNvPr id="4" name="Text 1"/>
          <p:cNvSpPr txBox="1"/>
          <p:nvPr/>
        </p:nvSpPr>
        <p:spPr>
          <a:xfrm>
            <a:off x="6675120" y="402336"/>
            <a:ext cx="5029200" cy="274320"/>
          </a:xfrm>
          <a:prstGeom prst="rect">
            <a:avLst/>
          </a:prstGeom>
          <a:noFill/>
          <a:ln/>
        </p:spPr>
        <p:txBody>
          <a:bodyPr wrap="square" lIns="0" tIns="0" rIns="0" bIns="0" rtlCol="0" anchor="ctr"/>
          <a:lstStyle/>
          <a:p>
            <a:pPr algn="r" indent="0" marL="0">
              <a:buNone/>
            </a:pPr>
            <a:r>
              <a:rPr lang="en-US" sz="950" dirty="0">
                <a:solidFill>
                  <a:srgbClr val="979187"/>
                </a:solidFill>
                <a:latin typeface="Arial" pitchFamily="34" charset="0"/>
                <a:ea typeface="Arial" pitchFamily="34" charset="-122"/>
                <a:cs typeface="Arial" pitchFamily="34" charset="-120"/>
              </a:rPr>
              <a:t>Karta AI Engagement Workspace · September 12, 2026</a:t>
            </a:r>
            <a:endParaRPr lang="en-US" sz="950" dirty="0"/>
          </a:p>
        </p:txBody>
      </p:sp>
      <p:sp>
        <p:nvSpPr>
          <p:cNvPr id="5" name="Text 2"/>
          <p:cNvSpPr txBox="1"/>
          <p:nvPr/>
        </p:nvSpPr>
        <p:spPr>
          <a:xfrm>
            <a:off x="11430000" y="6355080"/>
            <a:ext cx="365760" cy="274320"/>
          </a:xfrm>
          <a:prstGeom prst="rect">
            <a:avLst/>
          </a:prstGeom>
          <a:noFill/>
          <a:ln/>
        </p:spPr>
        <p:txBody>
          <a:bodyPr wrap="square" lIns="0" tIns="0" rIns="0" bIns="0" rtlCol="0" anchor="ctr"/>
          <a:lstStyle/>
          <a:p>
            <a:pPr algn="r" indent="0" marL="0">
              <a:buNone/>
            </a:pPr>
            <a:r>
              <a:rPr lang="en-US" sz="900" dirty="0">
                <a:solidFill>
                  <a:srgbClr val="979187"/>
                </a:solidFill>
                <a:latin typeface="Arial" pitchFamily="34" charset="0"/>
                <a:ea typeface="Arial" pitchFamily="34" charset="-122"/>
                <a:cs typeface="Arial" pitchFamily="34" charset="-120"/>
              </a:rPr>
              <a:t>2</a:t>
            </a:r>
            <a:endParaRPr lang="en-US" sz="900" dirty="0"/>
          </a:p>
        </p:txBody>
      </p:sp>
      <p:sp>
        <p:nvSpPr>
          <p:cNvPr id="6" name="Text 3"/>
          <p:cNvSpPr txBox="1"/>
          <p:nvPr/>
        </p:nvSpPr>
        <p:spPr>
          <a:xfrm>
            <a:off x="457200" y="960120"/>
            <a:ext cx="11247120" cy="822960"/>
          </a:xfrm>
          <a:prstGeom prst="rect">
            <a:avLst/>
          </a:prstGeom>
          <a:noFill/>
          <a:ln/>
        </p:spPr>
        <p:txBody>
          <a:bodyPr wrap="square" lIns="0" tIns="0" rIns="0" bIns="0" rtlCol="0" anchor="t"/>
          <a:lstStyle/>
          <a:p>
            <a:pPr indent="0" marL="0">
              <a:buNone/>
            </a:pPr>
            <a:r>
              <a:rPr lang="en-US" sz="3000" b="1" dirty="0">
                <a:solidFill>
                  <a:srgbClr val="113A2A"/>
                </a:solidFill>
                <a:latin typeface="Arial" pitchFamily="34" charset="0"/>
                <a:ea typeface="Arial" pitchFamily="34" charset="-122"/>
                <a:cs typeface="Arial" pitchFamily="34" charset="-120"/>
              </a:rPr>
              <a:t>Our AI strategy, and the opportunity in front of us</a:t>
            </a:r>
            <a:endParaRPr lang="en-US" sz="3000" dirty="0"/>
          </a:p>
        </p:txBody>
      </p:sp>
      <p:sp>
        <p:nvSpPr>
          <p:cNvPr id="7" name="Text 4"/>
          <p:cNvSpPr txBox="1"/>
          <p:nvPr/>
        </p:nvSpPr>
        <p:spPr>
          <a:xfrm>
            <a:off x="457200" y="1783080"/>
            <a:ext cx="9601200" cy="640080"/>
          </a:xfrm>
          <a:prstGeom prst="rect">
            <a:avLst/>
          </a:prstGeom>
          <a:noFill/>
          <a:ln/>
        </p:spPr>
        <p:txBody>
          <a:bodyPr wrap="square" lIns="0" tIns="0" rIns="0" bIns="0" rtlCol="0" anchor="t"/>
          <a:lstStyle/>
          <a:p>
            <a:pPr indent="0" marL="0">
              <a:buNone/>
            </a:pPr>
            <a:r>
              <a:rPr lang="en-US" sz="1400" dirty="0">
                <a:solidFill>
                  <a:srgbClr val="6E6961"/>
                </a:solidFill>
                <a:latin typeface="Arial" pitchFamily="34" charset="0"/>
                <a:ea typeface="Arial" pitchFamily="34" charset="-122"/>
                <a:cs typeface="Arial" pitchFamily="34" charset="-120"/>
              </a:rPr>
              <a:t>Three aims, one shift: from meaningful experimentation to reusable ways of working that Karta can support, measure and scale.</a:t>
            </a:r>
            <a:endParaRPr lang="en-US" sz="1400" dirty="0"/>
          </a:p>
        </p:txBody>
      </p:sp>
      <p:sp>
        <p:nvSpPr>
          <p:cNvPr id="8" name="Shape 5"/>
          <p:cNvSpPr/>
          <p:nvPr/>
        </p:nvSpPr>
        <p:spPr>
          <a:xfrm>
            <a:off x="457200" y="2606040"/>
            <a:ext cx="3611880" cy="1737360"/>
          </a:xfrm>
          <a:prstGeom prst="roundRect">
            <a:avLst>
              <a:gd name="adj" fmla="val 5263"/>
            </a:avLst>
          </a:prstGeom>
          <a:solidFill>
            <a:srgbClr val="FFFFFF"/>
          </a:solidFill>
          <a:ln w="12700">
            <a:solidFill>
              <a:srgbClr val="E4E2DE"/>
            </a:solidFill>
            <a:prstDash val="solid"/>
          </a:ln>
        </p:spPr>
      </p:sp>
      <p:sp>
        <p:nvSpPr>
          <p:cNvPr id="9" name="Shape 6"/>
          <p:cNvSpPr/>
          <p:nvPr/>
        </p:nvSpPr>
        <p:spPr>
          <a:xfrm>
            <a:off x="658368" y="2788920"/>
            <a:ext cx="329184" cy="329184"/>
          </a:xfrm>
          <a:prstGeom prst="ellipse">
            <a:avLst/>
          </a:prstGeom>
          <a:solidFill>
            <a:srgbClr val="2A654E"/>
          </a:solidFill>
          <a:ln w="12700">
            <a:solidFill>
              <a:srgbClr val="2A654E"/>
            </a:solidFill>
            <a:prstDash val="solid"/>
          </a:ln>
        </p:spPr>
      </p:sp>
      <p:sp>
        <p:nvSpPr>
          <p:cNvPr id="10" name="Text 7"/>
          <p:cNvSpPr txBox="1"/>
          <p:nvPr/>
        </p:nvSpPr>
        <p:spPr>
          <a:xfrm>
            <a:off x="658368" y="27889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1" name="Text 8"/>
          <p:cNvSpPr txBox="1"/>
          <p:nvPr/>
        </p:nvSpPr>
        <p:spPr>
          <a:xfrm>
            <a:off x="658368" y="3227832"/>
            <a:ext cx="3209544" cy="457200"/>
          </a:xfrm>
          <a:prstGeom prst="rect">
            <a:avLst/>
          </a:prstGeom>
          <a:noFill/>
          <a:ln/>
        </p:spPr>
        <p:txBody>
          <a:bodyPr wrap="square" lIns="0" tIns="0" rIns="0" bIns="0" rtlCol="0" anchor="t"/>
          <a:lstStyle/>
          <a:p>
            <a:pPr indent="0" marL="0">
              <a:buNone/>
            </a:pPr>
            <a:r>
              <a:rPr lang="en-US" sz="1500" b="1" dirty="0">
                <a:solidFill>
                  <a:srgbClr val="113A2A"/>
                </a:solidFill>
                <a:latin typeface="Arial" pitchFamily="34" charset="0"/>
                <a:ea typeface="Arial" pitchFamily="34" charset="-122"/>
                <a:cs typeface="Arial" pitchFamily="34" charset="-120"/>
              </a:rPr>
              <a:t>Strengthen our consultants</a:t>
            </a:r>
            <a:endParaRPr lang="en-US" sz="1500" dirty="0"/>
          </a:p>
        </p:txBody>
      </p:sp>
      <p:sp>
        <p:nvSpPr>
          <p:cNvPr id="12" name="Text 9"/>
          <p:cNvSpPr txBox="1"/>
          <p:nvPr/>
        </p:nvSpPr>
        <p:spPr>
          <a:xfrm>
            <a:off x="658368" y="3685032"/>
            <a:ext cx="3209544" cy="521208"/>
          </a:xfrm>
          <a:prstGeom prst="rect">
            <a:avLst/>
          </a:prstGeom>
          <a:noFill/>
          <a:ln/>
        </p:spPr>
        <p:txBody>
          <a:bodyPr wrap="square" lIns="0" tIns="0" rIns="0" bIns="0" rtlCol="0" anchor="t"/>
          <a:lstStyle/>
          <a:p>
            <a:pPr indent="0" marL="0">
              <a:buNone/>
            </a:pPr>
            <a:r>
              <a:rPr lang="en-US" sz="1100" dirty="0">
                <a:solidFill>
                  <a:srgbClr val="6E6961"/>
                </a:solidFill>
                <a:latin typeface="Arial" pitchFamily="34" charset="0"/>
                <a:ea typeface="Arial" pitchFamily="34" charset="-122"/>
                <a:cs typeface="Arial" pitchFamily="34" charset="-120"/>
              </a:rPr>
              <a:t>Put Karta's collective expertise and AI in the hands of every team member, with judgment developed through real work.</a:t>
            </a:r>
            <a:endParaRPr lang="en-US" sz="1100" dirty="0"/>
          </a:p>
        </p:txBody>
      </p:sp>
      <p:sp>
        <p:nvSpPr>
          <p:cNvPr id="13" name="Shape 10"/>
          <p:cNvSpPr/>
          <p:nvPr/>
        </p:nvSpPr>
        <p:spPr>
          <a:xfrm>
            <a:off x="4251960" y="2606040"/>
            <a:ext cx="3611880" cy="1737360"/>
          </a:xfrm>
          <a:prstGeom prst="roundRect">
            <a:avLst>
              <a:gd name="adj" fmla="val 5263"/>
            </a:avLst>
          </a:prstGeom>
          <a:solidFill>
            <a:srgbClr val="FFFFFF"/>
          </a:solidFill>
          <a:ln w="12700">
            <a:solidFill>
              <a:srgbClr val="E4E2DE"/>
            </a:solidFill>
            <a:prstDash val="solid"/>
          </a:ln>
        </p:spPr>
      </p:sp>
      <p:sp>
        <p:nvSpPr>
          <p:cNvPr id="14" name="Shape 11"/>
          <p:cNvSpPr/>
          <p:nvPr/>
        </p:nvSpPr>
        <p:spPr>
          <a:xfrm>
            <a:off x="4453128" y="2788920"/>
            <a:ext cx="329184" cy="329184"/>
          </a:xfrm>
          <a:prstGeom prst="ellipse">
            <a:avLst/>
          </a:prstGeom>
          <a:solidFill>
            <a:srgbClr val="2A654E"/>
          </a:solidFill>
          <a:ln w="12700">
            <a:solidFill>
              <a:srgbClr val="2A654E"/>
            </a:solidFill>
            <a:prstDash val="solid"/>
          </a:ln>
        </p:spPr>
      </p:sp>
      <p:sp>
        <p:nvSpPr>
          <p:cNvPr id="15" name="Text 12"/>
          <p:cNvSpPr txBox="1"/>
          <p:nvPr/>
        </p:nvSpPr>
        <p:spPr>
          <a:xfrm>
            <a:off x="4453128" y="27889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6" name="Text 13"/>
          <p:cNvSpPr txBox="1"/>
          <p:nvPr/>
        </p:nvSpPr>
        <p:spPr>
          <a:xfrm>
            <a:off x="4453128" y="3227832"/>
            <a:ext cx="3209544" cy="457200"/>
          </a:xfrm>
          <a:prstGeom prst="rect">
            <a:avLst/>
          </a:prstGeom>
          <a:noFill/>
          <a:ln/>
        </p:spPr>
        <p:txBody>
          <a:bodyPr wrap="square" lIns="0" tIns="0" rIns="0" bIns="0" rtlCol="0" anchor="t"/>
          <a:lstStyle/>
          <a:p>
            <a:pPr indent="0" marL="0">
              <a:buNone/>
            </a:pPr>
            <a:r>
              <a:rPr lang="en-US" sz="1500" b="1" dirty="0">
                <a:solidFill>
                  <a:srgbClr val="113A2A"/>
                </a:solidFill>
                <a:latin typeface="Arial" pitchFamily="34" charset="0"/>
                <a:ea typeface="Arial" pitchFamily="34" charset="-122"/>
                <a:cs typeface="Arial" pitchFamily="34" charset="-120"/>
              </a:rPr>
              <a:t>Improve client delivery</a:t>
            </a:r>
            <a:endParaRPr lang="en-US" sz="1500" dirty="0"/>
          </a:p>
        </p:txBody>
      </p:sp>
      <p:sp>
        <p:nvSpPr>
          <p:cNvPr id="17" name="Text 14"/>
          <p:cNvSpPr txBox="1"/>
          <p:nvPr/>
        </p:nvSpPr>
        <p:spPr>
          <a:xfrm>
            <a:off x="4453128" y="3685032"/>
            <a:ext cx="3209544" cy="521208"/>
          </a:xfrm>
          <a:prstGeom prst="rect">
            <a:avLst/>
          </a:prstGeom>
          <a:noFill/>
          <a:ln/>
        </p:spPr>
        <p:txBody>
          <a:bodyPr wrap="square" lIns="0" tIns="0" rIns="0" bIns="0" rtlCol="0" anchor="t"/>
          <a:lstStyle/>
          <a:p>
            <a:pPr indent="0" marL="0">
              <a:buNone/>
            </a:pPr>
            <a:r>
              <a:rPr lang="en-US" sz="1100" dirty="0">
                <a:solidFill>
                  <a:srgbClr val="6E6961"/>
                </a:solidFill>
                <a:latin typeface="Arial" pitchFamily="34" charset="0"/>
                <a:ea typeface="Arial" pitchFamily="34" charset="-122"/>
                <a:cs typeface="Arial" pitchFamily="34" charset="-120"/>
              </a:rPr>
              <a:t>Faster, more consistent, better-evidenced outputs, reviewed by people who are accountable for them.</a:t>
            </a:r>
            <a:endParaRPr lang="en-US" sz="1100" dirty="0"/>
          </a:p>
        </p:txBody>
      </p:sp>
      <p:sp>
        <p:nvSpPr>
          <p:cNvPr id="18" name="Shape 15"/>
          <p:cNvSpPr/>
          <p:nvPr/>
        </p:nvSpPr>
        <p:spPr>
          <a:xfrm>
            <a:off x="8046720" y="2606040"/>
            <a:ext cx="3611880" cy="1737360"/>
          </a:xfrm>
          <a:prstGeom prst="roundRect">
            <a:avLst>
              <a:gd name="adj" fmla="val 5263"/>
            </a:avLst>
          </a:prstGeom>
          <a:solidFill>
            <a:srgbClr val="FFFFFF"/>
          </a:solidFill>
          <a:ln w="12700">
            <a:solidFill>
              <a:srgbClr val="E4E2DE"/>
            </a:solidFill>
            <a:prstDash val="solid"/>
          </a:ln>
        </p:spPr>
      </p:sp>
      <p:sp>
        <p:nvSpPr>
          <p:cNvPr id="19" name="Shape 16"/>
          <p:cNvSpPr/>
          <p:nvPr/>
        </p:nvSpPr>
        <p:spPr>
          <a:xfrm>
            <a:off x="8247888" y="2788920"/>
            <a:ext cx="329184" cy="329184"/>
          </a:xfrm>
          <a:prstGeom prst="ellipse">
            <a:avLst/>
          </a:prstGeom>
          <a:solidFill>
            <a:srgbClr val="2A654E"/>
          </a:solidFill>
          <a:ln w="12700">
            <a:solidFill>
              <a:srgbClr val="2A654E"/>
            </a:solidFill>
            <a:prstDash val="solid"/>
          </a:ln>
        </p:spPr>
      </p:sp>
      <p:sp>
        <p:nvSpPr>
          <p:cNvPr id="20" name="Text 17"/>
          <p:cNvSpPr txBox="1"/>
          <p:nvPr/>
        </p:nvSpPr>
        <p:spPr>
          <a:xfrm>
            <a:off x="8247888" y="278892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1" name="Text 18"/>
          <p:cNvSpPr txBox="1"/>
          <p:nvPr/>
        </p:nvSpPr>
        <p:spPr>
          <a:xfrm>
            <a:off x="8247888" y="3227832"/>
            <a:ext cx="3209544" cy="457200"/>
          </a:xfrm>
          <a:prstGeom prst="rect">
            <a:avLst/>
          </a:prstGeom>
          <a:noFill/>
          <a:ln/>
        </p:spPr>
        <p:txBody>
          <a:bodyPr wrap="square" lIns="0" tIns="0" rIns="0" bIns="0" rtlCol="0" anchor="t"/>
          <a:lstStyle/>
          <a:p>
            <a:pPr indent="0" marL="0">
              <a:buNone/>
            </a:pPr>
            <a:r>
              <a:rPr lang="en-US" sz="1500" b="1" dirty="0">
                <a:solidFill>
                  <a:srgbClr val="113A2A"/>
                </a:solidFill>
                <a:latin typeface="Arial" pitchFamily="34" charset="0"/>
                <a:ea typeface="Arial" pitchFamily="34" charset="-122"/>
                <a:cs typeface="Arial" pitchFamily="34" charset="-120"/>
              </a:rPr>
              <a:t>Reduce repetitive effort</a:t>
            </a:r>
            <a:endParaRPr lang="en-US" sz="1500" dirty="0"/>
          </a:p>
        </p:txBody>
      </p:sp>
      <p:sp>
        <p:nvSpPr>
          <p:cNvPr id="22" name="Text 19"/>
          <p:cNvSpPr txBox="1"/>
          <p:nvPr/>
        </p:nvSpPr>
        <p:spPr>
          <a:xfrm>
            <a:off x="8247888" y="3685032"/>
            <a:ext cx="3209544" cy="521208"/>
          </a:xfrm>
          <a:prstGeom prst="rect">
            <a:avLst/>
          </a:prstGeom>
          <a:noFill/>
          <a:ln/>
        </p:spPr>
        <p:txBody>
          <a:bodyPr wrap="square" lIns="0" tIns="0" rIns="0" bIns="0" rtlCol="0" anchor="t"/>
          <a:lstStyle/>
          <a:p>
            <a:pPr indent="0" marL="0">
              <a:buNone/>
            </a:pPr>
            <a:r>
              <a:rPr lang="en-US" sz="1100" dirty="0">
                <a:solidFill>
                  <a:srgbClr val="6E6961"/>
                </a:solidFill>
                <a:latin typeface="Arial" pitchFamily="34" charset="0"/>
                <a:ea typeface="Arial" pitchFamily="34" charset="-122"/>
                <a:cs typeface="Arial" pitchFamily="34" charset="-120"/>
              </a:rPr>
              <a:t>Stop rebuilding the same context and the same documents every week on every engagement.</a:t>
            </a:r>
            <a:endParaRPr lang="en-US" sz="1100" dirty="0"/>
          </a:p>
        </p:txBody>
      </p:sp>
      <p:sp>
        <p:nvSpPr>
          <p:cNvPr id="23" name="Shape 20"/>
          <p:cNvSpPr/>
          <p:nvPr/>
        </p:nvSpPr>
        <p:spPr>
          <a:xfrm>
            <a:off x="457200" y="4617720"/>
            <a:ext cx="11274552" cy="1234440"/>
          </a:xfrm>
          <a:prstGeom prst="roundRect">
            <a:avLst>
              <a:gd name="adj" fmla="val 7407"/>
            </a:avLst>
          </a:prstGeom>
          <a:solidFill>
            <a:srgbClr val="EAF1ED"/>
          </a:solidFill>
          <a:ln w="12700">
            <a:solidFill>
              <a:srgbClr val="2A654E"/>
            </a:solidFill>
            <a:prstDash val="solid"/>
          </a:ln>
        </p:spPr>
      </p:sp>
      <p:sp>
        <p:nvSpPr>
          <p:cNvPr id="24" name="Text 21"/>
          <p:cNvSpPr txBox="1"/>
          <p:nvPr/>
        </p:nvSpPr>
        <p:spPr>
          <a:xfrm>
            <a:off x="685800" y="4773168"/>
            <a:ext cx="4572000" cy="228600"/>
          </a:xfrm>
          <a:prstGeom prst="rect">
            <a:avLst/>
          </a:prstGeom>
          <a:noFill/>
          <a:ln/>
        </p:spPr>
        <p:txBody>
          <a:bodyPr wrap="square" lIns="0" tIns="0" rIns="0" bIns="0" rtlCol="0" anchor="ctr"/>
          <a:lstStyle/>
          <a:p>
            <a:pPr indent="0" marL="0">
              <a:buNone/>
            </a:pPr>
            <a:r>
              <a:rPr lang="en-US" sz="850" b="1" spc="150" kern="0" dirty="0">
                <a:solidFill>
                  <a:srgbClr val="2A654E"/>
                </a:solidFill>
                <a:latin typeface="Arial" pitchFamily="34" charset="0"/>
                <a:ea typeface="Arial" pitchFamily="34" charset="-122"/>
                <a:cs typeface="Arial" pitchFamily="34" charset="-120"/>
              </a:rPr>
              <a:t>THE OPPORTUNITY NOW</a:t>
            </a:r>
            <a:endParaRPr lang="en-US" sz="850" dirty="0"/>
          </a:p>
        </p:txBody>
      </p:sp>
      <p:sp>
        <p:nvSpPr>
          <p:cNvPr id="25" name="Text 22"/>
          <p:cNvSpPr txBox="1"/>
          <p:nvPr/>
        </p:nvSpPr>
        <p:spPr>
          <a:xfrm>
            <a:off x="685800" y="5029200"/>
            <a:ext cx="10789920" cy="685800"/>
          </a:xfrm>
          <a:prstGeom prst="rect">
            <a:avLst/>
          </a:prstGeom>
          <a:noFill/>
          <a:ln/>
        </p:spPr>
        <p:txBody>
          <a:bodyPr wrap="square" lIns="0" tIns="0" rIns="0" bIns="0" rtlCol="0" anchor="ctr"/>
          <a:lstStyle/>
          <a:p>
            <a:pPr indent="0" marL="0">
              <a:buNone/>
            </a:pPr>
            <a:r>
              <a:rPr lang="en-US" sz="1600" b="1" dirty="0">
                <a:solidFill>
                  <a:srgbClr val="113A2A"/>
                </a:solidFill>
                <a:latin typeface="Arial" pitchFamily="34" charset="0"/>
                <a:ea typeface="Arial" pitchFamily="34" charset="-122"/>
                <a:cs typeface="Arial" pitchFamily="34" charset="-120"/>
              </a:rPr>
              <a:t>Turn the activity already underway into reusable ways of working that Karta can support, measure and scale.</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310896" cy="310896"/>
          </a:xfrm>
          <a:prstGeom prst="rect">
            <a:avLst/>
          </a:prstGeom>
        </p:spPr>
      </p:pic>
      <p:sp>
        <p:nvSpPr>
          <p:cNvPr id="3" name="Text 0"/>
          <p:cNvSpPr txBox="1"/>
          <p:nvPr/>
        </p:nvSpPr>
        <p:spPr>
          <a:xfrm>
            <a:off x="868680" y="402336"/>
            <a:ext cx="3657600" cy="274320"/>
          </a:xfrm>
          <a:prstGeom prst="rect">
            <a:avLst/>
          </a:prstGeom>
          <a:noFill/>
          <a:ln/>
        </p:spPr>
        <p:txBody>
          <a:bodyPr wrap="square" lIns="0" tIns="0" rIns="0" bIns="0" rtlCol="0" anchor="ctr"/>
          <a:lstStyle/>
          <a:p>
            <a:pPr indent="0" marL="0">
              <a:buNone/>
            </a:pPr>
            <a:r>
              <a:rPr lang="en-US" sz="950" b="1" spc="200" kern="0" dirty="0">
                <a:solidFill>
                  <a:srgbClr val="113A2A"/>
                </a:solidFill>
                <a:latin typeface="Arial" pitchFamily="34" charset="0"/>
                <a:ea typeface="Arial" pitchFamily="34" charset="-122"/>
                <a:cs typeface="Arial" pitchFamily="34" charset="-120"/>
              </a:rPr>
              <a:t>KARTA CONSULTING GROUP</a:t>
            </a:r>
            <a:endParaRPr lang="en-US" sz="950" dirty="0"/>
          </a:p>
        </p:txBody>
      </p:sp>
      <p:sp>
        <p:nvSpPr>
          <p:cNvPr id="4" name="Text 1"/>
          <p:cNvSpPr txBox="1"/>
          <p:nvPr/>
        </p:nvSpPr>
        <p:spPr>
          <a:xfrm>
            <a:off x="6675120" y="402336"/>
            <a:ext cx="5029200" cy="274320"/>
          </a:xfrm>
          <a:prstGeom prst="rect">
            <a:avLst/>
          </a:prstGeom>
          <a:noFill/>
          <a:ln/>
        </p:spPr>
        <p:txBody>
          <a:bodyPr wrap="square" lIns="0" tIns="0" rIns="0" bIns="0" rtlCol="0" anchor="ctr"/>
          <a:lstStyle/>
          <a:p>
            <a:pPr algn="r" indent="0" marL="0">
              <a:buNone/>
            </a:pPr>
            <a:r>
              <a:rPr lang="en-US" sz="950" dirty="0">
                <a:solidFill>
                  <a:srgbClr val="979187"/>
                </a:solidFill>
                <a:latin typeface="Arial" pitchFamily="34" charset="0"/>
                <a:ea typeface="Arial" pitchFamily="34" charset="-122"/>
                <a:cs typeface="Arial" pitchFamily="34" charset="-120"/>
              </a:rPr>
              <a:t>Karta AI Engagement Workspace · September 12, 2026</a:t>
            </a:r>
            <a:endParaRPr lang="en-US" sz="950" dirty="0"/>
          </a:p>
        </p:txBody>
      </p:sp>
      <p:sp>
        <p:nvSpPr>
          <p:cNvPr id="5" name="Text 2"/>
          <p:cNvSpPr txBox="1"/>
          <p:nvPr/>
        </p:nvSpPr>
        <p:spPr>
          <a:xfrm>
            <a:off x="11430000" y="6355080"/>
            <a:ext cx="365760" cy="274320"/>
          </a:xfrm>
          <a:prstGeom prst="rect">
            <a:avLst/>
          </a:prstGeom>
          <a:noFill/>
          <a:ln/>
        </p:spPr>
        <p:txBody>
          <a:bodyPr wrap="square" lIns="0" tIns="0" rIns="0" bIns="0" rtlCol="0" anchor="ctr"/>
          <a:lstStyle/>
          <a:p>
            <a:pPr algn="r" indent="0" marL="0">
              <a:buNone/>
            </a:pPr>
            <a:r>
              <a:rPr lang="en-US" sz="900" dirty="0">
                <a:solidFill>
                  <a:srgbClr val="979187"/>
                </a:solidFill>
                <a:latin typeface="Arial" pitchFamily="34" charset="0"/>
                <a:ea typeface="Arial" pitchFamily="34" charset="-122"/>
                <a:cs typeface="Arial" pitchFamily="34" charset="-120"/>
              </a:rPr>
              <a:t>3</a:t>
            </a:r>
            <a:endParaRPr lang="en-US" sz="900" dirty="0"/>
          </a:p>
        </p:txBody>
      </p:sp>
      <p:sp>
        <p:nvSpPr>
          <p:cNvPr id="6" name="Text 3"/>
          <p:cNvSpPr txBox="1"/>
          <p:nvPr/>
        </p:nvSpPr>
        <p:spPr>
          <a:xfrm>
            <a:off x="457200" y="960120"/>
            <a:ext cx="11247120" cy="822960"/>
          </a:xfrm>
          <a:prstGeom prst="rect">
            <a:avLst/>
          </a:prstGeom>
          <a:noFill/>
          <a:ln/>
        </p:spPr>
        <p:txBody>
          <a:bodyPr wrap="square" lIns="0" tIns="0" rIns="0" bIns="0" rtlCol="0" anchor="t"/>
          <a:lstStyle/>
          <a:p>
            <a:pPr indent="0" marL="0">
              <a:buNone/>
            </a:pPr>
            <a:r>
              <a:rPr lang="en-US" sz="3000" b="1" dirty="0">
                <a:solidFill>
                  <a:srgbClr val="113A2A"/>
                </a:solidFill>
                <a:latin typeface="Arial" pitchFamily="34" charset="0"/>
                <a:ea typeface="Arial" pitchFamily="34" charset="-122"/>
                <a:cs typeface="Arial" pitchFamily="34" charset="-120"/>
              </a:rPr>
              <a:t>Today, understanding an engagement takes effort</a:t>
            </a:r>
            <a:endParaRPr lang="en-US" sz="3000" dirty="0"/>
          </a:p>
        </p:txBody>
      </p:sp>
      <p:sp>
        <p:nvSpPr>
          <p:cNvPr id="7" name="Text 4"/>
          <p:cNvSpPr txBox="1"/>
          <p:nvPr/>
        </p:nvSpPr>
        <p:spPr>
          <a:xfrm>
            <a:off x="457200" y="1783080"/>
            <a:ext cx="9601200" cy="640080"/>
          </a:xfrm>
          <a:prstGeom prst="rect">
            <a:avLst/>
          </a:prstGeom>
          <a:noFill/>
          <a:ln/>
        </p:spPr>
        <p:txBody>
          <a:bodyPr wrap="square" lIns="0" tIns="0" rIns="0" bIns="0" rtlCol="0" anchor="t"/>
          <a:lstStyle/>
          <a:p>
            <a:pPr indent="0" marL="0">
              <a:buNone/>
            </a:pPr>
            <a:r>
              <a:rPr lang="en-US" sz="1400" dirty="0">
                <a:solidFill>
                  <a:srgbClr val="6E6961"/>
                </a:solidFill>
                <a:latin typeface="Arial" pitchFamily="34" charset="0"/>
                <a:ea typeface="Arial" pitchFamily="34" charset="-122"/>
                <a:cs typeface="Arial" pitchFamily="34" charset="-120"/>
              </a:rPr>
              <a:t>The plan is in one place, the documents in another, and the context that matters most lives in meetings and in people's heads.</a:t>
            </a:r>
            <a:endParaRPr lang="en-US" sz="1400" dirty="0"/>
          </a:p>
        </p:txBody>
      </p:sp>
      <p:sp>
        <p:nvSpPr>
          <p:cNvPr id="8" name="Shape 5"/>
          <p:cNvSpPr/>
          <p:nvPr/>
        </p:nvSpPr>
        <p:spPr>
          <a:xfrm>
            <a:off x="457200" y="2606040"/>
            <a:ext cx="2651760" cy="1234440"/>
          </a:xfrm>
          <a:prstGeom prst="roundRect">
            <a:avLst>
              <a:gd name="adj" fmla="val 7407"/>
            </a:avLst>
          </a:prstGeom>
          <a:solidFill>
            <a:srgbClr val="F5F4F2"/>
          </a:solidFill>
          <a:ln w="12700">
            <a:solidFill>
              <a:srgbClr val="E4E2DE"/>
            </a:solidFill>
            <a:prstDash val="solid"/>
          </a:ln>
        </p:spPr>
      </p:sp>
      <p:sp>
        <p:nvSpPr>
          <p:cNvPr id="9" name="Text 6"/>
          <p:cNvSpPr txBox="1"/>
          <p:nvPr/>
        </p:nvSpPr>
        <p:spPr>
          <a:xfrm>
            <a:off x="658368" y="2788920"/>
            <a:ext cx="2249424" cy="457200"/>
          </a:xfrm>
          <a:prstGeom prst="rect">
            <a:avLst/>
          </a:prstGeom>
          <a:noFill/>
          <a:ln/>
        </p:spPr>
        <p:txBody>
          <a:bodyPr wrap="square" lIns="0" tIns="0" rIns="0" bIns="0" rtlCol="0" anchor="t"/>
          <a:lstStyle/>
          <a:p>
            <a:pPr indent="0" marL="0">
              <a:buNone/>
            </a:pPr>
            <a:r>
              <a:rPr lang="en-US" sz="1400" b="1" dirty="0">
                <a:solidFill>
                  <a:srgbClr val="113A2A"/>
                </a:solidFill>
                <a:latin typeface="Arial" pitchFamily="34" charset="0"/>
                <a:ea typeface="Arial" pitchFamily="34" charset="-122"/>
                <a:cs typeface="Arial" pitchFamily="34" charset="-120"/>
              </a:rPr>
              <a:t>Asana</a:t>
            </a:r>
            <a:endParaRPr lang="en-US" sz="1400" dirty="0"/>
          </a:p>
        </p:txBody>
      </p:sp>
      <p:sp>
        <p:nvSpPr>
          <p:cNvPr id="10" name="Text 7"/>
          <p:cNvSpPr txBox="1"/>
          <p:nvPr/>
        </p:nvSpPr>
        <p:spPr>
          <a:xfrm>
            <a:off x="658368" y="3246120"/>
            <a:ext cx="2249424" cy="457200"/>
          </a:xfrm>
          <a:prstGeom prst="rect">
            <a:avLst/>
          </a:prstGeom>
          <a:noFill/>
          <a:ln/>
        </p:spPr>
        <p:txBody>
          <a:bodyPr wrap="square" lIns="0" tIns="0" rIns="0" bIns="0" rtlCol="0" anchor="t"/>
          <a:lstStyle/>
          <a:p>
            <a:pPr indent="0" marL="0">
              <a:buNone/>
            </a:pPr>
            <a:r>
              <a:rPr lang="en-US" sz="1100" dirty="0">
                <a:solidFill>
                  <a:srgbClr val="6E6961"/>
                </a:solidFill>
                <a:latin typeface="Arial" pitchFamily="34" charset="0"/>
                <a:ea typeface="Arial" pitchFamily="34" charset="-122"/>
                <a:cs typeface="Arial" pitchFamily="34" charset="-120"/>
              </a:rPr>
              <a:t>the plan, tasks and milestones</a:t>
            </a:r>
            <a:endParaRPr lang="en-US" sz="1100" dirty="0"/>
          </a:p>
        </p:txBody>
      </p:sp>
      <p:sp>
        <p:nvSpPr>
          <p:cNvPr id="11" name="Shape 8"/>
          <p:cNvSpPr/>
          <p:nvPr/>
        </p:nvSpPr>
        <p:spPr>
          <a:xfrm>
            <a:off x="3291840" y="2606040"/>
            <a:ext cx="2651760" cy="1234440"/>
          </a:xfrm>
          <a:prstGeom prst="roundRect">
            <a:avLst>
              <a:gd name="adj" fmla="val 7407"/>
            </a:avLst>
          </a:prstGeom>
          <a:solidFill>
            <a:srgbClr val="F5F4F2"/>
          </a:solidFill>
          <a:ln w="12700">
            <a:solidFill>
              <a:srgbClr val="E4E2DE"/>
            </a:solidFill>
            <a:prstDash val="solid"/>
          </a:ln>
        </p:spPr>
      </p:sp>
      <p:sp>
        <p:nvSpPr>
          <p:cNvPr id="12" name="Text 9"/>
          <p:cNvSpPr txBox="1"/>
          <p:nvPr/>
        </p:nvSpPr>
        <p:spPr>
          <a:xfrm>
            <a:off x="3493008" y="2788920"/>
            <a:ext cx="2249424" cy="457200"/>
          </a:xfrm>
          <a:prstGeom prst="rect">
            <a:avLst/>
          </a:prstGeom>
          <a:noFill/>
          <a:ln/>
        </p:spPr>
        <p:txBody>
          <a:bodyPr wrap="square" lIns="0" tIns="0" rIns="0" bIns="0" rtlCol="0" anchor="t"/>
          <a:lstStyle/>
          <a:p>
            <a:pPr indent="0" marL="0">
              <a:buNone/>
            </a:pPr>
            <a:r>
              <a:rPr lang="en-US" sz="1400" b="1" dirty="0">
                <a:solidFill>
                  <a:srgbClr val="113A2A"/>
                </a:solidFill>
                <a:latin typeface="Arial" pitchFamily="34" charset="0"/>
                <a:ea typeface="Arial" pitchFamily="34" charset="-122"/>
                <a:cs typeface="Arial" pitchFamily="34" charset="-120"/>
              </a:rPr>
              <a:t>SharePoint</a:t>
            </a:r>
            <a:endParaRPr lang="en-US" sz="1400" dirty="0"/>
          </a:p>
        </p:txBody>
      </p:sp>
      <p:sp>
        <p:nvSpPr>
          <p:cNvPr id="13" name="Text 10"/>
          <p:cNvSpPr txBox="1"/>
          <p:nvPr/>
        </p:nvSpPr>
        <p:spPr>
          <a:xfrm>
            <a:off x="3493008" y="3246120"/>
            <a:ext cx="2249424" cy="457200"/>
          </a:xfrm>
          <a:prstGeom prst="rect">
            <a:avLst/>
          </a:prstGeom>
          <a:noFill/>
          <a:ln/>
        </p:spPr>
        <p:txBody>
          <a:bodyPr wrap="square" lIns="0" tIns="0" rIns="0" bIns="0" rtlCol="0" anchor="t"/>
          <a:lstStyle/>
          <a:p>
            <a:pPr indent="0" marL="0">
              <a:buNone/>
            </a:pPr>
            <a:r>
              <a:rPr lang="en-US" sz="1100" dirty="0">
                <a:solidFill>
                  <a:srgbClr val="6E6961"/>
                </a:solidFill>
                <a:latin typeface="Arial" pitchFamily="34" charset="0"/>
                <a:ea typeface="Arial" pitchFamily="34" charset="-122"/>
                <a:cs typeface="Arial" pitchFamily="34" charset="-120"/>
              </a:rPr>
              <a:t>documents, decks and deliverables</a:t>
            </a:r>
            <a:endParaRPr lang="en-US" sz="1100" dirty="0"/>
          </a:p>
        </p:txBody>
      </p:sp>
      <p:sp>
        <p:nvSpPr>
          <p:cNvPr id="14" name="Shape 11"/>
          <p:cNvSpPr/>
          <p:nvPr/>
        </p:nvSpPr>
        <p:spPr>
          <a:xfrm>
            <a:off x="6126480" y="2606040"/>
            <a:ext cx="2651760" cy="1234440"/>
          </a:xfrm>
          <a:prstGeom prst="roundRect">
            <a:avLst>
              <a:gd name="adj" fmla="val 7407"/>
            </a:avLst>
          </a:prstGeom>
          <a:solidFill>
            <a:srgbClr val="F5F4F2"/>
          </a:solidFill>
          <a:ln w="12700">
            <a:solidFill>
              <a:srgbClr val="E4E2DE"/>
            </a:solidFill>
            <a:prstDash val="solid"/>
          </a:ln>
        </p:spPr>
      </p:sp>
      <p:sp>
        <p:nvSpPr>
          <p:cNvPr id="15" name="Text 12"/>
          <p:cNvSpPr txBox="1"/>
          <p:nvPr/>
        </p:nvSpPr>
        <p:spPr>
          <a:xfrm>
            <a:off x="6327648" y="2788920"/>
            <a:ext cx="2249424" cy="457200"/>
          </a:xfrm>
          <a:prstGeom prst="rect">
            <a:avLst/>
          </a:prstGeom>
          <a:noFill/>
          <a:ln/>
        </p:spPr>
        <p:txBody>
          <a:bodyPr wrap="square" lIns="0" tIns="0" rIns="0" bIns="0" rtlCol="0" anchor="t"/>
          <a:lstStyle/>
          <a:p>
            <a:pPr indent="0" marL="0">
              <a:buNone/>
            </a:pPr>
            <a:r>
              <a:rPr lang="en-US" sz="1400" b="1" dirty="0">
                <a:solidFill>
                  <a:srgbClr val="113A2A"/>
                </a:solidFill>
                <a:latin typeface="Arial" pitchFamily="34" charset="0"/>
                <a:ea typeface="Arial" pitchFamily="34" charset="-122"/>
                <a:cs typeface="Arial" pitchFamily="34" charset="-120"/>
              </a:rPr>
              <a:t>Meetings</a:t>
            </a:r>
            <a:endParaRPr lang="en-US" sz="1400" dirty="0"/>
          </a:p>
        </p:txBody>
      </p:sp>
      <p:sp>
        <p:nvSpPr>
          <p:cNvPr id="16" name="Text 13"/>
          <p:cNvSpPr txBox="1"/>
          <p:nvPr/>
        </p:nvSpPr>
        <p:spPr>
          <a:xfrm>
            <a:off x="6327648" y="3246120"/>
            <a:ext cx="2249424" cy="457200"/>
          </a:xfrm>
          <a:prstGeom prst="rect">
            <a:avLst/>
          </a:prstGeom>
          <a:noFill/>
          <a:ln/>
        </p:spPr>
        <p:txBody>
          <a:bodyPr wrap="square" lIns="0" tIns="0" rIns="0" bIns="0" rtlCol="0" anchor="t"/>
          <a:lstStyle/>
          <a:p>
            <a:pPr indent="0" marL="0">
              <a:buNone/>
            </a:pPr>
            <a:r>
              <a:rPr lang="en-US" sz="1100" dirty="0">
                <a:solidFill>
                  <a:srgbClr val="6E6961"/>
                </a:solidFill>
                <a:latin typeface="Arial" pitchFamily="34" charset="0"/>
                <a:ea typeface="Arial" pitchFamily="34" charset="-122"/>
                <a:cs typeface="Arial" pitchFamily="34" charset="-120"/>
              </a:rPr>
              <a:t>decisions, context and change</a:t>
            </a:r>
            <a:endParaRPr lang="en-US" sz="1100" dirty="0"/>
          </a:p>
        </p:txBody>
      </p:sp>
      <p:sp>
        <p:nvSpPr>
          <p:cNvPr id="17" name="Shape 14"/>
          <p:cNvSpPr/>
          <p:nvPr/>
        </p:nvSpPr>
        <p:spPr>
          <a:xfrm>
            <a:off x="8961120" y="2606040"/>
            <a:ext cx="2651760" cy="1234440"/>
          </a:xfrm>
          <a:prstGeom prst="roundRect">
            <a:avLst>
              <a:gd name="adj" fmla="val 7407"/>
            </a:avLst>
          </a:prstGeom>
          <a:solidFill>
            <a:srgbClr val="F5F4F2"/>
          </a:solidFill>
          <a:ln w="12700">
            <a:solidFill>
              <a:srgbClr val="E4E2DE"/>
            </a:solidFill>
            <a:prstDash val="solid"/>
          </a:ln>
        </p:spPr>
      </p:sp>
      <p:sp>
        <p:nvSpPr>
          <p:cNvPr id="18" name="Text 15"/>
          <p:cNvSpPr txBox="1"/>
          <p:nvPr/>
        </p:nvSpPr>
        <p:spPr>
          <a:xfrm>
            <a:off x="9162288" y="2788920"/>
            <a:ext cx="2249424" cy="457200"/>
          </a:xfrm>
          <a:prstGeom prst="rect">
            <a:avLst/>
          </a:prstGeom>
          <a:noFill/>
          <a:ln/>
        </p:spPr>
        <p:txBody>
          <a:bodyPr wrap="square" lIns="0" tIns="0" rIns="0" bIns="0" rtlCol="0" anchor="t"/>
          <a:lstStyle/>
          <a:p>
            <a:pPr indent="0" marL="0">
              <a:buNone/>
            </a:pPr>
            <a:r>
              <a:rPr lang="en-US" sz="1400" b="1" dirty="0">
                <a:solidFill>
                  <a:srgbClr val="113A2A"/>
                </a:solidFill>
                <a:latin typeface="Arial" pitchFamily="34" charset="0"/>
                <a:ea typeface="Arial" pitchFamily="34" charset="-122"/>
                <a:cs typeface="Arial" pitchFamily="34" charset="-120"/>
              </a:rPr>
              <a:t>Individual knowledge</a:t>
            </a:r>
            <a:endParaRPr lang="en-US" sz="1400" dirty="0"/>
          </a:p>
        </p:txBody>
      </p:sp>
      <p:sp>
        <p:nvSpPr>
          <p:cNvPr id="19" name="Text 16"/>
          <p:cNvSpPr txBox="1"/>
          <p:nvPr/>
        </p:nvSpPr>
        <p:spPr>
          <a:xfrm>
            <a:off x="9162288" y="3246120"/>
            <a:ext cx="2249424" cy="457200"/>
          </a:xfrm>
          <a:prstGeom prst="rect">
            <a:avLst/>
          </a:prstGeom>
          <a:noFill/>
          <a:ln/>
        </p:spPr>
        <p:txBody>
          <a:bodyPr wrap="square" lIns="0" tIns="0" rIns="0" bIns="0" rtlCol="0" anchor="t"/>
          <a:lstStyle/>
          <a:p>
            <a:pPr indent="0" marL="0">
              <a:buNone/>
            </a:pPr>
            <a:r>
              <a:rPr lang="en-US" sz="1100" dirty="0">
                <a:solidFill>
                  <a:srgbClr val="6E6961"/>
                </a:solidFill>
                <a:latin typeface="Arial" pitchFamily="34" charset="0"/>
                <a:ea typeface="Arial" pitchFamily="34" charset="-122"/>
                <a:cs typeface="Arial" pitchFamily="34" charset="-120"/>
              </a:rPr>
              <a:t>what the team member who was there remembers</a:t>
            </a:r>
            <a:endParaRPr lang="en-US" sz="1100" dirty="0"/>
          </a:p>
        </p:txBody>
      </p:sp>
      <p:sp>
        <p:nvSpPr>
          <p:cNvPr id="20" name="Shape 17"/>
          <p:cNvSpPr/>
          <p:nvPr/>
        </p:nvSpPr>
        <p:spPr>
          <a:xfrm>
            <a:off x="6089904" y="3840480"/>
            <a:ext cx="0" cy="365760"/>
          </a:xfrm>
          <a:prstGeom prst="line">
            <a:avLst/>
          </a:prstGeom>
          <a:noFill/>
          <a:ln w="15875">
            <a:solidFill>
              <a:srgbClr val="979187"/>
            </a:solidFill>
            <a:prstDash val="solid"/>
            <a:tailEnd type="triangle"/>
          </a:ln>
        </p:spPr>
      </p:sp>
      <p:sp>
        <p:nvSpPr>
          <p:cNvPr id="21" name="Shape 18"/>
          <p:cNvSpPr/>
          <p:nvPr/>
        </p:nvSpPr>
        <p:spPr>
          <a:xfrm>
            <a:off x="457200" y="4251960"/>
            <a:ext cx="11274552" cy="822960"/>
          </a:xfrm>
          <a:prstGeom prst="roundRect">
            <a:avLst>
              <a:gd name="adj" fmla="val 11111"/>
            </a:avLst>
          </a:prstGeom>
          <a:solidFill>
            <a:srgbClr val="FFFFFF"/>
          </a:solidFill>
          <a:ln w="12700">
            <a:solidFill>
              <a:srgbClr val="C9C5BE"/>
            </a:solidFill>
            <a:prstDash val="solid"/>
          </a:ln>
        </p:spPr>
      </p:sp>
      <p:sp>
        <p:nvSpPr>
          <p:cNvPr id="22" name="Text 19"/>
          <p:cNvSpPr txBox="1"/>
          <p:nvPr/>
        </p:nvSpPr>
        <p:spPr>
          <a:xfrm>
            <a:off x="685800" y="4389120"/>
            <a:ext cx="10789920" cy="548640"/>
          </a:xfrm>
          <a:prstGeom prst="rect">
            <a:avLst/>
          </a:prstGeom>
          <a:noFill/>
          <a:ln/>
        </p:spPr>
        <p:txBody>
          <a:bodyPr wrap="square" lIns="0" tIns="0" rIns="0" bIns="0" rtlCol="0" anchor="ctr"/>
          <a:lstStyle/>
          <a:p>
            <a:pPr indent="0" marL="0">
              <a:buNone/>
            </a:pPr>
            <a:r>
              <a:rPr lang="en-US" sz="1400" dirty="0">
                <a:solidFill>
                  <a:srgbClr val="113A2A"/>
                </a:solidFill>
                <a:latin typeface="Arial" pitchFamily="34" charset="0"/>
                <a:ea typeface="Arial" pitchFamily="34" charset="-122"/>
                <a:cs typeface="Arial" pitchFamily="34" charset="-120"/>
              </a:rPr>
              <a:t>Consultants repeatedly gather and interpret that information to prepare a status report, develop a design, or bring another team member up to speed.</a:t>
            </a:r>
            <a:endParaRPr lang="en-US" sz="1400" dirty="0"/>
          </a:p>
        </p:txBody>
      </p:sp>
      <p:sp>
        <p:nvSpPr>
          <p:cNvPr id="23" name="Text 20"/>
          <p:cNvSpPr txBox="1"/>
          <p:nvPr/>
        </p:nvSpPr>
        <p:spPr>
          <a:xfrm>
            <a:off x="457200" y="5303520"/>
            <a:ext cx="11274552" cy="640080"/>
          </a:xfrm>
          <a:prstGeom prst="rect">
            <a:avLst/>
          </a:prstGeom>
          <a:noFill/>
          <a:ln/>
        </p:spPr>
        <p:txBody>
          <a:bodyPr wrap="square" lIns="0" tIns="0" rIns="0" bIns="0" rtlCol="0" anchor="ctr"/>
          <a:lstStyle/>
          <a:p>
            <a:pPr indent="0" marL="0">
              <a:buNone/>
            </a:pPr>
            <a:r>
              <a:rPr lang="en-US" sz="1300" dirty="0">
                <a:solidFill>
                  <a:srgbClr val="6E6961"/>
                </a:solidFill>
                <a:latin typeface="Arial" pitchFamily="34" charset="0"/>
                <a:ea typeface="Arial" pitchFamily="34" charset="-122"/>
                <a:cs typeface="Arial" pitchFamily="34" charset="-120"/>
              </a:rPr>
              <a:t>And as we introduce more AI capabilities, each one needs the same project context, and our teams need to know which capabilities are ready, when to use them, and how to review the results.</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310896" cy="310896"/>
          </a:xfrm>
          <a:prstGeom prst="rect">
            <a:avLst/>
          </a:prstGeom>
        </p:spPr>
      </p:pic>
      <p:sp>
        <p:nvSpPr>
          <p:cNvPr id="3" name="Text 0"/>
          <p:cNvSpPr txBox="1"/>
          <p:nvPr/>
        </p:nvSpPr>
        <p:spPr>
          <a:xfrm>
            <a:off x="868680" y="402336"/>
            <a:ext cx="3657600" cy="274320"/>
          </a:xfrm>
          <a:prstGeom prst="rect">
            <a:avLst/>
          </a:prstGeom>
          <a:noFill/>
          <a:ln/>
        </p:spPr>
        <p:txBody>
          <a:bodyPr wrap="square" lIns="0" tIns="0" rIns="0" bIns="0" rtlCol="0" anchor="ctr"/>
          <a:lstStyle/>
          <a:p>
            <a:pPr indent="0" marL="0">
              <a:buNone/>
            </a:pPr>
            <a:r>
              <a:rPr lang="en-US" sz="950" b="1" spc="200" kern="0" dirty="0">
                <a:solidFill>
                  <a:srgbClr val="113A2A"/>
                </a:solidFill>
                <a:latin typeface="Arial" pitchFamily="34" charset="0"/>
                <a:ea typeface="Arial" pitchFamily="34" charset="-122"/>
                <a:cs typeface="Arial" pitchFamily="34" charset="-120"/>
              </a:rPr>
              <a:t>KARTA CONSULTING GROUP</a:t>
            </a:r>
            <a:endParaRPr lang="en-US" sz="950" dirty="0"/>
          </a:p>
        </p:txBody>
      </p:sp>
      <p:sp>
        <p:nvSpPr>
          <p:cNvPr id="4" name="Text 1"/>
          <p:cNvSpPr txBox="1"/>
          <p:nvPr/>
        </p:nvSpPr>
        <p:spPr>
          <a:xfrm>
            <a:off x="6675120" y="402336"/>
            <a:ext cx="5029200" cy="274320"/>
          </a:xfrm>
          <a:prstGeom prst="rect">
            <a:avLst/>
          </a:prstGeom>
          <a:noFill/>
          <a:ln/>
        </p:spPr>
        <p:txBody>
          <a:bodyPr wrap="square" lIns="0" tIns="0" rIns="0" bIns="0" rtlCol="0" anchor="ctr"/>
          <a:lstStyle/>
          <a:p>
            <a:pPr algn="r" indent="0" marL="0">
              <a:buNone/>
            </a:pPr>
            <a:r>
              <a:rPr lang="en-US" sz="950" dirty="0">
                <a:solidFill>
                  <a:srgbClr val="979187"/>
                </a:solidFill>
                <a:latin typeface="Arial" pitchFamily="34" charset="0"/>
                <a:ea typeface="Arial" pitchFamily="34" charset="-122"/>
                <a:cs typeface="Arial" pitchFamily="34" charset="-120"/>
              </a:rPr>
              <a:t>Karta AI Engagement Workspace · September 12, 2026</a:t>
            </a:r>
            <a:endParaRPr lang="en-US" sz="950" dirty="0"/>
          </a:p>
        </p:txBody>
      </p:sp>
      <p:sp>
        <p:nvSpPr>
          <p:cNvPr id="5" name="Text 2"/>
          <p:cNvSpPr txBox="1"/>
          <p:nvPr/>
        </p:nvSpPr>
        <p:spPr>
          <a:xfrm>
            <a:off x="11430000" y="6355080"/>
            <a:ext cx="365760" cy="274320"/>
          </a:xfrm>
          <a:prstGeom prst="rect">
            <a:avLst/>
          </a:prstGeom>
          <a:noFill/>
          <a:ln/>
        </p:spPr>
        <p:txBody>
          <a:bodyPr wrap="square" lIns="0" tIns="0" rIns="0" bIns="0" rtlCol="0" anchor="ctr"/>
          <a:lstStyle/>
          <a:p>
            <a:pPr algn="r" indent="0" marL="0">
              <a:buNone/>
            </a:pPr>
            <a:r>
              <a:rPr lang="en-US" sz="900" dirty="0">
                <a:solidFill>
                  <a:srgbClr val="979187"/>
                </a:solidFill>
                <a:latin typeface="Arial" pitchFamily="34" charset="0"/>
                <a:ea typeface="Arial" pitchFamily="34" charset="-122"/>
                <a:cs typeface="Arial" pitchFamily="34" charset="-120"/>
              </a:rPr>
              <a:t>4</a:t>
            </a:r>
            <a:endParaRPr lang="en-US" sz="900" dirty="0"/>
          </a:p>
        </p:txBody>
      </p:sp>
      <p:sp>
        <p:nvSpPr>
          <p:cNvPr id="6" name="Text 3"/>
          <p:cNvSpPr txBox="1"/>
          <p:nvPr/>
        </p:nvSpPr>
        <p:spPr>
          <a:xfrm>
            <a:off x="457200" y="960120"/>
            <a:ext cx="11247120" cy="822960"/>
          </a:xfrm>
          <a:prstGeom prst="rect">
            <a:avLst/>
          </a:prstGeom>
          <a:noFill/>
          <a:ln/>
        </p:spPr>
        <p:txBody>
          <a:bodyPr wrap="square" lIns="0" tIns="0" rIns="0" bIns="0" rtlCol="0" anchor="t"/>
          <a:lstStyle/>
          <a:p>
            <a:pPr indent="0" marL="0">
              <a:buNone/>
            </a:pPr>
            <a:r>
              <a:rPr lang="en-US" sz="3000" b="1" dirty="0">
                <a:solidFill>
                  <a:srgbClr val="113A2A"/>
                </a:solidFill>
                <a:latin typeface="Arial" pitchFamily="34" charset="0"/>
                <a:ea typeface="Arial" pitchFamily="34" charset="-122"/>
                <a:cs typeface="Arial" pitchFamily="34" charset="-120"/>
              </a:rPr>
              <a:t>The Engagement Workspace gives each project its own home for that work</a:t>
            </a:r>
            <a:endParaRPr lang="en-US" sz="3000" dirty="0"/>
          </a:p>
        </p:txBody>
      </p:sp>
      <p:sp>
        <p:nvSpPr>
          <p:cNvPr id="7" name="Text 4"/>
          <p:cNvSpPr txBox="1"/>
          <p:nvPr/>
        </p:nvSpPr>
        <p:spPr>
          <a:xfrm>
            <a:off x="457200" y="1783080"/>
            <a:ext cx="9601200" cy="640080"/>
          </a:xfrm>
          <a:prstGeom prst="rect">
            <a:avLst/>
          </a:prstGeom>
          <a:noFill/>
          <a:ln/>
        </p:spPr>
        <p:txBody>
          <a:bodyPr wrap="square" lIns="0" tIns="0" rIns="0" bIns="0" rtlCol="0" anchor="t"/>
          <a:lstStyle/>
          <a:p>
            <a:pPr indent="0" marL="0">
              <a:buNone/>
            </a:pPr>
            <a:r>
              <a:rPr lang="en-US" sz="1400" dirty="0">
                <a:solidFill>
                  <a:srgbClr val="6E6961"/>
                </a:solidFill>
                <a:latin typeface="Arial" pitchFamily="34" charset="0"/>
                <a:ea typeface="Arial" pitchFamily="34" charset="-122"/>
                <a:cs typeface="Arial" pitchFamily="34" charset="-120"/>
              </a:rPr>
              <a:t>One workspace per engagement, on a shared foundation we improve across projects as we learn.</a:t>
            </a:r>
            <a:endParaRPr lang="en-US" sz="1400" dirty="0"/>
          </a:p>
        </p:txBody>
      </p:sp>
      <p:sp>
        <p:nvSpPr>
          <p:cNvPr id="8" name="Shape 5"/>
          <p:cNvSpPr/>
          <p:nvPr/>
        </p:nvSpPr>
        <p:spPr>
          <a:xfrm>
            <a:off x="457200" y="2706624"/>
            <a:ext cx="1527048" cy="566928"/>
          </a:xfrm>
          <a:prstGeom prst="roundRect">
            <a:avLst>
              <a:gd name="adj" fmla="val 12903"/>
            </a:avLst>
          </a:prstGeom>
          <a:solidFill>
            <a:srgbClr val="FFFFFF"/>
          </a:solidFill>
          <a:ln w="12700">
            <a:solidFill>
              <a:srgbClr val="C9C5BE"/>
            </a:solidFill>
            <a:prstDash val="solid"/>
          </a:ln>
        </p:spPr>
      </p:sp>
      <p:sp>
        <p:nvSpPr>
          <p:cNvPr id="9" name="Text 6"/>
          <p:cNvSpPr txBox="1"/>
          <p:nvPr/>
        </p:nvSpPr>
        <p:spPr>
          <a:xfrm>
            <a:off x="548640" y="2706624"/>
            <a:ext cx="1371600" cy="566928"/>
          </a:xfrm>
          <a:prstGeom prst="rect">
            <a:avLst/>
          </a:prstGeom>
          <a:noFill/>
          <a:ln/>
        </p:spPr>
        <p:txBody>
          <a:bodyPr wrap="square" lIns="0" tIns="0" rIns="0" bIns="0" rtlCol="0" anchor="ctr"/>
          <a:lstStyle/>
          <a:p>
            <a:pPr indent="0" marL="0">
              <a:buNone/>
            </a:pPr>
            <a:r>
              <a:rPr lang="en-US" sz="1000" b="1" dirty="0">
                <a:solidFill>
                  <a:srgbClr val="113A2A"/>
                </a:solidFill>
                <a:latin typeface="Arial" pitchFamily="34" charset="0"/>
                <a:ea typeface="Arial" pitchFamily="34" charset="-122"/>
                <a:cs typeface="Arial" pitchFamily="34" charset="-120"/>
              </a:rPr>
              <a:t>1  Project Planning</a:t>
            </a:r>
            <a:endParaRPr lang="en-US" sz="1000" dirty="0"/>
          </a:p>
        </p:txBody>
      </p:sp>
      <p:sp>
        <p:nvSpPr>
          <p:cNvPr id="10" name="Shape 7"/>
          <p:cNvSpPr/>
          <p:nvPr/>
        </p:nvSpPr>
        <p:spPr>
          <a:xfrm>
            <a:off x="2075688" y="2706624"/>
            <a:ext cx="1527048" cy="566928"/>
          </a:xfrm>
          <a:prstGeom prst="roundRect">
            <a:avLst>
              <a:gd name="adj" fmla="val 12903"/>
            </a:avLst>
          </a:prstGeom>
          <a:solidFill>
            <a:srgbClr val="FFFFFF"/>
          </a:solidFill>
          <a:ln w="12700">
            <a:solidFill>
              <a:srgbClr val="C9C5BE"/>
            </a:solidFill>
            <a:prstDash val="solid"/>
          </a:ln>
        </p:spPr>
      </p:sp>
      <p:sp>
        <p:nvSpPr>
          <p:cNvPr id="11" name="Text 8"/>
          <p:cNvSpPr txBox="1"/>
          <p:nvPr/>
        </p:nvSpPr>
        <p:spPr>
          <a:xfrm>
            <a:off x="2167128" y="2706624"/>
            <a:ext cx="1371600" cy="566928"/>
          </a:xfrm>
          <a:prstGeom prst="rect">
            <a:avLst/>
          </a:prstGeom>
          <a:noFill/>
          <a:ln/>
        </p:spPr>
        <p:txBody>
          <a:bodyPr wrap="square" lIns="0" tIns="0" rIns="0" bIns="0" rtlCol="0" anchor="ctr"/>
          <a:lstStyle/>
          <a:p>
            <a:pPr indent="0" marL="0">
              <a:buNone/>
            </a:pPr>
            <a:r>
              <a:rPr lang="en-US" sz="1000" b="1" dirty="0">
                <a:solidFill>
                  <a:srgbClr val="113A2A"/>
                </a:solidFill>
                <a:latin typeface="Arial" pitchFamily="34" charset="0"/>
                <a:ea typeface="Arial" pitchFamily="34" charset="-122"/>
                <a:cs typeface="Arial" pitchFamily="34" charset="-120"/>
              </a:rPr>
              <a:t>2  Foundations</a:t>
            </a:r>
            <a:endParaRPr lang="en-US" sz="1000" dirty="0"/>
          </a:p>
        </p:txBody>
      </p:sp>
      <p:sp>
        <p:nvSpPr>
          <p:cNvPr id="12" name="Shape 9"/>
          <p:cNvSpPr/>
          <p:nvPr/>
        </p:nvSpPr>
        <p:spPr>
          <a:xfrm>
            <a:off x="3694176" y="2706624"/>
            <a:ext cx="1527048" cy="566928"/>
          </a:xfrm>
          <a:prstGeom prst="roundRect">
            <a:avLst>
              <a:gd name="adj" fmla="val 12903"/>
            </a:avLst>
          </a:prstGeom>
          <a:solidFill>
            <a:srgbClr val="2A654E"/>
          </a:solidFill>
          <a:ln w="12700">
            <a:solidFill>
              <a:srgbClr val="2A654E"/>
            </a:solidFill>
            <a:prstDash val="solid"/>
          </a:ln>
        </p:spPr>
      </p:sp>
      <p:sp>
        <p:nvSpPr>
          <p:cNvPr id="13" name="Text 10"/>
          <p:cNvSpPr txBox="1"/>
          <p:nvPr/>
        </p:nvSpPr>
        <p:spPr>
          <a:xfrm>
            <a:off x="3785616" y="2706624"/>
            <a:ext cx="1371600" cy="566928"/>
          </a:xfrm>
          <a:prstGeom prst="rect">
            <a:avLst/>
          </a:prstGeom>
          <a:noFill/>
          <a:ln/>
        </p:spPr>
        <p:txBody>
          <a:bodyPr wrap="square" lIns="0" tIns="0" rIns="0" bIns="0" rtlCol="0" anchor="ctr"/>
          <a:lstStyle/>
          <a:p>
            <a:pPr indent="0" marL="0">
              <a:buNone/>
            </a:pPr>
            <a:r>
              <a:rPr lang="en-US" sz="1000" b="1" dirty="0">
                <a:solidFill>
                  <a:srgbClr val="FFFFFF"/>
                </a:solidFill>
                <a:latin typeface="Arial" pitchFamily="34" charset="0"/>
                <a:ea typeface="Arial" pitchFamily="34" charset="-122"/>
                <a:cs typeface="Arial" pitchFamily="34" charset="-120"/>
              </a:rPr>
              <a:t>3  Build</a:t>
            </a:r>
            <a:endParaRPr lang="en-US" sz="1000" dirty="0"/>
          </a:p>
        </p:txBody>
      </p:sp>
      <p:sp>
        <p:nvSpPr>
          <p:cNvPr id="14" name="Shape 11"/>
          <p:cNvSpPr/>
          <p:nvPr/>
        </p:nvSpPr>
        <p:spPr>
          <a:xfrm>
            <a:off x="5312664" y="2706624"/>
            <a:ext cx="1527048" cy="566928"/>
          </a:xfrm>
          <a:prstGeom prst="roundRect">
            <a:avLst>
              <a:gd name="adj" fmla="val 12903"/>
            </a:avLst>
          </a:prstGeom>
          <a:solidFill>
            <a:srgbClr val="FFFFFF"/>
          </a:solidFill>
          <a:ln w="12700">
            <a:solidFill>
              <a:srgbClr val="C9C5BE"/>
            </a:solidFill>
            <a:prstDash val="solid"/>
          </a:ln>
        </p:spPr>
      </p:sp>
      <p:sp>
        <p:nvSpPr>
          <p:cNvPr id="15" name="Text 12"/>
          <p:cNvSpPr txBox="1"/>
          <p:nvPr/>
        </p:nvSpPr>
        <p:spPr>
          <a:xfrm>
            <a:off x="5404104" y="2706624"/>
            <a:ext cx="1371600" cy="566928"/>
          </a:xfrm>
          <a:prstGeom prst="rect">
            <a:avLst/>
          </a:prstGeom>
          <a:noFill/>
          <a:ln/>
        </p:spPr>
        <p:txBody>
          <a:bodyPr wrap="square" lIns="0" tIns="0" rIns="0" bIns="0" rtlCol="0" anchor="ctr"/>
          <a:lstStyle/>
          <a:p>
            <a:pPr indent="0" marL="0">
              <a:buNone/>
            </a:pPr>
            <a:r>
              <a:rPr lang="en-US" sz="1000" b="1" dirty="0">
                <a:solidFill>
                  <a:srgbClr val="113A2A"/>
                </a:solidFill>
                <a:latin typeface="Arial" pitchFamily="34" charset="0"/>
                <a:ea typeface="Arial" pitchFamily="34" charset="-122"/>
                <a:cs typeface="Arial" pitchFamily="34" charset="-120"/>
              </a:rPr>
              <a:t>4  Test</a:t>
            </a:r>
            <a:endParaRPr lang="en-US" sz="1000" dirty="0"/>
          </a:p>
        </p:txBody>
      </p:sp>
      <p:sp>
        <p:nvSpPr>
          <p:cNvPr id="16" name="Shape 13"/>
          <p:cNvSpPr/>
          <p:nvPr/>
        </p:nvSpPr>
        <p:spPr>
          <a:xfrm>
            <a:off x="6931152" y="2706624"/>
            <a:ext cx="1527048" cy="566928"/>
          </a:xfrm>
          <a:prstGeom prst="roundRect">
            <a:avLst>
              <a:gd name="adj" fmla="val 12903"/>
            </a:avLst>
          </a:prstGeom>
          <a:solidFill>
            <a:srgbClr val="FFFFFF"/>
          </a:solidFill>
          <a:ln w="12700">
            <a:solidFill>
              <a:srgbClr val="C9C5BE"/>
            </a:solidFill>
            <a:prstDash val="solid"/>
          </a:ln>
        </p:spPr>
      </p:sp>
      <p:sp>
        <p:nvSpPr>
          <p:cNvPr id="17" name="Text 14"/>
          <p:cNvSpPr txBox="1"/>
          <p:nvPr/>
        </p:nvSpPr>
        <p:spPr>
          <a:xfrm>
            <a:off x="7022592" y="2706624"/>
            <a:ext cx="1371600" cy="566928"/>
          </a:xfrm>
          <a:prstGeom prst="rect">
            <a:avLst/>
          </a:prstGeom>
          <a:noFill/>
          <a:ln/>
        </p:spPr>
        <p:txBody>
          <a:bodyPr wrap="square" lIns="0" tIns="0" rIns="0" bIns="0" rtlCol="0" anchor="ctr"/>
          <a:lstStyle/>
          <a:p>
            <a:pPr indent="0" marL="0">
              <a:buNone/>
            </a:pPr>
            <a:r>
              <a:rPr lang="en-US" sz="1000" b="1" dirty="0">
                <a:solidFill>
                  <a:srgbClr val="113A2A"/>
                </a:solidFill>
                <a:latin typeface="Arial" pitchFamily="34" charset="0"/>
                <a:ea typeface="Arial" pitchFamily="34" charset="-122"/>
                <a:cs typeface="Arial" pitchFamily="34" charset="-120"/>
              </a:rPr>
              <a:t>5  Train</a:t>
            </a:r>
            <a:endParaRPr lang="en-US" sz="1000" dirty="0"/>
          </a:p>
        </p:txBody>
      </p:sp>
      <p:sp>
        <p:nvSpPr>
          <p:cNvPr id="18" name="Shape 15"/>
          <p:cNvSpPr/>
          <p:nvPr/>
        </p:nvSpPr>
        <p:spPr>
          <a:xfrm>
            <a:off x="8549640" y="2706624"/>
            <a:ext cx="1527048" cy="566928"/>
          </a:xfrm>
          <a:prstGeom prst="roundRect">
            <a:avLst>
              <a:gd name="adj" fmla="val 12903"/>
            </a:avLst>
          </a:prstGeom>
          <a:solidFill>
            <a:srgbClr val="FFFFFF"/>
          </a:solidFill>
          <a:ln w="12700">
            <a:solidFill>
              <a:srgbClr val="C9C5BE"/>
            </a:solidFill>
            <a:prstDash val="solid"/>
          </a:ln>
        </p:spPr>
      </p:sp>
      <p:sp>
        <p:nvSpPr>
          <p:cNvPr id="19" name="Text 16"/>
          <p:cNvSpPr txBox="1"/>
          <p:nvPr/>
        </p:nvSpPr>
        <p:spPr>
          <a:xfrm>
            <a:off x="8641080" y="2706624"/>
            <a:ext cx="1371600" cy="566928"/>
          </a:xfrm>
          <a:prstGeom prst="rect">
            <a:avLst/>
          </a:prstGeom>
          <a:noFill/>
          <a:ln/>
        </p:spPr>
        <p:txBody>
          <a:bodyPr wrap="square" lIns="0" tIns="0" rIns="0" bIns="0" rtlCol="0" anchor="ctr"/>
          <a:lstStyle/>
          <a:p>
            <a:pPr indent="0" marL="0">
              <a:buNone/>
            </a:pPr>
            <a:r>
              <a:rPr lang="en-US" sz="1000" b="1" dirty="0">
                <a:solidFill>
                  <a:srgbClr val="113A2A"/>
                </a:solidFill>
                <a:latin typeface="Arial" pitchFamily="34" charset="0"/>
                <a:ea typeface="Arial" pitchFamily="34" charset="-122"/>
                <a:cs typeface="Arial" pitchFamily="34" charset="-120"/>
              </a:rPr>
              <a:t>6  Deploy</a:t>
            </a:r>
            <a:endParaRPr lang="en-US" sz="1000" dirty="0"/>
          </a:p>
        </p:txBody>
      </p:sp>
      <p:sp>
        <p:nvSpPr>
          <p:cNvPr id="20" name="Shape 17"/>
          <p:cNvSpPr/>
          <p:nvPr/>
        </p:nvSpPr>
        <p:spPr>
          <a:xfrm>
            <a:off x="10168128" y="2706624"/>
            <a:ext cx="1527048" cy="566928"/>
          </a:xfrm>
          <a:prstGeom prst="roundRect">
            <a:avLst>
              <a:gd name="adj" fmla="val 12903"/>
            </a:avLst>
          </a:prstGeom>
          <a:solidFill>
            <a:srgbClr val="FFFFFF"/>
          </a:solidFill>
          <a:ln w="12700">
            <a:solidFill>
              <a:srgbClr val="C9C5BE"/>
            </a:solidFill>
            <a:prstDash val="solid"/>
          </a:ln>
        </p:spPr>
      </p:sp>
      <p:sp>
        <p:nvSpPr>
          <p:cNvPr id="21" name="Text 18"/>
          <p:cNvSpPr txBox="1"/>
          <p:nvPr/>
        </p:nvSpPr>
        <p:spPr>
          <a:xfrm>
            <a:off x="10259568" y="2706624"/>
            <a:ext cx="1371600" cy="566928"/>
          </a:xfrm>
          <a:prstGeom prst="rect">
            <a:avLst/>
          </a:prstGeom>
          <a:noFill/>
          <a:ln/>
        </p:spPr>
        <p:txBody>
          <a:bodyPr wrap="square" lIns="0" tIns="0" rIns="0" bIns="0" rtlCol="0" anchor="ctr"/>
          <a:lstStyle/>
          <a:p>
            <a:pPr indent="0" marL="0">
              <a:buNone/>
            </a:pPr>
            <a:r>
              <a:rPr lang="en-US" sz="1000" b="1" dirty="0">
                <a:solidFill>
                  <a:srgbClr val="113A2A"/>
                </a:solidFill>
                <a:latin typeface="Arial" pitchFamily="34" charset="0"/>
                <a:ea typeface="Arial" pitchFamily="34" charset="-122"/>
                <a:cs typeface="Arial" pitchFamily="34" charset="-120"/>
              </a:rPr>
              <a:t>7  Continuous Support</a:t>
            </a:r>
            <a:endParaRPr lang="en-US" sz="1000" dirty="0"/>
          </a:p>
        </p:txBody>
      </p:sp>
      <p:sp>
        <p:nvSpPr>
          <p:cNvPr id="22" name="Text 19"/>
          <p:cNvSpPr txBox="1"/>
          <p:nvPr/>
        </p:nvSpPr>
        <p:spPr>
          <a:xfrm>
            <a:off x="457200" y="2468880"/>
            <a:ext cx="7315200" cy="201168"/>
          </a:xfrm>
          <a:prstGeom prst="rect">
            <a:avLst/>
          </a:prstGeom>
          <a:noFill/>
          <a:ln/>
        </p:spPr>
        <p:txBody>
          <a:bodyPr wrap="square" lIns="0" tIns="0" rIns="0" bIns="0" rtlCol="0" anchor="ctr"/>
          <a:lstStyle/>
          <a:p>
            <a:pPr indent="0" marL="0">
              <a:buNone/>
            </a:pPr>
            <a:r>
              <a:rPr lang="en-US" sz="850" b="1" spc="150" kern="0" dirty="0">
                <a:solidFill>
                  <a:srgbClr val="2A654E"/>
                </a:solidFill>
                <a:latin typeface="Arial" pitchFamily="34" charset="0"/>
                <a:ea typeface="Arial" pitchFamily="34" charset="-122"/>
                <a:cs typeface="Arial" pitchFamily="34" charset="-120"/>
              </a:rPr>
              <a:t>KARTA'S DELIVERY LIFECYCLE · WHERE THE ENGAGEMENT STANDS</a:t>
            </a:r>
            <a:endParaRPr lang="en-US" sz="850" dirty="0"/>
          </a:p>
        </p:txBody>
      </p:sp>
      <p:sp>
        <p:nvSpPr>
          <p:cNvPr id="23" name="Shape 20"/>
          <p:cNvSpPr/>
          <p:nvPr/>
        </p:nvSpPr>
        <p:spPr>
          <a:xfrm>
            <a:off x="457200" y="3429000"/>
            <a:ext cx="3611880" cy="2148840"/>
          </a:xfrm>
          <a:prstGeom prst="roundRect">
            <a:avLst>
              <a:gd name="adj" fmla="val 4255"/>
            </a:avLst>
          </a:prstGeom>
          <a:solidFill>
            <a:srgbClr val="FFFFFF"/>
          </a:solidFill>
          <a:ln w="12700">
            <a:solidFill>
              <a:srgbClr val="E4E2DE"/>
            </a:solidFill>
            <a:prstDash val="solid"/>
          </a:ln>
        </p:spPr>
      </p:sp>
      <p:sp>
        <p:nvSpPr>
          <p:cNvPr id="24" name="Text 21"/>
          <p:cNvSpPr txBox="1"/>
          <p:nvPr/>
        </p:nvSpPr>
        <p:spPr>
          <a:xfrm>
            <a:off x="658368" y="3611880"/>
            <a:ext cx="3209544" cy="502920"/>
          </a:xfrm>
          <a:prstGeom prst="rect">
            <a:avLst/>
          </a:prstGeom>
          <a:noFill/>
          <a:ln/>
        </p:spPr>
        <p:txBody>
          <a:bodyPr wrap="square" lIns="0" tIns="0" rIns="0" bIns="0" rtlCol="0" anchor="t"/>
          <a:lstStyle/>
          <a:p>
            <a:pPr indent="0" marL="0">
              <a:buNone/>
            </a:pPr>
            <a:r>
              <a:rPr lang="en-US" sz="1400" b="1" dirty="0">
                <a:solidFill>
                  <a:srgbClr val="113A2A"/>
                </a:solidFill>
                <a:latin typeface="Arial" pitchFamily="34" charset="0"/>
                <a:ea typeface="Arial" pitchFamily="34" charset="-122"/>
                <a:cs typeface="Arial" pitchFamily="34" charset="-120"/>
              </a:rPr>
              <a:t>What needs attention</a:t>
            </a:r>
            <a:endParaRPr lang="en-US" sz="1400" dirty="0"/>
          </a:p>
        </p:txBody>
      </p:sp>
      <p:sp>
        <p:nvSpPr>
          <p:cNvPr id="25" name="Text 22"/>
          <p:cNvSpPr txBox="1"/>
          <p:nvPr/>
        </p:nvSpPr>
        <p:spPr>
          <a:xfrm>
            <a:off x="658368" y="4114800"/>
            <a:ext cx="3209544" cy="1325880"/>
          </a:xfrm>
          <a:prstGeom prst="rect">
            <a:avLst/>
          </a:prstGeom>
          <a:noFill/>
          <a:ln/>
        </p:spPr>
        <p:txBody>
          <a:bodyPr wrap="square" lIns="0" tIns="0" rIns="0" bIns="0" rtlCol="0" anchor="t"/>
          <a:lstStyle/>
          <a:p>
            <a:pPr indent="0" marL="0">
              <a:buNone/>
            </a:pPr>
            <a:r>
              <a:rPr lang="en-US" sz="1150" dirty="0">
                <a:solidFill>
                  <a:srgbClr val="6E6961"/>
                </a:solidFill>
                <a:latin typeface="Arial" pitchFamily="34" charset="0"/>
                <a:ea typeface="Arial" pitchFamily="34" charset="-122"/>
                <a:cs typeface="Arial" pitchFamily="34" charset="-120"/>
              </a:rPr>
              <a:t>Milestones past their date, open high-priority items, missing sources and unconfirmed dates, calculated from the evidence, not typed in.</a:t>
            </a:r>
            <a:endParaRPr lang="en-US" sz="1150" dirty="0"/>
          </a:p>
        </p:txBody>
      </p:sp>
      <p:sp>
        <p:nvSpPr>
          <p:cNvPr id="26" name="Shape 23"/>
          <p:cNvSpPr/>
          <p:nvPr/>
        </p:nvSpPr>
        <p:spPr>
          <a:xfrm>
            <a:off x="4251960" y="3429000"/>
            <a:ext cx="3611880" cy="2148840"/>
          </a:xfrm>
          <a:prstGeom prst="roundRect">
            <a:avLst>
              <a:gd name="adj" fmla="val 4255"/>
            </a:avLst>
          </a:prstGeom>
          <a:solidFill>
            <a:srgbClr val="FFFFFF"/>
          </a:solidFill>
          <a:ln w="12700">
            <a:solidFill>
              <a:srgbClr val="E4E2DE"/>
            </a:solidFill>
            <a:prstDash val="solid"/>
          </a:ln>
        </p:spPr>
      </p:sp>
      <p:sp>
        <p:nvSpPr>
          <p:cNvPr id="27" name="Text 24"/>
          <p:cNvSpPr txBox="1"/>
          <p:nvPr/>
        </p:nvSpPr>
        <p:spPr>
          <a:xfrm>
            <a:off x="4453128" y="3611880"/>
            <a:ext cx="3209544" cy="502920"/>
          </a:xfrm>
          <a:prstGeom prst="rect">
            <a:avLst/>
          </a:prstGeom>
          <a:noFill/>
          <a:ln/>
        </p:spPr>
        <p:txBody>
          <a:bodyPr wrap="square" lIns="0" tIns="0" rIns="0" bIns="0" rtlCol="0" anchor="t"/>
          <a:lstStyle/>
          <a:p>
            <a:pPr indent="0" marL="0">
              <a:buNone/>
            </a:pPr>
            <a:r>
              <a:rPr lang="en-US" sz="1400" b="1" dirty="0">
                <a:solidFill>
                  <a:srgbClr val="113A2A"/>
                </a:solidFill>
                <a:latin typeface="Arial" pitchFamily="34" charset="0"/>
                <a:ea typeface="Arial" pitchFamily="34" charset="-122"/>
                <a:cs typeface="Arial" pitchFamily="34" charset="-120"/>
              </a:rPr>
              <a:t>Which capabilities can help next</a:t>
            </a:r>
            <a:endParaRPr lang="en-US" sz="1400" dirty="0"/>
          </a:p>
        </p:txBody>
      </p:sp>
      <p:sp>
        <p:nvSpPr>
          <p:cNvPr id="28" name="Text 25"/>
          <p:cNvSpPr txBox="1"/>
          <p:nvPr/>
        </p:nvSpPr>
        <p:spPr>
          <a:xfrm>
            <a:off x="4453128" y="4114800"/>
            <a:ext cx="3209544" cy="1325880"/>
          </a:xfrm>
          <a:prstGeom prst="rect">
            <a:avLst/>
          </a:prstGeom>
          <a:noFill/>
          <a:ln/>
        </p:spPr>
        <p:txBody>
          <a:bodyPr wrap="square" lIns="0" tIns="0" rIns="0" bIns="0" rtlCol="0" anchor="t"/>
          <a:lstStyle/>
          <a:p>
            <a:pPr indent="0" marL="0">
              <a:buNone/>
            </a:pPr>
            <a:r>
              <a:rPr lang="en-US" sz="1150" dirty="0">
                <a:solidFill>
                  <a:srgbClr val="6E6961"/>
                </a:solidFill>
                <a:latin typeface="Arial" pitchFamily="34" charset="0"/>
                <a:ea typeface="Arial" pitchFamily="34" charset="-122"/>
                <a:cs typeface="Arial" pitchFamily="34" charset="-120"/>
              </a:rPr>
              <a:t>Weekly Status, sprint review preparation, meeting capture, UAT preparation, each placed on the stage where it belongs and labelled by readiness.</a:t>
            </a:r>
            <a:endParaRPr lang="en-US" sz="1150" dirty="0"/>
          </a:p>
        </p:txBody>
      </p:sp>
      <p:sp>
        <p:nvSpPr>
          <p:cNvPr id="29" name="Shape 26"/>
          <p:cNvSpPr/>
          <p:nvPr/>
        </p:nvSpPr>
        <p:spPr>
          <a:xfrm>
            <a:off x="8046720" y="3429000"/>
            <a:ext cx="3611880" cy="2148840"/>
          </a:xfrm>
          <a:prstGeom prst="roundRect">
            <a:avLst>
              <a:gd name="adj" fmla="val 4255"/>
            </a:avLst>
          </a:prstGeom>
          <a:solidFill>
            <a:srgbClr val="FFFFFF"/>
          </a:solidFill>
          <a:ln w="12700">
            <a:solidFill>
              <a:srgbClr val="E4E2DE"/>
            </a:solidFill>
            <a:prstDash val="solid"/>
          </a:ln>
        </p:spPr>
      </p:sp>
      <p:sp>
        <p:nvSpPr>
          <p:cNvPr id="30" name="Text 27"/>
          <p:cNvSpPr txBox="1"/>
          <p:nvPr/>
        </p:nvSpPr>
        <p:spPr>
          <a:xfrm>
            <a:off x="8247888" y="3611880"/>
            <a:ext cx="3209544" cy="502920"/>
          </a:xfrm>
          <a:prstGeom prst="rect">
            <a:avLst/>
          </a:prstGeom>
          <a:noFill/>
          <a:ln/>
        </p:spPr>
        <p:txBody>
          <a:bodyPr wrap="square" lIns="0" tIns="0" rIns="0" bIns="0" rtlCol="0" anchor="t"/>
          <a:lstStyle/>
          <a:p>
            <a:pPr indent="0" marL="0">
              <a:buNone/>
            </a:pPr>
            <a:r>
              <a:rPr lang="en-US" sz="1400" b="1" dirty="0">
                <a:solidFill>
                  <a:srgbClr val="113A2A"/>
                </a:solidFill>
                <a:latin typeface="Arial" pitchFamily="34" charset="0"/>
                <a:ea typeface="Arial" pitchFamily="34" charset="-122"/>
                <a:cs typeface="Arial" pitchFamily="34" charset="-120"/>
              </a:rPr>
              <a:t>Evidence, guidance and reviewed outputs</a:t>
            </a:r>
            <a:endParaRPr lang="en-US" sz="1400" dirty="0"/>
          </a:p>
        </p:txBody>
      </p:sp>
      <p:sp>
        <p:nvSpPr>
          <p:cNvPr id="31" name="Text 28"/>
          <p:cNvSpPr txBox="1"/>
          <p:nvPr/>
        </p:nvSpPr>
        <p:spPr>
          <a:xfrm>
            <a:off x="8247888" y="4114800"/>
            <a:ext cx="3209544" cy="1325880"/>
          </a:xfrm>
          <a:prstGeom prst="rect">
            <a:avLst/>
          </a:prstGeom>
          <a:noFill/>
          <a:ln/>
        </p:spPr>
        <p:txBody>
          <a:bodyPr wrap="square" lIns="0" tIns="0" rIns="0" bIns="0" rtlCol="0" anchor="t"/>
          <a:lstStyle/>
          <a:p>
            <a:pPr indent="0" marL="0">
              <a:buNone/>
            </a:pPr>
            <a:r>
              <a:rPr lang="en-US" sz="1150" dirty="0">
                <a:solidFill>
                  <a:srgbClr val="6E6961"/>
                </a:solidFill>
                <a:latin typeface="Arial" pitchFamily="34" charset="0"/>
                <a:ea typeface="Arial" pitchFamily="34" charset="-122"/>
                <a:cs typeface="Arial" pitchFamily="34" charset="-120"/>
              </a:rPr>
              <a:t>Project evidence from the systems of record, Karta's delivery guidance for the current stage, and the approved outputs, all in one consistent experience.</a:t>
            </a:r>
            <a:endParaRPr lang="en-US" sz="1150" dirty="0"/>
          </a:p>
        </p:txBody>
      </p:sp>
      <p:sp>
        <p:nvSpPr>
          <p:cNvPr id="32" name="Text 29"/>
          <p:cNvSpPr txBox="1"/>
          <p:nvPr/>
        </p:nvSpPr>
        <p:spPr>
          <a:xfrm>
            <a:off x="457200" y="5760720"/>
            <a:ext cx="11274552" cy="365760"/>
          </a:xfrm>
          <a:prstGeom prst="rect">
            <a:avLst/>
          </a:prstGeom>
          <a:noFill/>
          <a:ln/>
        </p:spPr>
        <p:txBody>
          <a:bodyPr wrap="square" lIns="0" tIns="0" rIns="0" bIns="0" rtlCol="0" anchor="ctr"/>
          <a:lstStyle/>
          <a:p>
            <a:pPr indent="0" marL="0">
              <a:buNone/>
            </a:pPr>
            <a:r>
              <a:rPr lang="en-US" sz="1250" i="1" dirty="0">
                <a:solidFill>
                  <a:srgbClr val="6E6961"/>
                </a:solidFill>
                <a:latin typeface="Arial" pitchFamily="34" charset="0"/>
                <a:ea typeface="Arial" pitchFamily="34" charset="-122"/>
                <a:cs typeface="Arial" pitchFamily="34" charset="-120"/>
              </a:rPr>
              <a:t>Each engagement has its own workspace. The shared foundation lets us improve the experience across projects as we learn.</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310896" cy="310896"/>
          </a:xfrm>
          <a:prstGeom prst="rect">
            <a:avLst/>
          </a:prstGeom>
        </p:spPr>
      </p:pic>
      <p:sp>
        <p:nvSpPr>
          <p:cNvPr id="3" name="Text 0"/>
          <p:cNvSpPr txBox="1"/>
          <p:nvPr/>
        </p:nvSpPr>
        <p:spPr>
          <a:xfrm>
            <a:off x="868680" y="402336"/>
            <a:ext cx="3657600" cy="274320"/>
          </a:xfrm>
          <a:prstGeom prst="rect">
            <a:avLst/>
          </a:prstGeom>
          <a:noFill/>
          <a:ln/>
        </p:spPr>
        <p:txBody>
          <a:bodyPr wrap="square" lIns="0" tIns="0" rIns="0" bIns="0" rtlCol="0" anchor="ctr"/>
          <a:lstStyle/>
          <a:p>
            <a:pPr indent="0" marL="0">
              <a:buNone/>
            </a:pPr>
            <a:r>
              <a:rPr lang="en-US" sz="950" b="1" spc="200" kern="0" dirty="0">
                <a:solidFill>
                  <a:srgbClr val="113A2A"/>
                </a:solidFill>
                <a:latin typeface="Arial" pitchFamily="34" charset="0"/>
                <a:ea typeface="Arial" pitchFamily="34" charset="-122"/>
                <a:cs typeface="Arial" pitchFamily="34" charset="-120"/>
              </a:rPr>
              <a:t>KARTA CONSULTING GROUP</a:t>
            </a:r>
            <a:endParaRPr lang="en-US" sz="950" dirty="0"/>
          </a:p>
        </p:txBody>
      </p:sp>
      <p:sp>
        <p:nvSpPr>
          <p:cNvPr id="4" name="Text 1"/>
          <p:cNvSpPr txBox="1"/>
          <p:nvPr/>
        </p:nvSpPr>
        <p:spPr>
          <a:xfrm>
            <a:off x="6675120" y="402336"/>
            <a:ext cx="5029200" cy="274320"/>
          </a:xfrm>
          <a:prstGeom prst="rect">
            <a:avLst/>
          </a:prstGeom>
          <a:noFill/>
          <a:ln/>
        </p:spPr>
        <p:txBody>
          <a:bodyPr wrap="square" lIns="0" tIns="0" rIns="0" bIns="0" rtlCol="0" anchor="ctr"/>
          <a:lstStyle/>
          <a:p>
            <a:pPr algn="r" indent="0" marL="0">
              <a:buNone/>
            </a:pPr>
            <a:r>
              <a:rPr lang="en-US" sz="950" dirty="0">
                <a:solidFill>
                  <a:srgbClr val="979187"/>
                </a:solidFill>
                <a:latin typeface="Arial" pitchFamily="34" charset="0"/>
                <a:ea typeface="Arial" pitchFamily="34" charset="-122"/>
                <a:cs typeface="Arial" pitchFamily="34" charset="-120"/>
              </a:rPr>
              <a:t>Karta AI Engagement Workspace · September 12, 2026</a:t>
            </a:r>
            <a:endParaRPr lang="en-US" sz="950" dirty="0"/>
          </a:p>
        </p:txBody>
      </p:sp>
      <p:sp>
        <p:nvSpPr>
          <p:cNvPr id="5" name="Text 2"/>
          <p:cNvSpPr txBox="1"/>
          <p:nvPr/>
        </p:nvSpPr>
        <p:spPr>
          <a:xfrm>
            <a:off x="11430000" y="6355080"/>
            <a:ext cx="365760" cy="274320"/>
          </a:xfrm>
          <a:prstGeom prst="rect">
            <a:avLst/>
          </a:prstGeom>
          <a:noFill/>
          <a:ln/>
        </p:spPr>
        <p:txBody>
          <a:bodyPr wrap="square" lIns="0" tIns="0" rIns="0" bIns="0" rtlCol="0" anchor="ctr"/>
          <a:lstStyle/>
          <a:p>
            <a:pPr algn="r" indent="0" marL="0">
              <a:buNone/>
            </a:pPr>
            <a:r>
              <a:rPr lang="en-US" sz="900" dirty="0">
                <a:solidFill>
                  <a:srgbClr val="979187"/>
                </a:solidFill>
                <a:latin typeface="Arial" pitchFamily="34" charset="0"/>
                <a:ea typeface="Arial" pitchFamily="34" charset="-122"/>
                <a:cs typeface="Arial" pitchFamily="34" charset="-120"/>
              </a:rPr>
              <a:t>5</a:t>
            </a:r>
            <a:endParaRPr lang="en-US" sz="900" dirty="0"/>
          </a:p>
        </p:txBody>
      </p:sp>
      <p:sp>
        <p:nvSpPr>
          <p:cNvPr id="6" name="Text 3"/>
          <p:cNvSpPr txBox="1"/>
          <p:nvPr/>
        </p:nvSpPr>
        <p:spPr>
          <a:xfrm>
            <a:off x="457200" y="960120"/>
            <a:ext cx="11247120" cy="822960"/>
          </a:xfrm>
          <a:prstGeom prst="rect">
            <a:avLst/>
          </a:prstGeom>
          <a:noFill/>
          <a:ln/>
        </p:spPr>
        <p:txBody>
          <a:bodyPr wrap="square" lIns="0" tIns="0" rIns="0" bIns="0" rtlCol="0" anchor="t"/>
          <a:lstStyle/>
          <a:p>
            <a:pPr indent="0" marL="0">
              <a:buNone/>
            </a:pPr>
            <a:r>
              <a:rPr lang="en-US" sz="3000" b="1" dirty="0">
                <a:solidFill>
                  <a:srgbClr val="113A2A"/>
                </a:solidFill>
                <a:latin typeface="Arial" pitchFamily="34" charset="0"/>
                <a:ea typeface="Arial" pitchFamily="34" charset="-122"/>
                <a:cs typeface="Arial" pitchFamily="34" charset="-120"/>
              </a:rPr>
              <a:t>Imagine opening your engagement workspace at the start of the week</a:t>
            </a:r>
            <a:endParaRPr lang="en-US" sz="3000" dirty="0"/>
          </a:p>
        </p:txBody>
      </p:sp>
      <p:sp>
        <p:nvSpPr>
          <p:cNvPr id="7" name="Shape 4"/>
          <p:cNvSpPr/>
          <p:nvPr/>
        </p:nvSpPr>
        <p:spPr>
          <a:xfrm>
            <a:off x="457200" y="2011680"/>
            <a:ext cx="2103120" cy="2377440"/>
          </a:xfrm>
          <a:prstGeom prst="roundRect">
            <a:avLst>
              <a:gd name="adj" fmla="val 4348"/>
            </a:avLst>
          </a:prstGeom>
          <a:solidFill>
            <a:srgbClr val="FFFFFF"/>
          </a:solidFill>
          <a:ln w="12700">
            <a:solidFill>
              <a:srgbClr val="E4E2DE"/>
            </a:solidFill>
            <a:prstDash val="solid"/>
          </a:ln>
        </p:spPr>
      </p:sp>
      <p:sp>
        <p:nvSpPr>
          <p:cNvPr id="8" name="Shape 5"/>
          <p:cNvSpPr/>
          <p:nvPr/>
        </p:nvSpPr>
        <p:spPr>
          <a:xfrm>
            <a:off x="658368" y="2194560"/>
            <a:ext cx="329184" cy="329184"/>
          </a:xfrm>
          <a:prstGeom prst="ellipse">
            <a:avLst/>
          </a:prstGeom>
          <a:solidFill>
            <a:srgbClr val="2A654E"/>
          </a:solidFill>
          <a:ln w="12700">
            <a:solidFill>
              <a:srgbClr val="2A654E"/>
            </a:solidFill>
            <a:prstDash val="solid"/>
          </a:ln>
        </p:spPr>
      </p:sp>
      <p:sp>
        <p:nvSpPr>
          <p:cNvPr id="9" name="Text 6"/>
          <p:cNvSpPr txBox="1"/>
          <p:nvPr/>
        </p:nvSpPr>
        <p:spPr>
          <a:xfrm>
            <a:off x="658368" y="219456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0" name="Text 7"/>
          <p:cNvSpPr txBox="1"/>
          <p:nvPr/>
        </p:nvSpPr>
        <p:spPr>
          <a:xfrm>
            <a:off x="658368" y="2633472"/>
            <a:ext cx="1700784" cy="457200"/>
          </a:xfrm>
          <a:prstGeom prst="rect">
            <a:avLst/>
          </a:prstGeom>
          <a:noFill/>
          <a:ln/>
        </p:spPr>
        <p:txBody>
          <a:bodyPr wrap="square" lIns="0" tIns="0" rIns="0" bIns="0" rtlCol="0" anchor="t"/>
          <a:lstStyle/>
          <a:p>
            <a:pPr indent="0" marL="0">
              <a:buNone/>
            </a:pPr>
            <a:r>
              <a:rPr lang="en-US" sz="1400" b="1" dirty="0">
                <a:solidFill>
                  <a:srgbClr val="113A2A"/>
                </a:solidFill>
                <a:latin typeface="Arial" pitchFamily="34" charset="0"/>
                <a:ea typeface="Arial" pitchFamily="34" charset="-122"/>
                <a:cs typeface="Arial" pitchFamily="34" charset="-120"/>
              </a:rPr>
              <a:t>Orient</a:t>
            </a:r>
            <a:endParaRPr lang="en-US" sz="1400" dirty="0"/>
          </a:p>
        </p:txBody>
      </p:sp>
      <p:sp>
        <p:nvSpPr>
          <p:cNvPr id="11" name="Text 8"/>
          <p:cNvSpPr txBox="1"/>
          <p:nvPr/>
        </p:nvSpPr>
        <p:spPr>
          <a:xfrm>
            <a:off x="658368" y="3090672"/>
            <a:ext cx="1700784" cy="1161288"/>
          </a:xfrm>
          <a:prstGeom prst="rect">
            <a:avLst/>
          </a:prstGeom>
          <a:noFill/>
          <a:ln/>
        </p:spPr>
        <p:txBody>
          <a:bodyPr wrap="square" lIns="0" tIns="0" rIns="0" bIns="0" rtlCol="0" anchor="t"/>
          <a:lstStyle/>
          <a:p>
            <a:pPr indent="0" marL="0">
              <a:buNone/>
            </a:pPr>
            <a:r>
              <a:rPr lang="en-US" sz="1150" dirty="0">
                <a:solidFill>
                  <a:srgbClr val="6E6961"/>
                </a:solidFill>
                <a:latin typeface="Arial" pitchFamily="34" charset="0"/>
                <a:ea typeface="Arial" pitchFamily="34" charset="-122"/>
                <a:cs typeface="Arial" pitchFamily="34" charset="-120"/>
              </a:rPr>
              <a:t>See the current stage, the milestones and what information is missing.</a:t>
            </a:r>
            <a:endParaRPr lang="en-US" sz="1150" dirty="0"/>
          </a:p>
        </p:txBody>
      </p:sp>
      <p:sp>
        <p:nvSpPr>
          <p:cNvPr id="12" name="Shape 9"/>
          <p:cNvSpPr/>
          <p:nvPr/>
        </p:nvSpPr>
        <p:spPr>
          <a:xfrm>
            <a:off x="2560320" y="3200400"/>
            <a:ext cx="182880" cy="0"/>
          </a:xfrm>
          <a:prstGeom prst="line">
            <a:avLst/>
          </a:prstGeom>
          <a:noFill/>
          <a:ln w="22225">
            <a:solidFill>
              <a:srgbClr val="2A654E"/>
            </a:solidFill>
            <a:prstDash val="solid"/>
            <a:tailEnd type="triangle"/>
          </a:ln>
        </p:spPr>
      </p:sp>
      <p:sp>
        <p:nvSpPr>
          <p:cNvPr id="13" name="Shape 10"/>
          <p:cNvSpPr/>
          <p:nvPr/>
        </p:nvSpPr>
        <p:spPr>
          <a:xfrm>
            <a:off x="2743200" y="2011680"/>
            <a:ext cx="2103120" cy="2377440"/>
          </a:xfrm>
          <a:prstGeom prst="roundRect">
            <a:avLst>
              <a:gd name="adj" fmla="val 4348"/>
            </a:avLst>
          </a:prstGeom>
          <a:solidFill>
            <a:srgbClr val="FFFFFF"/>
          </a:solidFill>
          <a:ln w="12700">
            <a:solidFill>
              <a:srgbClr val="E4E2DE"/>
            </a:solidFill>
            <a:prstDash val="solid"/>
          </a:ln>
        </p:spPr>
      </p:sp>
      <p:sp>
        <p:nvSpPr>
          <p:cNvPr id="14" name="Shape 11"/>
          <p:cNvSpPr/>
          <p:nvPr/>
        </p:nvSpPr>
        <p:spPr>
          <a:xfrm>
            <a:off x="2944368" y="2194560"/>
            <a:ext cx="329184" cy="329184"/>
          </a:xfrm>
          <a:prstGeom prst="ellipse">
            <a:avLst/>
          </a:prstGeom>
          <a:solidFill>
            <a:srgbClr val="2A654E"/>
          </a:solidFill>
          <a:ln w="12700">
            <a:solidFill>
              <a:srgbClr val="2A654E"/>
            </a:solidFill>
            <a:prstDash val="solid"/>
          </a:ln>
        </p:spPr>
      </p:sp>
      <p:sp>
        <p:nvSpPr>
          <p:cNvPr id="15" name="Text 12"/>
          <p:cNvSpPr txBox="1"/>
          <p:nvPr/>
        </p:nvSpPr>
        <p:spPr>
          <a:xfrm>
            <a:off x="2944368" y="219456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6" name="Text 13"/>
          <p:cNvSpPr txBox="1"/>
          <p:nvPr/>
        </p:nvSpPr>
        <p:spPr>
          <a:xfrm>
            <a:off x="2944368" y="2633472"/>
            <a:ext cx="1700784" cy="457200"/>
          </a:xfrm>
          <a:prstGeom prst="rect">
            <a:avLst/>
          </a:prstGeom>
          <a:noFill/>
          <a:ln/>
        </p:spPr>
        <p:txBody>
          <a:bodyPr wrap="square" lIns="0" tIns="0" rIns="0" bIns="0" rtlCol="0" anchor="t"/>
          <a:lstStyle/>
          <a:p>
            <a:pPr indent="0" marL="0">
              <a:buNone/>
            </a:pPr>
            <a:r>
              <a:rPr lang="en-US" sz="1400" b="1" dirty="0">
                <a:solidFill>
                  <a:srgbClr val="113A2A"/>
                </a:solidFill>
                <a:latin typeface="Arial" pitchFamily="34" charset="0"/>
                <a:ea typeface="Arial" pitchFamily="34" charset="-122"/>
                <a:cs typeface="Arial" pitchFamily="34" charset="-120"/>
              </a:rPr>
              <a:t>Open Weekly Status</a:t>
            </a:r>
            <a:endParaRPr lang="en-US" sz="1400" dirty="0"/>
          </a:p>
        </p:txBody>
      </p:sp>
      <p:sp>
        <p:nvSpPr>
          <p:cNvPr id="17" name="Text 14"/>
          <p:cNvSpPr txBox="1"/>
          <p:nvPr/>
        </p:nvSpPr>
        <p:spPr>
          <a:xfrm>
            <a:off x="2944368" y="3090672"/>
            <a:ext cx="1700784" cy="1161288"/>
          </a:xfrm>
          <a:prstGeom prst="rect">
            <a:avLst/>
          </a:prstGeom>
          <a:noFill/>
          <a:ln/>
        </p:spPr>
        <p:txBody>
          <a:bodyPr wrap="square" lIns="0" tIns="0" rIns="0" bIns="0" rtlCol="0" anchor="t"/>
          <a:lstStyle/>
          <a:p>
            <a:pPr indent="0" marL="0">
              <a:buNone/>
            </a:pPr>
            <a:r>
              <a:rPr lang="en-US" sz="1150" dirty="0">
                <a:solidFill>
                  <a:srgbClr val="6E6961"/>
                </a:solidFill>
                <a:latin typeface="Arial" pitchFamily="34" charset="0"/>
                <a:ea typeface="Arial" pitchFamily="34" charset="-122"/>
                <a:cs typeface="Arial" pitchFamily="34" charset="-120"/>
              </a:rPr>
              <a:t>The workspace reads the available evidence from Asana and SharePoint, as you.</a:t>
            </a:r>
            <a:endParaRPr lang="en-US" sz="1150" dirty="0"/>
          </a:p>
        </p:txBody>
      </p:sp>
      <p:sp>
        <p:nvSpPr>
          <p:cNvPr id="18" name="Shape 15"/>
          <p:cNvSpPr/>
          <p:nvPr/>
        </p:nvSpPr>
        <p:spPr>
          <a:xfrm>
            <a:off x="4846320" y="3200400"/>
            <a:ext cx="182880" cy="0"/>
          </a:xfrm>
          <a:prstGeom prst="line">
            <a:avLst/>
          </a:prstGeom>
          <a:noFill/>
          <a:ln w="22225">
            <a:solidFill>
              <a:srgbClr val="2A654E"/>
            </a:solidFill>
            <a:prstDash val="solid"/>
            <a:tailEnd type="triangle"/>
          </a:ln>
        </p:spPr>
      </p:sp>
      <p:sp>
        <p:nvSpPr>
          <p:cNvPr id="19" name="Shape 16"/>
          <p:cNvSpPr/>
          <p:nvPr/>
        </p:nvSpPr>
        <p:spPr>
          <a:xfrm>
            <a:off x="5029200" y="2011680"/>
            <a:ext cx="2103120" cy="2377440"/>
          </a:xfrm>
          <a:prstGeom prst="roundRect">
            <a:avLst>
              <a:gd name="adj" fmla="val 4348"/>
            </a:avLst>
          </a:prstGeom>
          <a:solidFill>
            <a:srgbClr val="FFFFFF"/>
          </a:solidFill>
          <a:ln w="12700">
            <a:solidFill>
              <a:srgbClr val="E4E2DE"/>
            </a:solidFill>
            <a:prstDash val="solid"/>
          </a:ln>
        </p:spPr>
      </p:sp>
      <p:sp>
        <p:nvSpPr>
          <p:cNvPr id="20" name="Shape 17"/>
          <p:cNvSpPr/>
          <p:nvPr/>
        </p:nvSpPr>
        <p:spPr>
          <a:xfrm>
            <a:off x="5230368" y="2194560"/>
            <a:ext cx="329184" cy="329184"/>
          </a:xfrm>
          <a:prstGeom prst="ellipse">
            <a:avLst/>
          </a:prstGeom>
          <a:solidFill>
            <a:srgbClr val="2A654E"/>
          </a:solidFill>
          <a:ln w="12700">
            <a:solidFill>
              <a:srgbClr val="2A654E"/>
            </a:solidFill>
            <a:prstDash val="solid"/>
          </a:ln>
        </p:spPr>
      </p:sp>
      <p:sp>
        <p:nvSpPr>
          <p:cNvPr id="21" name="Text 18"/>
          <p:cNvSpPr txBox="1"/>
          <p:nvPr/>
        </p:nvSpPr>
        <p:spPr>
          <a:xfrm>
            <a:off x="5230368" y="219456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2" name="Text 19"/>
          <p:cNvSpPr txBox="1"/>
          <p:nvPr/>
        </p:nvSpPr>
        <p:spPr>
          <a:xfrm>
            <a:off x="5230368" y="2633472"/>
            <a:ext cx="1700784" cy="457200"/>
          </a:xfrm>
          <a:prstGeom prst="rect">
            <a:avLst/>
          </a:prstGeom>
          <a:noFill/>
          <a:ln/>
        </p:spPr>
        <p:txBody>
          <a:bodyPr wrap="square" lIns="0" tIns="0" rIns="0" bIns="0" rtlCol="0" anchor="t"/>
          <a:lstStyle/>
          <a:p>
            <a:pPr indent="0" marL="0">
              <a:buNone/>
            </a:pPr>
            <a:r>
              <a:rPr lang="en-US" sz="1400" b="1" dirty="0">
                <a:solidFill>
                  <a:srgbClr val="113A2A"/>
                </a:solidFill>
                <a:latin typeface="Arial" pitchFamily="34" charset="0"/>
                <a:ea typeface="Arial" pitchFamily="34" charset="-122"/>
                <a:cs typeface="Arial" pitchFamily="34" charset="-120"/>
              </a:rPr>
              <a:t>Draft</a:t>
            </a:r>
            <a:endParaRPr lang="en-US" sz="1400" dirty="0"/>
          </a:p>
        </p:txBody>
      </p:sp>
      <p:sp>
        <p:nvSpPr>
          <p:cNvPr id="23" name="Text 20"/>
          <p:cNvSpPr txBox="1"/>
          <p:nvPr/>
        </p:nvSpPr>
        <p:spPr>
          <a:xfrm>
            <a:off x="5230368" y="3090672"/>
            <a:ext cx="1700784" cy="1161288"/>
          </a:xfrm>
          <a:prstGeom prst="rect">
            <a:avLst/>
          </a:prstGeom>
          <a:noFill/>
          <a:ln/>
        </p:spPr>
        <p:txBody>
          <a:bodyPr wrap="square" lIns="0" tIns="0" rIns="0" bIns="0" rtlCol="0" anchor="t"/>
          <a:lstStyle/>
          <a:p>
            <a:pPr indent="0" marL="0">
              <a:buNone/>
            </a:pPr>
            <a:r>
              <a:rPr lang="en-US" sz="1150" dirty="0">
                <a:solidFill>
                  <a:srgbClr val="6E6961"/>
                </a:solidFill>
                <a:latin typeface="Arial" pitchFamily="34" charset="0"/>
                <a:ea typeface="Arial" pitchFamily="34" charset="-122"/>
                <a:cs typeface="Arial" pitchFamily="34" charset="-120"/>
              </a:rPr>
              <a:t>One click. Claude prepares a draft narrative and suggests a status for each area.</a:t>
            </a:r>
            <a:endParaRPr lang="en-US" sz="1150" dirty="0"/>
          </a:p>
        </p:txBody>
      </p:sp>
      <p:sp>
        <p:nvSpPr>
          <p:cNvPr id="24" name="Shape 21"/>
          <p:cNvSpPr/>
          <p:nvPr/>
        </p:nvSpPr>
        <p:spPr>
          <a:xfrm>
            <a:off x="7132320" y="3200400"/>
            <a:ext cx="182880" cy="0"/>
          </a:xfrm>
          <a:prstGeom prst="line">
            <a:avLst/>
          </a:prstGeom>
          <a:noFill/>
          <a:ln w="22225">
            <a:solidFill>
              <a:srgbClr val="2A654E"/>
            </a:solidFill>
            <a:prstDash val="solid"/>
            <a:tailEnd type="triangle"/>
          </a:ln>
        </p:spPr>
      </p:sp>
      <p:sp>
        <p:nvSpPr>
          <p:cNvPr id="25" name="Shape 22"/>
          <p:cNvSpPr/>
          <p:nvPr/>
        </p:nvSpPr>
        <p:spPr>
          <a:xfrm>
            <a:off x="7315200" y="2011680"/>
            <a:ext cx="2103120" cy="2377440"/>
          </a:xfrm>
          <a:prstGeom prst="roundRect">
            <a:avLst>
              <a:gd name="adj" fmla="val 4348"/>
            </a:avLst>
          </a:prstGeom>
          <a:solidFill>
            <a:srgbClr val="FFFFFF"/>
          </a:solidFill>
          <a:ln w="12700">
            <a:solidFill>
              <a:srgbClr val="E4E2DE"/>
            </a:solidFill>
            <a:prstDash val="solid"/>
          </a:ln>
        </p:spPr>
      </p:sp>
      <p:sp>
        <p:nvSpPr>
          <p:cNvPr id="26" name="Shape 23"/>
          <p:cNvSpPr/>
          <p:nvPr/>
        </p:nvSpPr>
        <p:spPr>
          <a:xfrm>
            <a:off x="7516368" y="2194560"/>
            <a:ext cx="329184" cy="329184"/>
          </a:xfrm>
          <a:prstGeom prst="ellipse">
            <a:avLst/>
          </a:prstGeom>
          <a:solidFill>
            <a:srgbClr val="2A654E"/>
          </a:solidFill>
          <a:ln w="12700">
            <a:solidFill>
              <a:srgbClr val="2A654E"/>
            </a:solidFill>
            <a:prstDash val="solid"/>
          </a:ln>
        </p:spPr>
      </p:sp>
      <p:sp>
        <p:nvSpPr>
          <p:cNvPr id="27" name="Text 24"/>
          <p:cNvSpPr txBox="1"/>
          <p:nvPr/>
        </p:nvSpPr>
        <p:spPr>
          <a:xfrm>
            <a:off x="7516368" y="219456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28" name="Text 25"/>
          <p:cNvSpPr txBox="1"/>
          <p:nvPr/>
        </p:nvSpPr>
        <p:spPr>
          <a:xfrm>
            <a:off x="7516368" y="2633472"/>
            <a:ext cx="1700784" cy="457200"/>
          </a:xfrm>
          <a:prstGeom prst="rect">
            <a:avLst/>
          </a:prstGeom>
          <a:noFill/>
          <a:ln/>
        </p:spPr>
        <p:txBody>
          <a:bodyPr wrap="square" lIns="0" tIns="0" rIns="0" bIns="0" rtlCol="0" anchor="t"/>
          <a:lstStyle/>
          <a:p>
            <a:pPr indent="0" marL="0">
              <a:buNone/>
            </a:pPr>
            <a:r>
              <a:rPr lang="en-US" sz="1400" b="1" dirty="0">
                <a:solidFill>
                  <a:srgbClr val="113A2A"/>
                </a:solidFill>
                <a:latin typeface="Arial" pitchFamily="34" charset="0"/>
                <a:ea typeface="Arial" pitchFamily="34" charset="-122"/>
                <a:cs typeface="Arial" pitchFamily="34" charset="-120"/>
              </a:rPr>
              <a:t>Review and approve</a:t>
            </a:r>
            <a:endParaRPr lang="en-US" sz="1400" dirty="0"/>
          </a:p>
        </p:txBody>
      </p:sp>
      <p:sp>
        <p:nvSpPr>
          <p:cNvPr id="29" name="Text 26"/>
          <p:cNvSpPr txBox="1"/>
          <p:nvPr/>
        </p:nvSpPr>
        <p:spPr>
          <a:xfrm>
            <a:off x="7516368" y="3090672"/>
            <a:ext cx="1700784" cy="1161288"/>
          </a:xfrm>
          <a:prstGeom prst="rect">
            <a:avLst/>
          </a:prstGeom>
          <a:noFill/>
          <a:ln/>
        </p:spPr>
        <p:txBody>
          <a:bodyPr wrap="square" lIns="0" tIns="0" rIns="0" bIns="0" rtlCol="0" anchor="t"/>
          <a:lstStyle/>
          <a:p>
            <a:pPr indent="0" marL="0">
              <a:buNone/>
            </a:pPr>
            <a:r>
              <a:rPr lang="en-US" sz="1150" dirty="0">
                <a:solidFill>
                  <a:srgbClr val="6E6961"/>
                </a:solidFill>
                <a:latin typeface="Arial" pitchFamily="34" charset="0"/>
                <a:ea typeface="Arial" pitchFamily="34" charset="-122"/>
                <a:cs typeface="Arial" pitchFamily="34" charset="-120"/>
              </a:rPr>
              <a:t>A reviewer applies their judgment, corrects the content and approves under their own name.</a:t>
            </a:r>
            <a:endParaRPr lang="en-US" sz="1150" dirty="0"/>
          </a:p>
        </p:txBody>
      </p:sp>
      <p:sp>
        <p:nvSpPr>
          <p:cNvPr id="30" name="Shape 27"/>
          <p:cNvSpPr/>
          <p:nvPr/>
        </p:nvSpPr>
        <p:spPr>
          <a:xfrm>
            <a:off x="9418320" y="3200400"/>
            <a:ext cx="182880" cy="0"/>
          </a:xfrm>
          <a:prstGeom prst="line">
            <a:avLst/>
          </a:prstGeom>
          <a:noFill/>
          <a:ln w="22225">
            <a:solidFill>
              <a:srgbClr val="2A654E"/>
            </a:solidFill>
            <a:prstDash val="solid"/>
            <a:tailEnd type="triangle"/>
          </a:ln>
        </p:spPr>
      </p:sp>
      <p:sp>
        <p:nvSpPr>
          <p:cNvPr id="31" name="Shape 28"/>
          <p:cNvSpPr/>
          <p:nvPr/>
        </p:nvSpPr>
        <p:spPr>
          <a:xfrm>
            <a:off x="9601200" y="2011680"/>
            <a:ext cx="2103120" cy="2377440"/>
          </a:xfrm>
          <a:prstGeom prst="roundRect">
            <a:avLst>
              <a:gd name="adj" fmla="val 4348"/>
            </a:avLst>
          </a:prstGeom>
          <a:solidFill>
            <a:srgbClr val="FFFFFF"/>
          </a:solidFill>
          <a:ln w="12700">
            <a:solidFill>
              <a:srgbClr val="E4E2DE"/>
            </a:solidFill>
            <a:prstDash val="solid"/>
          </a:ln>
        </p:spPr>
      </p:sp>
      <p:sp>
        <p:nvSpPr>
          <p:cNvPr id="32" name="Shape 29"/>
          <p:cNvSpPr/>
          <p:nvPr/>
        </p:nvSpPr>
        <p:spPr>
          <a:xfrm>
            <a:off x="9802368" y="2194560"/>
            <a:ext cx="329184" cy="329184"/>
          </a:xfrm>
          <a:prstGeom prst="ellipse">
            <a:avLst/>
          </a:prstGeom>
          <a:solidFill>
            <a:srgbClr val="2A654E"/>
          </a:solidFill>
          <a:ln w="12700">
            <a:solidFill>
              <a:srgbClr val="2A654E"/>
            </a:solidFill>
            <a:prstDash val="solid"/>
          </a:ln>
        </p:spPr>
      </p:sp>
      <p:sp>
        <p:nvSpPr>
          <p:cNvPr id="33" name="Text 30"/>
          <p:cNvSpPr txBox="1"/>
          <p:nvPr/>
        </p:nvSpPr>
        <p:spPr>
          <a:xfrm>
            <a:off x="9802368" y="219456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34" name="Text 31"/>
          <p:cNvSpPr txBox="1"/>
          <p:nvPr/>
        </p:nvSpPr>
        <p:spPr>
          <a:xfrm>
            <a:off x="9802368" y="2633472"/>
            <a:ext cx="1700784" cy="457200"/>
          </a:xfrm>
          <a:prstGeom prst="rect">
            <a:avLst/>
          </a:prstGeom>
          <a:noFill/>
          <a:ln/>
        </p:spPr>
        <p:txBody>
          <a:bodyPr wrap="square" lIns="0" tIns="0" rIns="0" bIns="0" rtlCol="0" anchor="t"/>
          <a:lstStyle/>
          <a:p>
            <a:pPr indent="0" marL="0">
              <a:buNone/>
            </a:pPr>
            <a:r>
              <a:rPr lang="en-US" sz="1400" b="1" dirty="0">
                <a:solidFill>
                  <a:srgbClr val="113A2A"/>
                </a:solidFill>
                <a:latin typeface="Arial" pitchFamily="34" charset="0"/>
                <a:ea typeface="Arial" pitchFamily="34" charset="-122"/>
                <a:cs typeface="Arial" pitchFamily="34" charset="-120"/>
              </a:rPr>
              <a:t>Deck and record</a:t>
            </a:r>
            <a:endParaRPr lang="en-US" sz="1400" dirty="0"/>
          </a:p>
        </p:txBody>
      </p:sp>
      <p:sp>
        <p:nvSpPr>
          <p:cNvPr id="35" name="Text 32"/>
          <p:cNvSpPr txBox="1"/>
          <p:nvPr/>
        </p:nvSpPr>
        <p:spPr>
          <a:xfrm>
            <a:off x="9802368" y="3090672"/>
            <a:ext cx="1700784" cy="1161288"/>
          </a:xfrm>
          <a:prstGeom prst="rect">
            <a:avLst/>
          </a:prstGeom>
          <a:noFill/>
          <a:ln/>
        </p:spPr>
        <p:txBody>
          <a:bodyPr wrap="square" lIns="0" tIns="0" rIns="0" bIns="0" rtlCol="0" anchor="t"/>
          <a:lstStyle/>
          <a:p>
            <a:pPr indent="0" marL="0">
              <a:buNone/>
            </a:pPr>
            <a:r>
              <a:rPr lang="en-US" sz="1150" dirty="0">
                <a:solidFill>
                  <a:srgbClr val="6E6961"/>
                </a:solidFill>
                <a:latin typeface="Arial" pitchFamily="34" charset="0"/>
                <a:ea typeface="Arial" pitchFamily="34" charset="-122"/>
                <a:cs typeface="Arial" pitchFamily="34" charset="-120"/>
              </a:rPr>
              <a:t>The workspace produces the KCG status deck and retains the approved record, with who and when.</a:t>
            </a:r>
            <a:endParaRPr lang="en-US" sz="1150" dirty="0"/>
          </a:p>
        </p:txBody>
      </p:sp>
      <p:sp>
        <p:nvSpPr>
          <p:cNvPr id="36" name="Shape 33"/>
          <p:cNvSpPr/>
          <p:nvPr/>
        </p:nvSpPr>
        <p:spPr>
          <a:xfrm>
            <a:off x="457200" y="4663440"/>
            <a:ext cx="11274552" cy="1188720"/>
          </a:xfrm>
          <a:prstGeom prst="roundRect">
            <a:avLst>
              <a:gd name="adj" fmla="val 7692"/>
            </a:avLst>
          </a:prstGeom>
          <a:solidFill>
            <a:srgbClr val="EAF1ED"/>
          </a:solidFill>
          <a:ln w="12700">
            <a:solidFill>
              <a:srgbClr val="2A654E"/>
            </a:solidFill>
            <a:prstDash val="solid"/>
          </a:ln>
        </p:spPr>
      </p:sp>
      <p:sp>
        <p:nvSpPr>
          <p:cNvPr id="37" name="Text 34"/>
          <p:cNvSpPr txBox="1"/>
          <p:nvPr/>
        </p:nvSpPr>
        <p:spPr>
          <a:xfrm>
            <a:off x="685800" y="4800600"/>
            <a:ext cx="4572000" cy="228600"/>
          </a:xfrm>
          <a:prstGeom prst="rect">
            <a:avLst/>
          </a:prstGeom>
          <a:noFill/>
          <a:ln/>
        </p:spPr>
        <p:txBody>
          <a:bodyPr wrap="square" lIns="0" tIns="0" rIns="0" bIns="0" rtlCol="0" anchor="ctr"/>
          <a:lstStyle/>
          <a:p>
            <a:pPr indent="0" marL="0">
              <a:buNone/>
            </a:pPr>
            <a:r>
              <a:rPr lang="en-US" sz="850" b="1" spc="150" kern="0" dirty="0">
                <a:solidFill>
                  <a:srgbClr val="2A654E"/>
                </a:solidFill>
                <a:latin typeface="Arial" pitchFamily="34" charset="0"/>
                <a:ea typeface="Arial" pitchFamily="34" charset="-122"/>
                <a:cs typeface="Arial" pitchFamily="34" charset="-120"/>
              </a:rPr>
              <a:t>WHAT STAYS WITH PEOPLE</a:t>
            </a:r>
            <a:endParaRPr lang="en-US" sz="850" dirty="0"/>
          </a:p>
        </p:txBody>
      </p:sp>
      <p:sp>
        <p:nvSpPr>
          <p:cNvPr id="38" name="Text 35"/>
          <p:cNvSpPr txBox="1"/>
          <p:nvPr/>
        </p:nvSpPr>
        <p:spPr>
          <a:xfrm>
            <a:off x="685800" y="5029200"/>
            <a:ext cx="10789920" cy="777240"/>
          </a:xfrm>
          <a:prstGeom prst="rect">
            <a:avLst/>
          </a:prstGeom>
          <a:noFill/>
          <a:ln/>
        </p:spPr>
        <p:txBody>
          <a:bodyPr wrap="square" lIns="0" tIns="0" rIns="0" bIns="0" rtlCol="0" anchor="ctr"/>
          <a:lstStyle/>
          <a:p>
            <a:pPr indent="0" marL="0">
              <a:buNone/>
            </a:pPr>
            <a:r>
              <a:rPr lang="en-US" sz="1250" dirty="0">
                <a:solidFill>
                  <a:srgbClr val="113A2A"/>
                </a:solidFill>
                <a:latin typeface="Arial" pitchFamily="34" charset="0"/>
                <a:ea typeface="Arial" pitchFamily="34" charset="-122"/>
                <a:cs typeface="Arial" pitchFamily="34" charset="-120"/>
              </a:rPr>
              <a:t>Judgment, correction and approval. Nothing reaches a client that a named person did not approve, and nothing is sent by software. Dates, status colors and the file itself are produced by code, not by the model. Missing evidence is shown as missing, never as good news.</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310896" cy="310896"/>
          </a:xfrm>
          <a:prstGeom prst="rect">
            <a:avLst/>
          </a:prstGeom>
        </p:spPr>
      </p:pic>
      <p:sp>
        <p:nvSpPr>
          <p:cNvPr id="3" name="Text 0"/>
          <p:cNvSpPr txBox="1"/>
          <p:nvPr/>
        </p:nvSpPr>
        <p:spPr>
          <a:xfrm>
            <a:off x="868680" y="402336"/>
            <a:ext cx="3657600" cy="274320"/>
          </a:xfrm>
          <a:prstGeom prst="rect">
            <a:avLst/>
          </a:prstGeom>
          <a:noFill/>
          <a:ln/>
        </p:spPr>
        <p:txBody>
          <a:bodyPr wrap="square" lIns="0" tIns="0" rIns="0" bIns="0" rtlCol="0" anchor="ctr"/>
          <a:lstStyle/>
          <a:p>
            <a:pPr indent="0" marL="0">
              <a:buNone/>
            </a:pPr>
            <a:r>
              <a:rPr lang="en-US" sz="950" b="1" spc="200" kern="0" dirty="0">
                <a:solidFill>
                  <a:srgbClr val="113A2A"/>
                </a:solidFill>
                <a:latin typeface="Arial" pitchFamily="34" charset="0"/>
                <a:ea typeface="Arial" pitchFamily="34" charset="-122"/>
                <a:cs typeface="Arial" pitchFamily="34" charset="-120"/>
              </a:rPr>
              <a:t>KARTA CONSULTING GROUP</a:t>
            </a:r>
            <a:endParaRPr lang="en-US" sz="950" dirty="0"/>
          </a:p>
        </p:txBody>
      </p:sp>
      <p:sp>
        <p:nvSpPr>
          <p:cNvPr id="4" name="Text 1"/>
          <p:cNvSpPr txBox="1"/>
          <p:nvPr/>
        </p:nvSpPr>
        <p:spPr>
          <a:xfrm>
            <a:off x="6675120" y="402336"/>
            <a:ext cx="5029200" cy="274320"/>
          </a:xfrm>
          <a:prstGeom prst="rect">
            <a:avLst/>
          </a:prstGeom>
          <a:noFill/>
          <a:ln/>
        </p:spPr>
        <p:txBody>
          <a:bodyPr wrap="square" lIns="0" tIns="0" rIns="0" bIns="0" rtlCol="0" anchor="ctr"/>
          <a:lstStyle/>
          <a:p>
            <a:pPr algn="r" indent="0" marL="0">
              <a:buNone/>
            </a:pPr>
            <a:r>
              <a:rPr lang="en-US" sz="950" dirty="0">
                <a:solidFill>
                  <a:srgbClr val="979187"/>
                </a:solidFill>
                <a:latin typeface="Arial" pitchFamily="34" charset="0"/>
                <a:ea typeface="Arial" pitchFamily="34" charset="-122"/>
                <a:cs typeface="Arial" pitchFamily="34" charset="-120"/>
              </a:rPr>
              <a:t>Karta AI Engagement Workspace · September 12, 2026</a:t>
            </a:r>
            <a:endParaRPr lang="en-US" sz="950" dirty="0"/>
          </a:p>
        </p:txBody>
      </p:sp>
      <p:sp>
        <p:nvSpPr>
          <p:cNvPr id="5" name="Text 2"/>
          <p:cNvSpPr txBox="1"/>
          <p:nvPr/>
        </p:nvSpPr>
        <p:spPr>
          <a:xfrm>
            <a:off x="11430000" y="6355080"/>
            <a:ext cx="365760" cy="274320"/>
          </a:xfrm>
          <a:prstGeom prst="rect">
            <a:avLst/>
          </a:prstGeom>
          <a:noFill/>
          <a:ln/>
        </p:spPr>
        <p:txBody>
          <a:bodyPr wrap="square" lIns="0" tIns="0" rIns="0" bIns="0" rtlCol="0" anchor="ctr"/>
          <a:lstStyle/>
          <a:p>
            <a:pPr algn="r" indent="0" marL="0">
              <a:buNone/>
            </a:pPr>
            <a:r>
              <a:rPr lang="en-US" sz="900" dirty="0">
                <a:solidFill>
                  <a:srgbClr val="979187"/>
                </a:solidFill>
                <a:latin typeface="Arial" pitchFamily="34" charset="0"/>
                <a:ea typeface="Arial" pitchFamily="34" charset="-122"/>
                <a:cs typeface="Arial" pitchFamily="34" charset="-120"/>
              </a:rPr>
              <a:t>6</a:t>
            </a:r>
            <a:endParaRPr lang="en-US" sz="900" dirty="0"/>
          </a:p>
        </p:txBody>
      </p:sp>
      <p:sp>
        <p:nvSpPr>
          <p:cNvPr id="6" name="Text 3"/>
          <p:cNvSpPr txBox="1"/>
          <p:nvPr/>
        </p:nvSpPr>
        <p:spPr>
          <a:xfrm>
            <a:off x="457200" y="960120"/>
            <a:ext cx="11247120" cy="822960"/>
          </a:xfrm>
          <a:prstGeom prst="rect">
            <a:avLst/>
          </a:prstGeom>
          <a:noFill/>
          <a:ln/>
        </p:spPr>
        <p:txBody>
          <a:bodyPr wrap="square" lIns="0" tIns="0" rIns="0" bIns="0" rtlCol="0" anchor="t"/>
          <a:lstStyle/>
          <a:p>
            <a:pPr indent="0" marL="0">
              <a:buNone/>
            </a:pPr>
            <a:r>
              <a:rPr lang="en-US" sz="3000" b="1" dirty="0">
                <a:solidFill>
                  <a:srgbClr val="113A2A"/>
                </a:solidFill>
                <a:latin typeface="Arial" pitchFamily="34" charset="0"/>
                <a:ea typeface="Arial" pitchFamily="34" charset="-122"/>
                <a:cs typeface="Arial" pitchFamily="34" charset="-120"/>
              </a:rPr>
              <a:t>This is running today</a:t>
            </a:r>
            <a:endParaRPr lang="en-US" sz="3000" dirty="0"/>
          </a:p>
        </p:txBody>
      </p:sp>
      <p:sp>
        <p:nvSpPr>
          <p:cNvPr id="7" name="Text 4"/>
          <p:cNvSpPr txBox="1"/>
          <p:nvPr/>
        </p:nvSpPr>
        <p:spPr>
          <a:xfrm>
            <a:off x="457200" y="1783080"/>
            <a:ext cx="9601200" cy="640080"/>
          </a:xfrm>
          <a:prstGeom prst="rect">
            <a:avLst/>
          </a:prstGeom>
          <a:noFill/>
          <a:ln/>
        </p:spPr>
        <p:txBody>
          <a:bodyPr wrap="square" lIns="0" tIns="0" rIns="0" bIns="0" rtlCol="0" anchor="t"/>
          <a:lstStyle/>
          <a:p>
            <a:pPr indent="0" marL="0">
              <a:buNone/>
            </a:pPr>
            <a:r>
              <a:rPr lang="en-US" sz="1400" dirty="0">
                <a:solidFill>
                  <a:srgbClr val="6E6961"/>
                </a:solidFill>
                <a:latin typeface="Arial" pitchFamily="34" charset="0"/>
                <a:ea typeface="Arial" pitchFamily="34" charset="-122"/>
                <a:cs typeface="Arial" pitchFamily="34" charset="-120"/>
              </a:rPr>
              <a:t>We have recorded an approved status and generated the deck for Legend. That gives us a concrete starting point for demonstrating the experience and measuring its value.</a:t>
            </a:r>
            <a:endParaRPr lang="en-US" sz="1400" dirty="0"/>
          </a:p>
        </p:txBody>
      </p:sp>
      <p:sp>
        <p:nvSpPr>
          <p:cNvPr id="8" name="Shape 5"/>
          <p:cNvSpPr/>
          <p:nvPr/>
        </p:nvSpPr>
        <p:spPr>
          <a:xfrm>
            <a:off x="457200" y="2697480"/>
            <a:ext cx="5577840" cy="1371600"/>
          </a:xfrm>
          <a:prstGeom prst="roundRect">
            <a:avLst>
              <a:gd name="adj" fmla="val 6667"/>
            </a:avLst>
          </a:prstGeom>
          <a:solidFill>
            <a:srgbClr val="FFFFFF"/>
          </a:solidFill>
          <a:ln w="12700">
            <a:solidFill>
              <a:srgbClr val="E4E2DE"/>
            </a:solidFill>
            <a:prstDash val="solid"/>
          </a:ln>
        </p:spPr>
      </p:sp>
      <p:sp>
        <p:nvSpPr>
          <p:cNvPr id="9" name="Text 6"/>
          <p:cNvSpPr txBox="1"/>
          <p:nvPr/>
        </p:nvSpPr>
        <p:spPr>
          <a:xfrm>
            <a:off x="658368" y="2880360"/>
            <a:ext cx="5175504" cy="457200"/>
          </a:xfrm>
          <a:prstGeom prst="rect">
            <a:avLst/>
          </a:prstGeom>
          <a:noFill/>
          <a:ln/>
        </p:spPr>
        <p:txBody>
          <a:bodyPr wrap="square" lIns="0" tIns="0" rIns="0" bIns="0" rtlCol="0" anchor="t"/>
          <a:lstStyle/>
          <a:p>
            <a:pPr indent="0" marL="0">
              <a:buNone/>
            </a:pPr>
            <a:r>
              <a:rPr lang="en-US" sz="1400" b="1" dirty="0">
                <a:solidFill>
                  <a:srgbClr val="113A2A"/>
                </a:solidFill>
                <a:latin typeface="Arial" pitchFamily="34" charset="0"/>
                <a:ea typeface="Arial" pitchFamily="34" charset="-122"/>
                <a:cs typeface="Arial" pitchFamily="34" charset="-120"/>
              </a:rPr>
              <a:t>Legend · Continuous Support</a:t>
            </a:r>
            <a:endParaRPr lang="en-US" sz="1400" dirty="0"/>
          </a:p>
        </p:txBody>
      </p:sp>
      <p:sp>
        <p:nvSpPr>
          <p:cNvPr id="10" name="Text 7"/>
          <p:cNvSpPr txBox="1"/>
          <p:nvPr/>
        </p:nvSpPr>
        <p:spPr>
          <a:xfrm>
            <a:off x="658368" y="3337560"/>
            <a:ext cx="5175504" cy="594360"/>
          </a:xfrm>
          <a:prstGeom prst="rect">
            <a:avLst/>
          </a:prstGeom>
          <a:noFill/>
          <a:ln/>
        </p:spPr>
        <p:txBody>
          <a:bodyPr wrap="square" lIns="0" tIns="0" rIns="0" bIns="0" rtlCol="0" anchor="t"/>
          <a:lstStyle/>
          <a:p>
            <a:pPr indent="0" marL="0">
              <a:buNone/>
            </a:pPr>
            <a:r>
              <a:rPr lang="en-US" sz="1150" dirty="0">
                <a:solidFill>
                  <a:srgbClr val="6E6961"/>
                </a:solidFill>
                <a:latin typeface="Arial" pitchFamily="34" charset="0"/>
                <a:ea typeface="Arial" pitchFamily="34" charset="-122"/>
                <a:cs typeface="Arial" pitchFamily="34" charset="-120"/>
              </a:rPr>
              <a:t>First engagement workspace live. Weekly Status version 1 approved on September 9 and the deck built the same day.</a:t>
            </a:r>
            <a:endParaRPr lang="en-US" sz="1150" dirty="0"/>
          </a:p>
        </p:txBody>
      </p:sp>
      <p:sp>
        <p:nvSpPr>
          <p:cNvPr id="11" name="Shape 8"/>
          <p:cNvSpPr/>
          <p:nvPr/>
        </p:nvSpPr>
        <p:spPr>
          <a:xfrm>
            <a:off x="6126480" y="2697480"/>
            <a:ext cx="5577840" cy="1371600"/>
          </a:xfrm>
          <a:prstGeom prst="roundRect">
            <a:avLst>
              <a:gd name="adj" fmla="val 6667"/>
            </a:avLst>
          </a:prstGeom>
          <a:solidFill>
            <a:srgbClr val="FFFFFF"/>
          </a:solidFill>
          <a:ln w="12700">
            <a:solidFill>
              <a:srgbClr val="E4E2DE"/>
            </a:solidFill>
            <a:prstDash val="solid"/>
          </a:ln>
        </p:spPr>
      </p:sp>
      <p:sp>
        <p:nvSpPr>
          <p:cNvPr id="12" name="Text 9"/>
          <p:cNvSpPr txBox="1"/>
          <p:nvPr/>
        </p:nvSpPr>
        <p:spPr>
          <a:xfrm>
            <a:off x="6327648" y="2880360"/>
            <a:ext cx="5175504" cy="457200"/>
          </a:xfrm>
          <a:prstGeom prst="rect">
            <a:avLst/>
          </a:prstGeom>
          <a:noFill/>
          <a:ln/>
        </p:spPr>
        <p:txBody>
          <a:bodyPr wrap="square" lIns="0" tIns="0" rIns="0" bIns="0" rtlCol="0" anchor="t"/>
          <a:lstStyle/>
          <a:p>
            <a:pPr indent="0" marL="0">
              <a:buNone/>
            </a:pPr>
            <a:r>
              <a:rPr lang="en-US" sz="1400" b="1" dirty="0">
                <a:solidFill>
                  <a:srgbClr val="113A2A"/>
                </a:solidFill>
                <a:latin typeface="Arial" pitchFamily="34" charset="0"/>
                <a:ea typeface="Arial" pitchFamily="34" charset="-122"/>
                <a:cs typeface="Arial" pitchFamily="34" charset="-120"/>
              </a:rPr>
              <a:t>Gates 0 to 6 closed</a:t>
            </a:r>
            <a:endParaRPr lang="en-US" sz="1400" dirty="0"/>
          </a:p>
        </p:txBody>
      </p:sp>
      <p:sp>
        <p:nvSpPr>
          <p:cNvPr id="13" name="Text 10"/>
          <p:cNvSpPr txBox="1"/>
          <p:nvPr/>
        </p:nvSpPr>
        <p:spPr>
          <a:xfrm>
            <a:off x="6327648" y="3337560"/>
            <a:ext cx="5175504" cy="594360"/>
          </a:xfrm>
          <a:prstGeom prst="rect">
            <a:avLst/>
          </a:prstGeom>
          <a:noFill/>
          <a:ln/>
        </p:spPr>
        <p:txBody>
          <a:bodyPr wrap="square" lIns="0" tIns="0" rIns="0" bIns="0" rtlCol="0" anchor="t"/>
          <a:lstStyle/>
          <a:p>
            <a:pPr indent="0" marL="0">
              <a:buNone/>
            </a:pPr>
            <a:r>
              <a:rPr lang="en-US" sz="1150" dirty="0">
                <a:solidFill>
                  <a:srgbClr val="6E6961"/>
                </a:solidFill>
                <a:latin typeface="Arial" pitchFamily="34" charset="0"/>
                <a:ea typeface="Arial" pitchFamily="34" charset="-122"/>
                <a:cs typeface="Arial" pitchFamily="34" charset="-120"/>
              </a:rPr>
              <a:t>Proof of concept, connector spike, contracts, deck builder, Weekly Status end to end, home screen, pilot readiness. Each proved before the next began.</a:t>
            </a:r>
            <a:endParaRPr lang="en-US" sz="1150" dirty="0"/>
          </a:p>
        </p:txBody>
      </p:sp>
      <p:sp>
        <p:nvSpPr>
          <p:cNvPr id="14" name="Shape 11"/>
          <p:cNvSpPr/>
          <p:nvPr/>
        </p:nvSpPr>
        <p:spPr>
          <a:xfrm>
            <a:off x="457200" y="4206240"/>
            <a:ext cx="5577840" cy="1371600"/>
          </a:xfrm>
          <a:prstGeom prst="roundRect">
            <a:avLst>
              <a:gd name="adj" fmla="val 6667"/>
            </a:avLst>
          </a:prstGeom>
          <a:solidFill>
            <a:srgbClr val="FFFFFF"/>
          </a:solidFill>
          <a:ln w="12700">
            <a:solidFill>
              <a:srgbClr val="E4E2DE"/>
            </a:solidFill>
            <a:prstDash val="solid"/>
          </a:ln>
        </p:spPr>
      </p:sp>
      <p:sp>
        <p:nvSpPr>
          <p:cNvPr id="15" name="Text 12"/>
          <p:cNvSpPr txBox="1"/>
          <p:nvPr/>
        </p:nvSpPr>
        <p:spPr>
          <a:xfrm>
            <a:off x="658368" y="4389120"/>
            <a:ext cx="5175504" cy="457200"/>
          </a:xfrm>
          <a:prstGeom prst="rect">
            <a:avLst/>
          </a:prstGeom>
          <a:noFill/>
          <a:ln/>
        </p:spPr>
        <p:txBody>
          <a:bodyPr wrap="square" lIns="0" tIns="0" rIns="0" bIns="0" rtlCol="0" anchor="t"/>
          <a:lstStyle/>
          <a:p>
            <a:pPr indent="0" marL="0">
              <a:buNone/>
            </a:pPr>
            <a:r>
              <a:rPr lang="en-US" sz="1400" b="1" dirty="0">
                <a:solidFill>
                  <a:srgbClr val="113A2A"/>
                </a:solidFill>
                <a:latin typeface="Arial" pitchFamily="34" charset="0"/>
                <a:ea typeface="Arial" pitchFamily="34" charset="-122"/>
                <a:cs typeface="Arial" pitchFamily="34" charset="-120"/>
              </a:rPr>
              <a:t>About ten minutes</a:t>
            </a:r>
            <a:endParaRPr lang="en-US" sz="1400" dirty="0"/>
          </a:p>
        </p:txBody>
      </p:sp>
      <p:sp>
        <p:nvSpPr>
          <p:cNvPr id="16" name="Text 13"/>
          <p:cNvSpPr txBox="1"/>
          <p:nvPr/>
        </p:nvSpPr>
        <p:spPr>
          <a:xfrm>
            <a:off x="658368" y="4846320"/>
            <a:ext cx="5175504" cy="594360"/>
          </a:xfrm>
          <a:prstGeom prst="rect">
            <a:avLst/>
          </a:prstGeom>
          <a:noFill/>
          <a:ln/>
        </p:spPr>
        <p:txBody>
          <a:bodyPr wrap="square" lIns="0" tIns="0" rIns="0" bIns="0" rtlCol="0" anchor="t"/>
          <a:lstStyle/>
          <a:p>
            <a:pPr indent="0" marL="0">
              <a:buNone/>
            </a:pPr>
            <a:r>
              <a:rPr lang="en-US" sz="1150" dirty="0">
                <a:solidFill>
                  <a:srgbClr val="6E6961"/>
                </a:solidFill>
                <a:latin typeface="Arial" pitchFamily="34" charset="0"/>
                <a:ea typeface="Arial" pitchFamily="34" charset="-122"/>
                <a:cs typeface="Arial" pitchFamily="34" charset="-120"/>
              </a:rPr>
              <a:t>To stand up a new engagement from the blank template: names, the owner, and links to Asana, SharePoint, Granola and Harvest.</a:t>
            </a:r>
            <a:endParaRPr lang="en-US" sz="1150" dirty="0"/>
          </a:p>
        </p:txBody>
      </p:sp>
      <p:sp>
        <p:nvSpPr>
          <p:cNvPr id="17" name="Shape 14"/>
          <p:cNvSpPr/>
          <p:nvPr/>
        </p:nvSpPr>
        <p:spPr>
          <a:xfrm>
            <a:off x="6126480" y="4206240"/>
            <a:ext cx="5577840" cy="1371600"/>
          </a:xfrm>
          <a:prstGeom prst="roundRect">
            <a:avLst>
              <a:gd name="adj" fmla="val 6667"/>
            </a:avLst>
          </a:prstGeom>
          <a:solidFill>
            <a:srgbClr val="FFFFFF"/>
          </a:solidFill>
          <a:ln w="12700">
            <a:solidFill>
              <a:srgbClr val="E4E2DE"/>
            </a:solidFill>
            <a:prstDash val="solid"/>
          </a:ln>
        </p:spPr>
      </p:sp>
      <p:sp>
        <p:nvSpPr>
          <p:cNvPr id="18" name="Text 15"/>
          <p:cNvSpPr txBox="1"/>
          <p:nvPr/>
        </p:nvSpPr>
        <p:spPr>
          <a:xfrm>
            <a:off x="6327648" y="4389120"/>
            <a:ext cx="5175504" cy="457200"/>
          </a:xfrm>
          <a:prstGeom prst="rect">
            <a:avLst/>
          </a:prstGeom>
          <a:noFill/>
          <a:ln/>
        </p:spPr>
        <p:txBody>
          <a:bodyPr wrap="square" lIns="0" tIns="0" rIns="0" bIns="0" rtlCol="0" anchor="t"/>
          <a:lstStyle/>
          <a:p>
            <a:pPr indent="0" marL="0">
              <a:buNone/>
            </a:pPr>
            <a:r>
              <a:rPr lang="en-US" sz="1400" b="1" dirty="0">
                <a:solidFill>
                  <a:srgbClr val="113A2A"/>
                </a:solidFill>
                <a:latin typeface="Arial" pitchFamily="34" charset="0"/>
                <a:ea typeface="Arial" pitchFamily="34" charset="-122"/>
                <a:cs typeface="Arial" pitchFamily="34" charset="-120"/>
              </a:rPr>
              <a:t>A second workspace in a cold test</a:t>
            </a:r>
            <a:endParaRPr lang="en-US" sz="1400" dirty="0"/>
          </a:p>
        </p:txBody>
      </p:sp>
      <p:sp>
        <p:nvSpPr>
          <p:cNvPr id="19" name="Text 16"/>
          <p:cNvSpPr txBox="1"/>
          <p:nvPr/>
        </p:nvSpPr>
        <p:spPr>
          <a:xfrm>
            <a:off x="6327648" y="4846320"/>
            <a:ext cx="5175504" cy="594360"/>
          </a:xfrm>
          <a:prstGeom prst="rect">
            <a:avLst/>
          </a:prstGeom>
          <a:noFill/>
          <a:ln/>
        </p:spPr>
        <p:txBody>
          <a:bodyPr wrap="square" lIns="0" tIns="0" rIns="0" bIns="0" rtlCol="0" anchor="t"/>
          <a:lstStyle/>
          <a:p>
            <a:pPr indent="0" marL="0">
              <a:buNone/>
            </a:pPr>
            <a:r>
              <a:rPr lang="en-US" sz="1150" dirty="0">
                <a:solidFill>
                  <a:srgbClr val="6E6961"/>
                </a:solidFill>
                <a:latin typeface="Arial" pitchFamily="34" charset="0"/>
                <a:ea typeface="Arial" pitchFamily="34" charset="-122"/>
                <a:cs typeface="Arial" pitchFamily="34" charset="-120"/>
              </a:rPr>
              <a:t>Two colleagues who have not seen it before are setting one up to show us where the gaps are.</a:t>
            </a:r>
            <a:endParaRPr lang="en-US" sz="1150" dirty="0"/>
          </a:p>
        </p:txBody>
      </p:sp>
      <p:sp>
        <p:nvSpPr>
          <p:cNvPr id="20" name="Text 17"/>
          <p:cNvSpPr txBox="1"/>
          <p:nvPr/>
        </p:nvSpPr>
        <p:spPr>
          <a:xfrm>
            <a:off x="457200" y="5760720"/>
            <a:ext cx="11274552" cy="411480"/>
          </a:xfrm>
          <a:prstGeom prst="rect">
            <a:avLst/>
          </a:prstGeom>
          <a:noFill/>
          <a:ln/>
        </p:spPr>
        <p:txBody>
          <a:bodyPr wrap="square" lIns="0" tIns="0" rIns="0" bIns="0" rtlCol="0" anchor="ctr"/>
          <a:lstStyle/>
          <a:p>
            <a:pPr indent="0" marL="0">
              <a:buNone/>
            </a:pPr>
            <a:r>
              <a:rPr lang="en-US" sz="1200" i="1" dirty="0">
                <a:solidFill>
                  <a:srgbClr val="6E6961"/>
                </a:solidFill>
                <a:latin typeface="Arial" pitchFamily="34" charset="0"/>
                <a:ea typeface="Arial" pitchFamily="34" charset="-122"/>
                <a:cs typeface="Arial" pitchFamily="34" charset="-120"/>
              </a:rPr>
              <a:t>Today the reviewer saves and distributes the deck. Once IT approves a one-time consent, the deck saves straight into the engagement's SharePoint folder as the reviewer.</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310896" cy="310896"/>
          </a:xfrm>
          <a:prstGeom prst="rect">
            <a:avLst/>
          </a:prstGeom>
        </p:spPr>
      </p:pic>
      <p:sp>
        <p:nvSpPr>
          <p:cNvPr id="3" name="Text 0"/>
          <p:cNvSpPr txBox="1"/>
          <p:nvPr/>
        </p:nvSpPr>
        <p:spPr>
          <a:xfrm>
            <a:off x="868680" y="402336"/>
            <a:ext cx="3657600" cy="274320"/>
          </a:xfrm>
          <a:prstGeom prst="rect">
            <a:avLst/>
          </a:prstGeom>
          <a:noFill/>
          <a:ln/>
        </p:spPr>
        <p:txBody>
          <a:bodyPr wrap="square" lIns="0" tIns="0" rIns="0" bIns="0" rtlCol="0" anchor="ctr"/>
          <a:lstStyle/>
          <a:p>
            <a:pPr indent="0" marL="0">
              <a:buNone/>
            </a:pPr>
            <a:r>
              <a:rPr lang="en-US" sz="950" b="1" spc="200" kern="0" dirty="0">
                <a:solidFill>
                  <a:srgbClr val="113A2A"/>
                </a:solidFill>
                <a:latin typeface="Arial" pitchFamily="34" charset="0"/>
                <a:ea typeface="Arial" pitchFamily="34" charset="-122"/>
                <a:cs typeface="Arial" pitchFamily="34" charset="-120"/>
              </a:rPr>
              <a:t>KARTA CONSULTING GROUP</a:t>
            </a:r>
            <a:endParaRPr lang="en-US" sz="950" dirty="0"/>
          </a:p>
        </p:txBody>
      </p:sp>
      <p:sp>
        <p:nvSpPr>
          <p:cNvPr id="4" name="Text 1"/>
          <p:cNvSpPr txBox="1"/>
          <p:nvPr/>
        </p:nvSpPr>
        <p:spPr>
          <a:xfrm>
            <a:off x="6675120" y="402336"/>
            <a:ext cx="5029200" cy="274320"/>
          </a:xfrm>
          <a:prstGeom prst="rect">
            <a:avLst/>
          </a:prstGeom>
          <a:noFill/>
          <a:ln/>
        </p:spPr>
        <p:txBody>
          <a:bodyPr wrap="square" lIns="0" tIns="0" rIns="0" bIns="0" rtlCol="0" anchor="ctr"/>
          <a:lstStyle/>
          <a:p>
            <a:pPr algn="r" indent="0" marL="0">
              <a:buNone/>
            </a:pPr>
            <a:r>
              <a:rPr lang="en-US" sz="950" dirty="0">
                <a:solidFill>
                  <a:srgbClr val="979187"/>
                </a:solidFill>
                <a:latin typeface="Arial" pitchFamily="34" charset="0"/>
                <a:ea typeface="Arial" pitchFamily="34" charset="-122"/>
                <a:cs typeface="Arial" pitchFamily="34" charset="-120"/>
              </a:rPr>
              <a:t>Karta AI Engagement Workspace · September 12, 2026</a:t>
            </a:r>
            <a:endParaRPr lang="en-US" sz="950" dirty="0"/>
          </a:p>
        </p:txBody>
      </p:sp>
      <p:sp>
        <p:nvSpPr>
          <p:cNvPr id="5" name="Text 2"/>
          <p:cNvSpPr txBox="1"/>
          <p:nvPr/>
        </p:nvSpPr>
        <p:spPr>
          <a:xfrm>
            <a:off x="11430000" y="6355080"/>
            <a:ext cx="365760" cy="274320"/>
          </a:xfrm>
          <a:prstGeom prst="rect">
            <a:avLst/>
          </a:prstGeom>
          <a:noFill/>
          <a:ln/>
        </p:spPr>
        <p:txBody>
          <a:bodyPr wrap="square" lIns="0" tIns="0" rIns="0" bIns="0" rtlCol="0" anchor="ctr"/>
          <a:lstStyle/>
          <a:p>
            <a:pPr algn="r" indent="0" marL="0">
              <a:buNone/>
            </a:pPr>
            <a:r>
              <a:rPr lang="en-US" sz="900" dirty="0">
                <a:solidFill>
                  <a:srgbClr val="979187"/>
                </a:solidFill>
                <a:latin typeface="Arial" pitchFamily="34" charset="0"/>
                <a:ea typeface="Arial" pitchFamily="34" charset="-122"/>
                <a:cs typeface="Arial" pitchFamily="34" charset="-120"/>
              </a:rPr>
              <a:t>7</a:t>
            </a:r>
            <a:endParaRPr lang="en-US" sz="900" dirty="0"/>
          </a:p>
        </p:txBody>
      </p:sp>
      <p:sp>
        <p:nvSpPr>
          <p:cNvPr id="6" name="Text 3"/>
          <p:cNvSpPr txBox="1"/>
          <p:nvPr/>
        </p:nvSpPr>
        <p:spPr>
          <a:xfrm>
            <a:off x="457200" y="960120"/>
            <a:ext cx="11247120" cy="822960"/>
          </a:xfrm>
          <a:prstGeom prst="rect">
            <a:avLst/>
          </a:prstGeom>
          <a:noFill/>
          <a:ln/>
        </p:spPr>
        <p:txBody>
          <a:bodyPr wrap="square" lIns="0" tIns="0" rIns="0" bIns="0" rtlCol="0" anchor="t"/>
          <a:lstStyle/>
          <a:p>
            <a:pPr indent="0" marL="0">
              <a:buNone/>
            </a:pPr>
            <a:r>
              <a:rPr lang="en-US" sz="3000" b="1" dirty="0">
                <a:solidFill>
                  <a:srgbClr val="113A2A"/>
                </a:solidFill>
                <a:latin typeface="Arial" pitchFamily="34" charset="0"/>
                <a:ea typeface="Arial" pitchFamily="34" charset="-122"/>
                <a:cs typeface="Arial" pitchFamily="34" charset="-120"/>
              </a:rPr>
              <a:t>Our first two priorities show how the workspace supports different parts of delivery</a:t>
            </a:r>
            <a:endParaRPr lang="en-US" sz="3000" dirty="0"/>
          </a:p>
        </p:txBody>
      </p:sp>
      <p:sp>
        <p:nvSpPr>
          <p:cNvPr id="7" name="Shape 4"/>
          <p:cNvSpPr/>
          <p:nvPr/>
        </p:nvSpPr>
        <p:spPr>
          <a:xfrm>
            <a:off x="457200" y="1965960"/>
            <a:ext cx="5532120" cy="2743200"/>
          </a:xfrm>
          <a:prstGeom prst="roundRect">
            <a:avLst>
              <a:gd name="adj" fmla="val 3333"/>
            </a:avLst>
          </a:prstGeom>
          <a:solidFill>
            <a:srgbClr val="FFFFFF"/>
          </a:solidFill>
          <a:ln w="12700">
            <a:solidFill>
              <a:srgbClr val="E4E2DE"/>
            </a:solidFill>
            <a:prstDash val="solid"/>
          </a:ln>
        </p:spPr>
      </p:sp>
      <p:sp>
        <p:nvSpPr>
          <p:cNvPr id="8" name="Text 5"/>
          <p:cNvSpPr txBox="1"/>
          <p:nvPr/>
        </p:nvSpPr>
        <p:spPr>
          <a:xfrm>
            <a:off x="658368" y="2148840"/>
            <a:ext cx="5129784" cy="201168"/>
          </a:xfrm>
          <a:prstGeom prst="rect">
            <a:avLst/>
          </a:prstGeom>
          <a:noFill/>
          <a:ln/>
        </p:spPr>
        <p:txBody>
          <a:bodyPr wrap="square" lIns="0" tIns="0" rIns="0" bIns="0" rtlCol="0" anchor="ctr"/>
          <a:lstStyle/>
          <a:p>
            <a:pPr indent="0" marL="0">
              <a:buNone/>
            </a:pPr>
            <a:r>
              <a:rPr lang="en-US" sz="850" b="1" spc="150" kern="0" dirty="0">
                <a:solidFill>
                  <a:srgbClr val="2A654E"/>
                </a:solidFill>
                <a:latin typeface="Arial" pitchFamily="34" charset="0"/>
                <a:ea typeface="Arial" pitchFamily="34" charset="-122"/>
                <a:cs typeface="Arial" pitchFamily="34" charset="-120"/>
              </a:rPr>
              <a:t>PRIORITY 1 · EVERY STAGE</a:t>
            </a:r>
            <a:endParaRPr lang="en-US" sz="850" dirty="0"/>
          </a:p>
        </p:txBody>
      </p:sp>
      <p:sp>
        <p:nvSpPr>
          <p:cNvPr id="9" name="Text 6"/>
          <p:cNvSpPr txBox="1"/>
          <p:nvPr/>
        </p:nvSpPr>
        <p:spPr>
          <a:xfrm>
            <a:off x="658368" y="2386584"/>
            <a:ext cx="5129784" cy="502920"/>
          </a:xfrm>
          <a:prstGeom prst="rect">
            <a:avLst/>
          </a:prstGeom>
          <a:noFill/>
          <a:ln/>
        </p:spPr>
        <p:txBody>
          <a:bodyPr wrap="square" lIns="0" tIns="0" rIns="0" bIns="0" rtlCol="0" anchor="t"/>
          <a:lstStyle/>
          <a:p>
            <a:pPr indent="0" marL="0">
              <a:buNone/>
            </a:pPr>
            <a:r>
              <a:rPr lang="en-US" sz="1700" b="1" dirty="0">
                <a:solidFill>
                  <a:srgbClr val="113A2A"/>
                </a:solidFill>
                <a:latin typeface="Arial" pitchFamily="34" charset="0"/>
                <a:ea typeface="Arial" pitchFamily="34" charset="-122"/>
                <a:cs typeface="Arial" pitchFamily="34" charset="-120"/>
              </a:rPr>
              <a:t>Project Status Reporting</a:t>
            </a:r>
            <a:endParaRPr lang="en-US" sz="1700" dirty="0"/>
          </a:p>
        </p:txBody>
      </p:sp>
      <p:sp>
        <p:nvSpPr>
          <p:cNvPr id="10" name="Text 7"/>
          <p:cNvSpPr txBox="1"/>
          <p:nvPr/>
        </p:nvSpPr>
        <p:spPr>
          <a:xfrm>
            <a:off x="658368" y="2889504"/>
            <a:ext cx="5129784" cy="1682496"/>
          </a:xfrm>
          <a:prstGeom prst="rect">
            <a:avLst/>
          </a:prstGeom>
          <a:noFill/>
          <a:ln/>
        </p:spPr>
        <p:txBody>
          <a:bodyPr wrap="square" lIns="0" tIns="0" rIns="0" bIns="0" rtlCol="0" anchor="t"/>
          <a:lstStyle/>
          <a:p>
            <a:pPr indent="0" marL="0">
              <a:buNone/>
            </a:pPr>
            <a:r>
              <a:rPr lang="en-US" sz="1200" dirty="0">
                <a:solidFill>
                  <a:srgbClr val="6E6961"/>
                </a:solidFill>
                <a:latin typeface="Arial" pitchFamily="34" charset="0"/>
                <a:ea typeface="Arial" pitchFamily="34" charset="-122"/>
                <a:cs typeface="Arial" pitchFamily="34" charset="-120"/>
              </a:rPr>
              <a:t>A recurring activity with measurable preparation effort and clear reuse across engagements.</a:t>
            </a:r>
            <a:endParaRPr lang="en-US" sz="1200" dirty="0"/>
          </a:p>
          <a:p>
            <a:pPr indent="0" marL="0">
              <a:buNone/>
            </a:pPr>
            <a:endParaRPr lang="en-US" sz="1200" dirty="0"/>
          </a:p>
          <a:p>
            <a:pPr indent="0" marL="0">
              <a:buNone/>
            </a:pPr>
            <a:r>
              <a:rPr lang="en-US" sz="1200" dirty="0">
                <a:solidFill>
                  <a:srgbClr val="6E6961"/>
                </a:solidFill>
                <a:latin typeface="Arial" pitchFamily="34" charset="0"/>
                <a:ea typeface="Arial" pitchFamily="34" charset="-122"/>
                <a:cs typeface="Arial" pitchFamily="34" charset="-120"/>
              </a:rPr>
              <a:t>Evidence read as the consultant, a drafted narrative, deterministic status, a named approval, and a deck on the KCG template. Live for Legend; weekly on two engagements through the pilot.</a:t>
            </a:r>
            <a:endParaRPr lang="en-US" sz="1200" dirty="0"/>
          </a:p>
        </p:txBody>
      </p:sp>
      <p:sp>
        <p:nvSpPr>
          <p:cNvPr id="11" name="Shape 8"/>
          <p:cNvSpPr/>
          <p:nvPr/>
        </p:nvSpPr>
        <p:spPr>
          <a:xfrm>
            <a:off x="6199632" y="1965960"/>
            <a:ext cx="5532120" cy="2743200"/>
          </a:xfrm>
          <a:prstGeom prst="roundRect">
            <a:avLst>
              <a:gd name="adj" fmla="val 3333"/>
            </a:avLst>
          </a:prstGeom>
          <a:solidFill>
            <a:srgbClr val="FFFFFF"/>
          </a:solidFill>
          <a:ln w="12700">
            <a:solidFill>
              <a:srgbClr val="E4E2DE"/>
            </a:solidFill>
            <a:prstDash val="solid"/>
          </a:ln>
        </p:spPr>
      </p:sp>
      <p:sp>
        <p:nvSpPr>
          <p:cNvPr id="12" name="Text 9"/>
          <p:cNvSpPr txBox="1"/>
          <p:nvPr/>
        </p:nvSpPr>
        <p:spPr>
          <a:xfrm>
            <a:off x="6400800" y="2148840"/>
            <a:ext cx="5129784" cy="201168"/>
          </a:xfrm>
          <a:prstGeom prst="rect">
            <a:avLst/>
          </a:prstGeom>
          <a:noFill/>
          <a:ln/>
        </p:spPr>
        <p:txBody>
          <a:bodyPr wrap="square" lIns="0" tIns="0" rIns="0" bIns="0" rtlCol="0" anchor="ctr"/>
          <a:lstStyle/>
          <a:p>
            <a:pPr indent="0" marL="0">
              <a:buNone/>
            </a:pPr>
            <a:r>
              <a:rPr lang="en-US" sz="850" b="1" spc="150" kern="0" dirty="0">
                <a:solidFill>
                  <a:srgbClr val="2A654E"/>
                </a:solidFill>
                <a:latin typeface="Arial" pitchFamily="34" charset="0"/>
                <a:ea typeface="Arial" pitchFamily="34" charset="-122"/>
                <a:cs typeface="Arial" pitchFamily="34" charset="-120"/>
              </a:rPr>
              <a:t>PRIORITY 2 · FOUNDATIONS</a:t>
            </a:r>
            <a:endParaRPr lang="en-US" sz="850" dirty="0"/>
          </a:p>
        </p:txBody>
      </p:sp>
      <p:sp>
        <p:nvSpPr>
          <p:cNvPr id="13" name="Text 10"/>
          <p:cNvSpPr txBox="1"/>
          <p:nvPr/>
        </p:nvSpPr>
        <p:spPr>
          <a:xfrm>
            <a:off x="6400800" y="2386584"/>
            <a:ext cx="5129784" cy="502920"/>
          </a:xfrm>
          <a:prstGeom prst="rect">
            <a:avLst/>
          </a:prstGeom>
          <a:noFill/>
          <a:ln/>
        </p:spPr>
        <p:txBody>
          <a:bodyPr wrap="square" lIns="0" tIns="0" rIns="0" bIns="0" rtlCol="0" anchor="t"/>
          <a:lstStyle/>
          <a:p>
            <a:pPr indent="0" marL="0">
              <a:buNone/>
            </a:pPr>
            <a:r>
              <a:rPr lang="en-US" sz="1700" b="1" dirty="0">
                <a:solidFill>
                  <a:srgbClr val="113A2A"/>
                </a:solidFill>
                <a:latin typeface="Arial" pitchFamily="34" charset="0"/>
                <a:ea typeface="Arial" pitchFamily="34" charset="-122"/>
                <a:cs typeface="Arial" pitchFamily="34" charset="-120"/>
              </a:rPr>
              <a:t>The Foundations Package</a:t>
            </a:r>
            <a:endParaRPr lang="en-US" sz="1700" dirty="0"/>
          </a:p>
        </p:txBody>
      </p:sp>
      <p:sp>
        <p:nvSpPr>
          <p:cNvPr id="14" name="Text 11"/>
          <p:cNvSpPr txBox="1"/>
          <p:nvPr/>
        </p:nvSpPr>
        <p:spPr>
          <a:xfrm>
            <a:off x="6400800" y="2889504"/>
            <a:ext cx="5129784" cy="1682496"/>
          </a:xfrm>
          <a:prstGeom prst="rect">
            <a:avLst/>
          </a:prstGeom>
          <a:noFill/>
          <a:ln/>
        </p:spPr>
        <p:txBody>
          <a:bodyPr wrap="square" lIns="0" tIns="0" rIns="0" bIns="0" rtlCol="0" anchor="t"/>
          <a:lstStyle/>
          <a:p>
            <a:pPr indent="0" marL="0">
              <a:buNone/>
            </a:pPr>
            <a:r>
              <a:rPr lang="en-US" sz="1200" dirty="0">
                <a:solidFill>
                  <a:srgbClr val="6E6961"/>
                </a:solidFill>
                <a:latin typeface="Arial" pitchFamily="34" charset="0"/>
                <a:ea typeface="Arial" pitchFamily="34" charset="-122"/>
                <a:cs typeface="Arial" pitchFamily="34" charset="-120"/>
              </a:rPr>
              <a:t>From business requirements to mockups, addressing ambiguity before build.</a:t>
            </a:r>
            <a:endParaRPr lang="en-US" sz="1200" dirty="0"/>
          </a:p>
          <a:p>
            <a:pPr indent="0" marL="0">
              <a:buNone/>
            </a:pPr>
            <a:endParaRPr lang="en-US" sz="1200" dirty="0"/>
          </a:p>
          <a:p>
            <a:pPr indent="0" marL="0">
              <a:buNone/>
            </a:pPr>
            <a:r>
              <a:rPr lang="en-US" sz="1200" dirty="0">
                <a:solidFill>
                  <a:srgbClr val="6E6961"/>
                </a:solidFill>
                <a:latin typeface="Arial" pitchFamily="34" charset="0"/>
                <a:ea typeface="Arial" pitchFamily="34" charset="-122"/>
                <a:cs typeface="Arial" pitchFamily="34" charset="-120"/>
              </a:rPr>
              <a:t>Makes requirements, assumptions, decisions and scope boundaries visible so teams can identify gaps and improve the handoff into development. The Mockup Generator is the first piece already in use.</a:t>
            </a:r>
            <a:endParaRPr lang="en-US" sz="1200" dirty="0"/>
          </a:p>
        </p:txBody>
      </p:sp>
      <p:sp>
        <p:nvSpPr>
          <p:cNvPr id="15" name="Shape 12"/>
          <p:cNvSpPr/>
          <p:nvPr/>
        </p:nvSpPr>
        <p:spPr>
          <a:xfrm>
            <a:off x="457200" y="4937760"/>
            <a:ext cx="11274552" cy="1051560"/>
          </a:xfrm>
          <a:prstGeom prst="roundRect">
            <a:avLst>
              <a:gd name="adj" fmla="val 8696"/>
            </a:avLst>
          </a:prstGeom>
          <a:solidFill>
            <a:srgbClr val="F5F4F2"/>
          </a:solidFill>
          <a:ln w="12700">
            <a:solidFill>
              <a:srgbClr val="E4E2DE"/>
            </a:solidFill>
            <a:prstDash val="solid"/>
          </a:ln>
        </p:spPr>
      </p:sp>
      <p:sp>
        <p:nvSpPr>
          <p:cNvPr id="16" name="Text 13"/>
          <p:cNvSpPr txBox="1"/>
          <p:nvPr/>
        </p:nvSpPr>
        <p:spPr>
          <a:xfrm>
            <a:off x="685800" y="5074920"/>
            <a:ext cx="10789920" cy="777240"/>
          </a:xfrm>
          <a:prstGeom prst="rect">
            <a:avLst/>
          </a:prstGeom>
          <a:noFill/>
          <a:ln/>
        </p:spPr>
        <p:txBody>
          <a:bodyPr wrap="square" lIns="0" tIns="0" rIns="0" bIns="0" rtlCol="0" anchor="ctr"/>
          <a:lstStyle/>
          <a:p>
            <a:pPr indent="0" marL="0">
              <a:buNone/>
            </a:pPr>
            <a:r>
              <a:rPr lang="en-US" sz="1250" dirty="0">
                <a:solidFill>
                  <a:srgbClr val="113A2A"/>
                </a:solidFill>
                <a:latin typeface="Arial" pitchFamily="34" charset="0"/>
                <a:ea typeface="Arial" pitchFamily="34" charset="-122"/>
                <a:cs typeface="Arial" pitchFamily="34" charset="-120"/>
              </a:rPr>
              <a:t>The workspace gives these capabilities a place in the engagement journey. Some run directly inside it; others may first connect to guided workflows in a consultant's Claude session. Over time, reviewed outputs from one activity inform the next, so context is not rebuilt.</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310896" cy="310896"/>
          </a:xfrm>
          <a:prstGeom prst="rect">
            <a:avLst/>
          </a:prstGeom>
        </p:spPr>
      </p:pic>
      <p:sp>
        <p:nvSpPr>
          <p:cNvPr id="3" name="Text 0"/>
          <p:cNvSpPr txBox="1"/>
          <p:nvPr/>
        </p:nvSpPr>
        <p:spPr>
          <a:xfrm>
            <a:off x="868680" y="402336"/>
            <a:ext cx="3657600" cy="274320"/>
          </a:xfrm>
          <a:prstGeom prst="rect">
            <a:avLst/>
          </a:prstGeom>
          <a:noFill/>
          <a:ln/>
        </p:spPr>
        <p:txBody>
          <a:bodyPr wrap="square" lIns="0" tIns="0" rIns="0" bIns="0" rtlCol="0" anchor="ctr"/>
          <a:lstStyle/>
          <a:p>
            <a:pPr indent="0" marL="0">
              <a:buNone/>
            </a:pPr>
            <a:r>
              <a:rPr lang="en-US" sz="950" b="1" spc="200" kern="0" dirty="0">
                <a:solidFill>
                  <a:srgbClr val="113A2A"/>
                </a:solidFill>
                <a:latin typeface="Arial" pitchFamily="34" charset="0"/>
                <a:ea typeface="Arial" pitchFamily="34" charset="-122"/>
                <a:cs typeface="Arial" pitchFamily="34" charset="-120"/>
              </a:rPr>
              <a:t>KARTA CONSULTING GROUP</a:t>
            </a:r>
            <a:endParaRPr lang="en-US" sz="950" dirty="0"/>
          </a:p>
        </p:txBody>
      </p:sp>
      <p:sp>
        <p:nvSpPr>
          <p:cNvPr id="4" name="Text 1"/>
          <p:cNvSpPr txBox="1"/>
          <p:nvPr/>
        </p:nvSpPr>
        <p:spPr>
          <a:xfrm>
            <a:off x="6675120" y="402336"/>
            <a:ext cx="5029200" cy="274320"/>
          </a:xfrm>
          <a:prstGeom prst="rect">
            <a:avLst/>
          </a:prstGeom>
          <a:noFill/>
          <a:ln/>
        </p:spPr>
        <p:txBody>
          <a:bodyPr wrap="square" lIns="0" tIns="0" rIns="0" bIns="0" rtlCol="0" anchor="ctr"/>
          <a:lstStyle/>
          <a:p>
            <a:pPr algn="r" indent="0" marL="0">
              <a:buNone/>
            </a:pPr>
            <a:r>
              <a:rPr lang="en-US" sz="950" dirty="0">
                <a:solidFill>
                  <a:srgbClr val="979187"/>
                </a:solidFill>
                <a:latin typeface="Arial" pitchFamily="34" charset="0"/>
                <a:ea typeface="Arial" pitchFamily="34" charset="-122"/>
                <a:cs typeface="Arial" pitchFamily="34" charset="-120"/>
              </a:rPr>
              <a:t>Karta AI Engagement Workspace · September 12, 2026</a:t>
            </a:r>
            <a:endParaRPr lang="en-US" sz="950" dirty="0"/>
          </a:p>
        </p:txBody>
      </p:sp>
      <p:sp>
        <p:nvSpPr>
          <p:cNvPr id="5" name="Text 2"/>
          <p:cNvSpPr txBox="1"/>
          <p:nvPr/>
        </p:nvSpPr>
        <p:spPr>
          <a:xfrm>
            <a:off x="11430000" y="6355080"/>
            <a:ext cx="365760" cy="274320"/>
          </a:xfrm>
          <a:prstGeom prst="rect">
            <a:avLst/>
          </a:prstGeom>
          <a:noFill/>
          <a:ln/>
        </p:spPr>
        <p:txBody>
          <a:bodyPr wrap="square" lIns="0" tIns="0" rIns="0" bIns="0" rtlCol="0" anchor="ctr"/>
          <a:lstStyle/>
          <a:p>
            <a:pPr algn="r" indent="0" marL="0">
              <a:buNone/>
            </a:pPr>
            <a:r>
              <a:rPr lang="en-US" sz="900" dirty="0">
                <a:solidFill>
                  <a:srgbClr val="979187"/>
                </a:solidFill>
                <a:latin typeface="Arial" pitchFamily="34" charset="0"/>
                <a:ea typeface="Arial" pitchFamily="34" charset="-122"/>
                <a:cs typeface="Arial" pitchFamily="34" charset="-120"/>
              </a:rPr>
              <a:t>8</a:t>
            </a:r>
            <a:endParaRPr lang="en-US" sz="900" dirty="0"/>
          </a:p>
        </p:txBody>
      </p:sp>
      <p:sp>
        <p:nvSpPr>
          <p:cNvPr id="6" name="Text 3"/>
          <p:cNvSpPr txBox="1"/>
          <p:nvPr/>
        </p:nvSpPr>
        <p:spPr>
          <a:xfrm>
            <a:off x="457200" y="960120"/>
            <a:ext cx="11247120" cy="822960"/>
          </a:xfrm>
          <a:prstGeom prst="rect">
            <a:avLst/>
          </a:prstGeom>
          <a:noFill/>
          <a:ln/>
        </p:spPr>
        <p:txBody>
          <a:bodyPr wrap="square" lIns="0" tIns="0" rIns="0" bIns="0" rtlCol="0" anchor="t"/>
          <a:lstStyle/>
          <a:p>
            <a:pPr indent="0" marL="0">
              <a:buNone/>
            </a:pPr>
            <a:r>
              <a:rPr lang="en-US" sz="3000" b="1" dirty="0">
                <a:solidFill>
                  <a:srgbClr val="113A2A"/>
                </a:solidFill>
                <a:latin typeface="Arial" pitchFamily="34" charset="0"/>
                <a:ea typeface="Arial" pitchFamily="34" charset="-122"/>
                <a:cs typeface="Arial" pitchFamily="34" charset="-120"/>
              </a:rPr>
              <a:t>As we integrate more AI, governance matters more, not less</a:t>
            </a:r>
            <a:endParaRPr lang="en-US" sz="3000" dirty="0"/>
          </a:p>
        </p:txBody>
      </p:sp>
      <p:sp>
        <p:nvSpPr>
          <p:cNvPr id="7" name="Text 4"/>
          <p:cNvSpPr txBox="1"/>
          <p:nvPr/>
        </p:nvSpPr>
        <p:spPr>
          <a:xfrm>
            <a:off x="457200" y="1783080"/>
            <a:ext cx="9601200" cy="640080"/>
          </a:xfrm>
          <a:prstGeom prst="rect">
            <a:avLst/>
          </a:prstGeom>
          <a:noFill/>
          <a:ln/>
        </p:spPr>
        <p:txBody>
          <a:bodyPr wrap="square" lIns="0" tIns="0" rIns="0" bIns="0" rtlCol="0" anchor="t"/>
          <a:lstStyle/>
          <a:p>
            <a:pPr indent="0" marL="0">
              <a:buNone/>
            </a:pPr>
            <a:r>
              <a:rPr lang="en-US" sz="1400" dirty="0">
                <a:solidFill>
                  <a:srgbClr val="6E6961"/>
                </a:solidFill>
                <a:latin typeface="Arial" pitchFamily="34" charset="0"/>
                <a:ea typeface="Arial" pitchFamily="34" charset="-122"/>
                <a:cs typeface="Arial" pitchFamily="34" charset="-120"/>
              </a:rPr>
              <a:t>At the Karta level: a consistent process for deciding which opportunities receive investment, which enter a pilot, and which are ready to scale.</a:t>
            </a:r>
            <a:endParaRPr lang="en-US" sz="1400" dirty="0"/>
          </a:p>
        </p:txBody>
      </p:sp>
      <p:sp>
        <p:nvSpPr>
          <p:cNvPr id="8" name="Shape 5"/>
          <p:cNvSpPr/>
          <p:nvPr/>
        </p:nvSpPr>
        <p:spPr>
          <a:xfrm>
            <a:off x="457200" y="2697480"/>
            <a:ext cx="2651760" cy="1554480"/>
          </a:xfrm>
          <a:prstGeom prst="roundRect">
            <a:avLst>
              <a:gd name="adj" fmla="val 5882"/>
            </a:avLst>
          </a:prstGeom>
          <a:solidFill>
            <a:srgbClr val="FFFFFF"/>
          </a:solidFill>
          <a:ln w="12700">
            <a:solidFill>
              <a:srgbClr val="E4E2DE"/>
            </a:solidFill>
            <a:prstDash val="solid"/>
          </a:ln>
        </p:spPr>
      </p:sp>
      <p:sp>
        <p:nvSpPr>
          <p:cNvPr id="9" name="Shape 6"/>
          <p:cNvSpPr/>
          <p:nvPr/>
        </p:nvSpPr>
        <p:spPr>
          <a:xfrm>
            <a:off x="658368" y="2880360"/>
            <a:ext cx="329184" cy="329184"/>
          </a:xfrm>
          <a:prstGeom prst="ellipse">
            <a:avLst/>
          </a:prstGeom>
          <a:solidFill>
            <a:srgbClr val="2A654E"/>
          </a:solidFill>
          <a:ln w="12700">
            <a:solidFill>
              <a:srgbClr val="2A654E"/>
            </a:solidFill>
            <a:prstDash val="solid"/>
          </a:ln>
        </p:spPr>
      </p:sp>
      <p:sp>
        <p:nvSpPr>
          <p:cNvPr id="10" name="Text 7"/>
          <p:cNvSpPr txBox="1"/>
          <p:nvPr/>
        </p:nvSpPr>
        <p:spPr>
          <a:xfrm>
            <a:off x="658368" y="288036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1" name="Text 8"/>
          <p:cNvSpPr txBox="1"/>
          <p:nvPr/>
        </p:nvSpPr>
        <p:spPr>
          <a:xfrm>
            <a:off x="658368" y="3319272"/>
            <a:ext cx="2249424" cy="457200"/>
          </a:xfrm>
          <a:prstGeom prst="rect">
            <a:avLst/>
          </a:prstGeom>
          <a:noFill/>
          <a:ln/>
        </p:spPr>
        <p:txBody>
          <a:bodyPr wrap="square" lIns="0" tIns="0" rIns="0" bIns="0" rtlCol="0" anchor="t"/>
          <a:lstStyle/>
          <a:p>
            <a:pPr indent="0" marL="0">
              <a:buNone/>
            </a:pPr>
            <a:r>
              <a:rPr lang="en-US" sz="1500" b="1" dirty="0">
                <a:solidFill>
                  <a:srgbClr val="113A2A"/>
                </a:solidFill>
                <a:latin typeface="Arial" pitchFamily="34" charset="0"/>
                <a:ea typeface="Arial" pitchFamily="34" charset="-122"/>
                <a:cs typeface="Arial" pitchFamily="34" charset="-120"/>
              </a:rPr>
              <a:t>Idea</a:t>
            </a:r>
            <a:endParaRPr lang="en-US" sz="1500" dirty="0"/>
          </a:p>
        </p:txBody>
      </p:sp>
      <p:sp>
        <p:nvSpPr>
          <p:cNvPr id="12" name="Text 9"/>
          <p:cNvSpPr txBox="1"/>
          <p:nvPr/>
        </p:nvSpPr>
        <p:spPr>
          <a:xfrm>
            <a:off x="658368" y="3776472"/>
            <a:ext cx="2249424" cy="338328"/>
          </a:xfrm>
          <a:prstGeom prst="rect">
            <a:avLst/>
          </a:prstGeom>
          <a:noFill/>
          <a:ln/>
        </p:spPr>
        <p:txBody>
          <a:bodyPr wrap="square" lIns="0" tIns="0" rIns="0" bIns="0" rtlCol="0" anchor="t"/>
          <a:lstStyle/>
          <a:p>
            <a:pPr indent="0" marL="0">
              <a:buNone/>
            </a:pPr>
            <a:r>
              <a:rPr lang="en-US" sz="1150" dirty="0">
                <a:solidFill>
                  <a:srgbClr val="6E6961"/>
                </a:solidFill>
                <a:latin typeface="Arial" pitchFamily="34" charset="0"/>
                <a:ea typeface="Arial" pitchFamily="34" charset="-122"/>
                <a:cs typeface="Arial" pitchFamily="34" charset="-120"/>
              </a:rPr>
              <a:t>Any employee can contribute one.</a:t>
            </a:r>
            <a:endParaRPr lang="en-US" sz="1150" dirty="0"/>
          </a:p>
        </p:txBody>
      </p:sp>
      <p:sp>
        <p:nvSpPr>
          <p:cNvPr id="13" name="Shape 10"/>
          <p:cNvSpPr/>
          <p:nvPr/>
        </p:nvSpPr>
        <p:spPr>
          <a:xfrm>
            <a:off x="3108960" y="3474720"/>
            <a:ext cx="182880" cy="0"/>
          </a:xfrm>
          <a:prstGeom prst="line">
            <a:avLst/>
          </a:prstGeom>
          <a:noFill/>
          <a:ln w="22225">
            <a:solidFill>
              <a:srgbClr val="2A654E"/>
            </a:solidFill>
            <a:prstDash val="solid"/>
            <a:tailEnd type="triangle"/>
          </a:ln>
        </p:spPr>
      </p:sp>
      <p:sp>
        <p:nvSpPr>
          <p:cNvPr id="14" name="Shape 11"/>
          <p:cNvSpPr/>
          <p:nvPr/>
        </p:nvSpPr>
        <p:spPr>
          <a:xfrm>
            <a:off x="3291840" y="2697480"/>
            <a:ext cx="2651760" cy="1554480"/>
          </a:xfrm>
          <a:prstGeom prst="roundRect">
            <a:avLst>
              <a:gd name="adj" fmla="val 5882"/>
            </a:avLst>
          </a:prstGeom>
          <a:solidFill>
            <a:srgbClr val="FFFFFF"/>
          </a:solidFill>
          <a:ln w="12700">
            <a:solidFill>
              <a:srgbClr val="E4E2DE"/>
            </a:solidFill>
            <a:prstDash val="solid"/>
          </a:ln>
        </p:spPr>
      </p:sp>
      <p:sp>
        <p:nvSpPr>
          <p:cNvPr id="15" name="Shape 12"/>
          <p:cNvSpPr/>
          <p:nvPr/>
        </p:nvSpPr>
        <p:spPr>
          <a:xfrm>
            <a:off x="3493008" y="2880360"/>
            <a:ext cx="329184" cy="329184"/>
          </a:xfrm>
          <a:prstGeom prst="ellipse">
            <a:avLst/>
          </a:prstGeom>
          <a:solidFill>
            <a:srgbClr val="2A654E"/>
          </a:solidFill>
          <a:ln w="12700">
            <a:solidFill>
              <a:srgbClr val="2A654E"/>
            </a:solidFill>
            <a:prstDash val="solid"/>
          </a:ln>
        </p:spPr>
      </p:sp>
      <p:sp>
        <p:nvSpPr>
          <p:cNvPr id="16" name="Text 13"/>
          <p:cNvSpPr txBox="1"/>
          <p:nvPr/>
        </p:nvSpPr>
        <p:spPr>
          <a:xfrm>
            <a:off x="3493008" y="288036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7" name="Text 14"/>
          <p:cNvSpPr txBox="1"/>
          <p:nvPr/>
        </p:nvSpPr>
        <p:spPr>
          <a:xfrm>
            <a:off x="3493008" y="3319272"/>
            <a:ext cx="2249424" cy="457200"/>
          </a:xfrm>
          <a:prstGeom prst="rect">
            <a:avLst/>
          </a:prstGeom>
          <a:noFill/>
          <a:ln/>
        </p:spPr>
        <p:txBody>
          <a:bodyPr wrap="square" lIns="0" tIns="0" rIns="0" bIns="0" rtlCol="0" anchor="t"/>
          <a:lstStyle/>
          <a:p>
            <a:pPr indent="0" marL="0">
              <a:buNone/>
            </a:pPr>
            <a:r>
              <a:rPr lang="en-US" sz="1500" b="1" dirty="0">
                <a:solidFill>
                  <a:srgbClr val="113A2A"/>
                </a:solidFill>
                <a:latin typeface="Arial" pitchFamily="34" charset="0"/>
                <a:ea typeface="Arial" pitchFamily="34" charset="-122"/>
                <a:cs typeface="Arial" pitchFamily="34" charset="-120"/>
              </a:rPr>
              <a:t>Invest</a:t>
            </a:r>
            <a:endParaRPr lang="en-US" sz="1500" dirty="0"/>
          </a:p>
        </p:txBody>
      </p:sp>
      <p:sp>
        <p:nvSpPr>
          <p:cNvPr id="18" name="Text 15"/>
          <p:cNvSpPr txBox="1"/>
          <p:nvPr/>
        </p:nvSpPr>
        <p:spPr>
          <a:xfrm>
            <a:off x="3493008" y="3776472"/>
            <a:ext cx="2249424" cy="338328"/>
          </a:xfrm>
          <a:prstGeom prst="rect">
            <a:avLst/>
          </a:prstGeom>
          <a:noFill/>
          <a:ln/>
        </p:spPr>
        <p:txBody>
          <a:bodyPr wrap="square" lIns="0" tIns="0" rIns="0" bIns="0" rtlCol="0" anchor="t"/>
          <a:lstStyle/>
          <a:p>
            <a:pPr indent="0" marL="0">
              <a:buNone/>
            </a:pPr>
            <a:r>
              <a:rPr lang="en-US" sz="1150" dirty="0">
                <a:solidFill>
                  <a:srgbClr val="6E6961"/>
                </a:solidFill>
                <a:latin typeface="Arial" pitchFamily="34" charset="0"/>
                <a:ea typeface="Arial" pitchFamily="34" charset="-122"/>
                <a:cs typeface="Arial" pitchFamily="34" charset="-120"/>
              </a:rPr>
              <a:t>Worth building? A named owner and defined boundaries.</a:t>
            </a:r>
            <a:endParaRPr lang="en-US" sz="1150" dirty="0"/>
          </a:p>
        </p:txBody>
      </p:sp>
      <p:sp>
        <p:nvSpPr>
          <p:cNvPr id="19" name="Shape 16"/>
          <p:cNvSpPr/>
          <p:nvPr/>
        </p:nvSpPr>
        <p:spPr>
          <a:xfrm>
            <a:off x="5943600" y="3474720"/>
            <a:ext cx="182880" cy="0"/>
          </a:xfrm>
          <a:prstGeom prst="line">
            <a:avLst/>
          </a:prstGeom>
          <a:noFill/>
          <a:ln w="22225">
            <a:solidFill>
              <a:srgbClr val="2A654E"/>
            </a:solidFill>
            <a:prstDash val="solid"/>
            <a:tailEnd type="triangle"/>
          </a:ln>
        </p:spPr>
      </p:sp>
      <p:sp>
        <p:nvSpPr>
          <p:cNvPr id="20" name="Shape 17"/>
          <p:cNvSpPr/>
          <p:nvPr/>
        </p:nvSpPr>
        <p:spPr>
          <a:xfrm>
            <a:off x="6126480" y="2697480"/>
            <a:ext cx="2651760" cy="1554480"/>
          </a:xfrm>
          <a:prstGeom prst="roundRect">
            <a:avLst>
              <a:gd name="adj" fmla="val 5882"/>
            </a:avLst>
          </a:prstGeom>
          <a:solidFill>
            <a:srgbClr val="FFFFFF"/>
          </a:solidFill>
          <a:ln w="12700">
            <a:solidFill>
              <a:srgbClr val="E4E2DE"/>
            </a:solidFill>
            <a:prstDash val="solid"/>
          </a:ln>
        </p:spPr>
      </p:sp>
      <p:sp>
        <p:nvSpPr>
          <p:cNvPr id="21" name="Shape 18"/>
          <p:cNvSpPr/>
          <p:nvPr/>
        </p:nvSpPr>
        <p:spPr>
          <a:xfrm>
            <a:off x="6327648" y="2880360"/>
            <a:ext cx="329184" cy="329184"/>
          </a:xfrm>
          <a:prstGeom prst="ellipse">
            <a:avLst/>
          </a:prstGeom>
          <a:solidFill>
            <a:srgbClr val="2A654E"/>
          </a:solidFill>
          <a:ln w="12700">
            <a:solidFill>
              <a:srgbClr val="2A654E"/>
            </a:solidFill>
            <a:prstDash val="solid"/>
          </a:ln>
        </p:spPr>
      </p:sp>
      <p:sp>
        <p:nvSpPr>
          <p:cNvPr id="22" name="Text 19"/>
          <p:cNvSpPr txBox="1"/>
          <p:nvPr/>
        </p:nvSpPr>
        <p:spPr>
          <a:xfrm>
            <a:off x="6327648" y="288036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3" name="Text 20"/>
          <p:cNvSpPr txBox="1"/>
          <p:nvPr/>
        </p:nvSpPr>
        <p:spPr>
          <a:xfrm>
            <a:off x="6327648" y="3319272"/>
            <a:ext cx="2249424" cy="457200"/>
          </a:xfrm>
          <a:prstGeom prst="rect">
            <a:avLst/>
          </a:prstGeom>
          <a:noFill/>
          <a:ln/>
        </p:spPr>
        <p:txBody>
          <a:bodyPr wrap="square" lIns="0" tIns="0" rIns="0" bIns="0" rtlCol="0" anchor="t"/>
          <a:lstStyle/>
          <a:p>
            <a:pPr indent="0" marL="0">
              <a:buNone/>
            </a:pPr>
            <a:r>
              <a:rPr lang="en-US" sz="1500" b="1" dirty="0">
                <a:solidFill>
                  <a:srgbClr val="113A2A"/>
                </a:solidFill>
                <a:latin typeface="Arial" pitchFamily="34" charset="0"/>
                <a:ea typeface="Arial" pitchFamily="34" charset="-122"/>
                <a:cs typeface="Arial" pitchFamily="34" charset="-120"/>
              </a:rPr>
              <a:t>Pilot</a:t>
            </a:r>
            <a:endParaRPr lang="en-US" sz="1500" dirty="0"/>
          </a:p>
        </p:txBody>
      </p:sp>
      <p:sp>
        <p:nvSpPr>
          <p:cNvPr id="24" name="Text 21"/>
          <p:cNvSpPr txBox="1"/>
          <p:nvPr/>
        </p:nvSpPr>
        <p:spPr>
          <a:xfrm>
            <a:off x="6327648" y="3776472"/>
            <a:ext cx="2249424" cy="338328"/>
          </a:xfrm>
          <a:prstGeom prst="rect">
            <a:avLst/>
          </a:prstGeom>
          <a:noFill/>
          <a:ln/>
        </p:spPr>
        <p:txBody>
          <a:bodyPr wrap="square" lIns="0" tIns="0" rIns="0" bIns="0" rtlCol="0" anchor="t"/>
          <a:lstStyle/>
          <a:p>
            <a:pPr indent="0" marL="0">
              <a:buNone/>
            </a:pPr>
            <a:r>
              <a:rPr lang="en-US" sz="1150" dirty="0">
                <a:solidFill>
                  <a:srgbClr val="6E6961"/>
                </a:solidFill>
                <a:latin typeface="Arial" pitchFamily="34" charset="0"/>
                <a:ea typeface="Arial" pitchFamily="34" charset="-122"/>
                <a:cs typeface="Arial" pitchFamily="34" charset="-120"/>
              </a:rPr>
              <a:t>Proven on a real engagement, with evidence gathered.</a:t>
            </a:r>
            <a:endParaRPr lang="en-US" sz="1150" dirty="0"/>
          </a:p>
        </p:txBody>
      </p:sp>
      <p:sp>
        <p:nvSpPr>
          <p:cNvPr id="25" name="Shape 22"/>
          <p:cNvSpPr/>
          <p:nvPr/>
        </p:nvSpPr>
        <p:spPr>
          <a:xfrm>
            <a:off x="8778240" y="3474720"/>
            <a:ext cx="182880" cy="0"/>
          </a:xfrm>
          <a:prstGeom prst="line">
            <a:avLst/>
          </a:prstGeom>
          <a:noFill/>
          <a:ln w="22225">
            <a:solidFill>
              <a:srgbClr val="2A654E"/>
            </a:solidFill>
            <a:prstDash val="solid"/>
            <a:tailEnd type="triangle"/>
          </a:ln>
        </p:spPr>
      </p:sp>
      <p:sp>
        <p:nvSpPr>
          <p:cNvPr id="26" name="Shape 23"/>
          <p:cNvSpPr/>
          <p:nvPr/>
        </p:nvSpPr>
        <p:spPr>
          <a:xfrm>
            <a:off x="8961120" y="2697480"/>
            <a:ext cx="2651760" cy="1554480"/>
          </a:xfrm>
          <a:prstGeom prst="roundRect">
            <a:avLst>
              <a:gd name="adj" fmla="val 5882"/>
            </a:avLst>
          </a:prstGeom>
          <a:solidFill>
            <a:srgbClr val="FFFFFF"/>
          </a:solidFill>
          <a:ln w="12700">
            <a:solidFill>
              <a:srgbClr val="E4E2DE"/>
            </a:solidFill>
            <a:prstDash val="solid"/>
          </a:ln>
        </p:spPr>
      </p:sp>
      <p:sp>
        <p:nvSpPr>
          <p:cNvPr id="27" name="Shape 24"/>
          <p:cNvSpPr/>
          <p:nvPr/>
        </p:nvSpPr>
        <p:spPr>
          <a:xfrm>
            <a:off x="9162288" y="2880360"/>
            <a:ext cx="329184" cy="329184"/>
          </a:xfrm>
          <a:prstGeom prst="ellipse">
            <a:avLst/>
          </a:prstGeom>
          <a:solidFill>
            <a:srgbClr val="2A654E"/>
          </a:solidFill>
          <a:ln w="12700">
            <a:solidFill>
              <a:srgbClr val="2A654E"/>
            </a:solidFill>
            <a:prstDash val="solid"/>
          </a:ln>
        </p:spPr>
      </p:sp>
      <p:sp>
        <p:nvSpPr>
          <p:cNvPr id="28" name="Text 25"/>
          <p:cNvSpPr txBox="1"/>
          <p:nvPr/>
        </p:nvSpPr>
        <p:spPr>
          <a:xfrm>
            <a:off x="9162288" y="288036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29" name="Text 26"/>
          <p:cNvSpPr txBox="1"/>
          <p:nvPr/>
        </p:nvSpPr>
        <p:spPr>
          <a:xfrm>
            <a:off x="9162288" y="3319272"/>
            <a:ext cx="2249424" cy="457200"/>
          </a:xfrm>
          <a:prstGeom prst="rect">
            <a:avLst/>
          </a:prstGeom>
          <a:noFill/>
          <a:ln/>
        </p:spPr>
        <p:txBody>
          <a:bodyPr wrap="square" lIns="0" tIns="0" rIns="0" bIns="0" rtlCol="0" anchor="t"/>
          <a:lstStyle/>
          <a:p>
            <a:pPr indent="0" marL="0">
              <a:buNone/>
            </a:pPr>
            <a:r>
              <a:rPr lang="en-US" sz="1500" b="1" dirty="0">
                <a:solidFill>
                  <a:srgbClr val="113A2A"/>
                </a:solidFill>
                <a:latin typeface="Arial" pitchFamily="34" charset="0"/>
                <a:ea typeface="Arial" pitchFamily="34" charset="-122"/>
                <a:cs typeface="Arial" pitchFamily="34" charset="-120"/>
              </a:rPr>
              <a:t>Scale</a:t>
            </a:r>
            <a:endParaRPr lang="en-US" sz="1500" dirty="0"/>
          </a:p>
        </p:txBody>
      </p:sp>
      <p:sp>
        <p:nvSpPr>
          <p:cNvPr id="30" name="Text 27"/>
          <p:cNvSpPr txBox="1"/>
          <p:nvPr/>
        </p:nvSpPr>
        <p:spPr>
          <a:xfrm>
            <a:off x="9162288" y="3776472"/>
            <a:ext cx="2249424" cy="338328"/>
          </a:xfrm>
          <a:prstGeom prst="rect">
            <a:avLst/>
          </a:prstGeom>
          <a:noFill/>
          <a:ln/>
        </p:spPr>
        <p:txBody>
          <a:bodyPr wrap="square" lIns="0" tIns="0" rIns="0" bIns="0" rtlCol="0" anchor="t"/>
          <a:lstStyle/>
          <a:p>
            <a:pPr indent="0" marL="0">
              <a:buNone/>
            </a:pPr>
            <a:r>
              <a:rPr lang="en-US" sz="1150" dirty="0">
                <a:solidFill>
                  <a:srgbClr val="6E6961"/>
                </a:solidFill>
                <a:latin typeface="Arial" pitchFamily="34" charset="0"/>
                <a:ea typeface="Arial" pitchFamily="34" charset="-122"/>
                <a:cs typeface="Arial" pitchFamily="34" charset="-120"/>
              </a:rPr>
              <a:t>Turned on for others, with readiness set to Validated.</a:t>
            </a:r>
            <a:endParaRPr lang="en-US" sz="1150" dirty="0"/>
          </a:p>
        </p:txBody>
      </p:sp>
      <p:sp>
        <p:nvSpPr>
          <p:cNvPr id="31" name="Text 28"/>
          <p:cNvSpPr txBox="1"/>
          <p:nvPr/>
        </p:nvSpPr>
        <p:spPr>
          <a:xfrm>
            <a:off x="457200" y="4526280"/>
            <a:ext cx="7315200" cy="201168"/>
          </a:xfrm>
          <a:prstGeom prst="rect">
            <a:avLst/>
          </a:prstGeom>
          <a:noFill/>
          <a:ln/>
        </p:spPr>
        <p:txBody>
          <a:bodyPr wrap="square" lIns="0" tIns="0" rIns="0" bIns="0" rtlCol="0" anchor="ctr"/>
          <a:lstStyle/>
          <a:p>
            <a:pPr indent="0" marL="0">
              <a:buNone/>
            </a:pPr>
            <a:r>
              <a:rPr lang="en-US" sz="850" b="1" spc="150" kern="0" dirty="0">
                <a:solidFill>
                  <a:srgbClr val="2A654E"/>
                </a:solidFill>
                <a:latin typeface="Arial" pitchFamily="34" charset="0"/>
                <a:ea typeface="Arial" pitchFamily="34" charset="-122"/>
                <a:cs typeface="Arial" pitchFamily="34" charset="-120"/>
              </a:rPr>
              <a:t>EVERY CAPABILITY WE FORMALLY ADVANCE NEEDS</a:t>
            </a:r>
            <a:endParaRPr lang="en-US" sz="850" dirty="0"/>
          </a:p>
        </p:txBody>
      </p:sp>
      <p:sp>
        <p:nvSpPr>
          <p:cNvPr id="32" name="Shape 29"/>
          <p:cNvSpPr/>
          <p:nvPr/>
        </p:nvSpPr>
        <p:spPr>
          <a:xfrm>
            <a:off x="457200" y="4800600"/>
            <a:ext cx="2103120" cy="1005840"/>
          </a:xfrm>
          <a:prstGeom prst="roundRect">
            <a:avLst>
              <a:gd name="adj" fmla="val 7273"/>
            </a:avLst>
          </a:prstGeom>
          <a:solidFill>
            <a:srgbClr val="EAF1ED"/>
          </a:solidFill>
          <a:ln w="12700">
            <a:solidFill>
              <a:srgbClr val="2A654E"/>
            </a:solidFill>
            <a:prstDash val="solid"/>
          </a:ln>
        </p:spPr>
      </p:sp>
      <p:sp>
        <p:nvSpPr>
          <p:cNvPr id="33" name="Text 30"/>
          <p:cNvSpPr txBox="1"/>
          <p:nvPr/>
        </p:nvSpPr>
        <p:spPr>
          <a:xfrm>
            <a:off x="594360" y="4892040"/>
            <a:ext cx="1828800" cy="365760"/>
          </a:xfrm>
          <a:prstGeom prst="rect">
            <a:avLst/>
          </a:prstGeom>
          <a:noFill/>
          <a:ln/>
        </p:spPr>
        <p:txBody>
          <a:bodyPr wrap="square" lIns="0" tIns="0" rIns="0" bIns="0" rtlCol="0" anchor="ctr"/>
          <a:lstStyle/>
          <a:p>
            <a:pPr indent="0" marL="0">
              <a:buNone/>
            </a:pPr>
            <a:r>
              <a:rPr lang="en-US" sz="1300" b="1" dirty="0">
                <a:solidFill>
                  <a:srgbClr val="113A2A"/>
                </a:solidFill>
                <a:latin typeface="Arial" pitchFamily="34" charset="0"/>
                <a:ea typeface="Arial" pitchFamily="34" charset="-122"/>
                <a:cs typeface="Arial" pitchFamily="34" charset="-120"/>
              </a:rPr>
              <a:t>An owner</a:t>
            </a:r>
            <a:endParaRPr lang="en-US" sz="1300" dirty="0"/>
          </a:p>
        </p:txBody>
      </p:sp>
      <p:sp>
        <p:nvSpPr>
          <p:cNvPr id="34" name="Text 31"/>
          <p:cNvSpPr txBox="1"/>
          <p:nvPr/>
        </p:nvSpPr>
        <p:spPr>
          <a:xfrm>
            <a:off x="594360" y="5257800"/>
            <a:ext cx="1828800" cy="457200"/>
          </a:xfrm>
          <a:prstGeom prst="rect">
            <a:avLst/>
          </a:prstGeom>
          <a:noFill/>
          <a:ln/>
        </p:spPr>
        <p:txBody>
          <a:bodyPr wrap="square" lIns="0" tIns="0" rIns="0" bIns="0" rtlCol="0" anchor="ctr"/>
          <a:lstStyle/>
          <a:p>
            <a:pPr indent="0" marL="0">
              <a:buNone/>
            </a:pPr>
            <a:r>
              <a:rPr lang="en-US" sz="1100" dirty="0">
                <a:solidFill>
                  <a:srgbClr val="6E6961"/>
                </a:solidFill>
                <a:latin typeface="Arial" pitchFamily="34" charset="0"/>
                <a:ea typeface="Arial" pitchFamily="34" charset="-122"/>
                <a:cs typeface="Arial" pitchFamily="34" charset="-120"/>
              </a:rPr>
              <a:t>accountable for it</a:t>
            </a:r>
            <a:endParaRPr lang="en-US" sz="1100" dirty="0"/>
          </a:p>
        </p:txBody>
      </p:sp>
      <p:sp>
        <p:nvSpPr>
          <p:cNvPr id="35" name="Shape 32"/>
          <p:cNvSpPr/>
          <p:nvPr/>
        </p:nvSpPr>
        <p:spPr>
          <a:xfrm>
            <a:off x="2743200" y="4800600"/>
            <a:ext cx="2103120" cy="1005840"/>
          </a:xfrm>
          <a:prstGeom prst="roundRect">
            <a:avLst>
              <a:gd name="adj" fmla="val 7273"/>
            </a:avLst>
          </a:prstGeom>
          <a:solidFill>
            <a:srgbClr val="EAF1ED"/>
          </a:solidFill>
          <a:ln w="12700">
            <a:solidFill>
              <a:srgbClr val="2A654E"/>
            </a:solidFill>
            <a:prstDash val="solid"/>
          </a:ln>
        </p:spPr>
      </p:sp>
      <p:sp>
        <p:nvSpPr>
          <p:cNvPr id="36" name="Text 33"/>
          <p:cNvSpPr txBox="1"/>
          <p:nvPr/>
        </p:nvSpPr>
        <p:spPr>
          <a:xfrm>
            <a:off x="2880360" y="4892040"/>
            <a:ext cx="1828800" cy="365760"/>
          </a:xfrm>
          <a:prstGeom prst="rect">
            <a:avLst/>
          </a:prstGeom>
          <a:noFill/>
          <a:ln/>
        </p:spPr>
        <p:txBody>
          <a:bodyPr wrap="square" lIns="0" tIns="0" rIns="0" bIns="0" rtlCol="0" anchor="ctr"/>
          <a:lstStyle/>
          <a:p>
            <a:pPr indent="0" marL="0">
              <a:buNone/>
            </a:pPr>
            <a:r>
              <a:rPr lang="en-US" sz="1300" b="1" dirty="0">
                <a:solidFill>
                  <a:srgbClr val="113A2A"/>
                </a:solidFill>
                <a:latin typeface="Arial" pitchFamily="34" charset="0"/>
                <a:ea typeface="Arial" pitchFamily="34" charset="-122"/>
                <a:cs typeface="Arial" pitchFamily="34" charset="-120"/>
              </a:rPr>
              <a:t>Defined boundaries</a:t>
            </a:r>
            <a:endParaRPr lang="en-US" sz="1300" dirty="0"/>
          </a:p>
        </p:txBody>
      </p:sp>
      <p:sp>
        <p:nvSpPr>
          <p:cNvPr id="37" name="Text 34"/>
          <p:cNvSpPr txBox="1"/>
          <p:nvPr/>
        </p:nvSpPr>
        <p:spPr>
          <a:xfrm>
            <a:off x="2880360" y="5257800"/>
            <a:ext cx="1828800" cy="457200"/>
          </a:xfrm>
          <a:prstGeom prst="rect">
            <a:avLst/>
          </a:prstGeom>
          <a:noFill/>
          <a:ln/>
        </p:spPr>
        <p:txBody>
          <a:bodyPr wrap="square" lIns="0" tIns="0" rIns="0" bIns="0" rtlCol="0" anchor="ctr"/>
          <a:lstStyle/>
          <a:p>
            <a:pPr indent="0" marL="0">
              <a:buNone/>
            </a:pPr>
            <a:r>
              <a:rPr lang="en-US" sz="1100" dirty="0">
                <a:solidFill>
                  <a:srgbClr val="6E6961"/>
                </a:solidFill>
                <a:latin typeface="Arial" pitchFamily="34" charset="0"/>
                <a:ea typeface="Arial" pitchFamily="34" charset="-122"/>
                <a:cs typeface="Arial" pitchFamily="34" charset="-120"/>
              </a:rPr>
              <a:t>what it does and does not do</a:t>
            </a:r>
            <a:endParaRPr lang="en-US" sz="1100" dirty="0"/>
          </a:p>
        </p:txBody>
      </p:sp>
      <p:sp>
        <p:nvSpPr>
          <p:cNvPr id="38" name="Shape 35"/>
          <p:cNvSpPr/>
          <p:nvPr/>
        </p:nvSpPr>
        <p:spPr>
          <a:xfrm>
            <a:off x="5029200" y="4800600"/>
            <a:ext cx="2103120" cy="1005840"/>
          </a:xfrm>
          <a:prstGeom prst="roundRect">
            <a:avLst>
              <a:gd name="adj" fmla="val 7273"/>
            </a:avLst>
          </a:prstGeom>
          <a:solidFill>
            <a:srgbClr val="EAF1ED"/>
          </a:solidFill>
          <a:ln w="12700">
            <a:solidFill>
              <a:srgbClr val="2A654E"/>
            </a:solidFill>
            <a:prstDash val="solid"/>
          </a:ln>
        </p:spPr>
      </p:sp>
      <p:sp>
        <p:nvSpPr>
          <p:cNvPr id="39" name="Text 36"/>
          <p:cNvSpPr txBox="1"/>
          <p:nvPr/>
        </p:nvSpPr>
        <p:spPr>
          <a:xfrm>
            <a:off x="5166360" y="4892040"/>
            <a:ext cx="1828800" cy="365760"/>
          </a:xfrm>
          <a:prstGeom prst="rect">
            <a:avLst/>
          </a:prstGeom>
          <a:noFill/>
          <a:ln/>
        </p:spPr>
        <p:txBody>
          <a:bodyPr wrap="square" lIns="0" tIns="0" rIns="0" bIns="0" rtlCol="0" anchor="ctr"/>
          <a:lstStyle/>
          <a:p>
            <a:pPr indent="0" marL="0">
              <a:buNone/>
            </a:pPr>
            <a:r>
              <a:rPr lang="en-US" sz="1300" b="1" dirty="0">
                <a:solidFill>
                  <a:srgbClr val="113A2A"/>
                </a:solidFill>
                <a:latin typeface="Arial" pitchFamily="34" charset="0"/>
                <a:ea typeface="Arial" pitchFamily="34" charset="-122"/>
                <a:cs typeface="Arial" pitchFamily="34" charset="-120"/>
              </a:rPr>
              <a:t>Evidence of value</a:t>
            </a:r>
            <a:endParaRPr lang="en-US" sz="1300" dirty="0"/>
          </a:p>
        </p:txBody>
      </p:sp>
      <p:sp>
        <p:nvSpPr>
          <p:cNvPr id="40" name="Text 37"/>
          <p:cNvSpPr txBox="1"/>
          <p:nvPr/>
        </p:nvSpPr>
        <p:spPr>
          <a:xfrm>
            <a:off x="5166360" y="5257800"/>
            <a:ext cx="1828800" cy="457200"/>
          </a:xfrm>
          <a:prstGeom prst="rect">
            <a:avLst/>
          </a:prstGeom>
          <a:noFill/>
          <a:ln/>
        </p:spPr>
        <p:txBody>
          <a:bodyPr wrap="square" lIns="0" tIns="0" rIns="0" bIns="0" rtlCol="0" anchor="ctr"/>
          <a:lstStyle/>
          <a:p>
            <a:pPr indent="0" marL="0">
              <a:buNone/>
            </a:pPr>
            <a:r>
              <a:rPr lang="en-US" sz="1100" dirty="0">
                <a:solidFill>
                  <a:srgbClr val="6E6961"/>
                </a:solidFill>
                <a:latin typeface="Arial" pitchFamily="34" charset="0"/>
                <a:ea typeface="Arial" pitchFamily="34" charset="-122"/>
                <a:cs typeface="Arial" pitchFamily="34" charset="-120"/>
              </a:rPr>
              <a:t>and of quality</a:t>
            </a:r>
            <a:endParaRPr lang="en-US" sz="1100" dirty="0"/>
          </a:p>
        </p:txBody>
      </p:sp>
      <p:sp>
        <p:nvSpPr>
          <p:cNvPr id="41" name="Shape 38"/>
          <p:cNvSpPr/>
          <p:nvPr/>
        </p:nvSpPr>
        <p:spPr>
          <a:xfrm>
            <a:off x="7315200" y="4800600"/>
            <a:ext cx="2103120" cy="1005840"/>
          </a:xfrm>
          <a:prstGeom prst="roundRect">
            <a:avLst>
              <a:gd name="adj" fmla="val 7273"/>
            </a:avLst>
          </a:prstGeom>
          <a:solidFill>
            <a:srgbClr val="EAF1ED"/>
          </a:solidFill>
          <a:ln w="12700">
            <a:solidFill>
              <a:srgbClr val="2A654E"/>
            </a:solidFill>
            <a:prstDash val="solid"/>
          </a:ln>
        </p:spPr>
      </p:sp>
      <p:sp>
        <p:nvSpPr>
          <p:cNvPr id="42" name="Text 39"/>
          <p:cNvSpPr txBox="1"/>
          <p:nvPr/>
        </p:nvSpPr>
        <p:spPr>
          <a:xfrm>
            <a:off x="7452360" y="4892040"/>
            <a:ext cx="1828800" cy="365760"/>
          </a:xfrm>
          <a:prstGeom prst="rect">
            <a:avLst/>
          </a:prstGeom>
          <a:noFill/>
          <a:ln/>
        </p:spPr>
        <p:txBody>
          <a:bodyPr wrap="square" lIns="0" tIns="0" rIns="0" bIns="0" rtlCol="0" anchor="ctr"/>
          <a:lstStyle/>
          <a:p>
            <a:pPr indent="0" marL="0">
              <a:buNone/>
            </a:pPr>
            <a:r>
              <a:rPr lang="en-US" sz="1300" b="1" dirty="0">
                <a:solidFill>
                  <a:srgbClr val="113A2A"/>
                </a:solidFill>
                <a:latin typeface="Arial" pitchFamily="34" charset="0"/>
                <a:ea typeface="Arial" pitchFamily="34" charset="-122"/>
                <a:cs typeface="Arial" pitchFamily="34" charset="-120"/>
              </a:rPr>
              <a:t>Adoption</a:t>
            </a:r>
            <a:endParaRPr lang="en-US" sz="1300" dirty="0"/>
          </a:p>
        </p:txBody>
      </p:sp>
      <p:sp>
        <p:nvSpPr>
          <p:cNvPr id="43" name="Text 40"/>
          <p:cNvSpPr txBox="1"/>
          <p:nvPr/>
        </p:nvSpPr>
        <p:spPr>
          <a:xfrm>
            <a:off x="7452360" y="5257800"/>
            <a:ext cx="1828800" cy="457200"/>
          </a:xfrm>
          <a:prstGeom prst="rect">
            <a:avLst/>
          </a:prstGeom>
          <a:noFill/>
          <a:ln/>
        </p:spPr>
        <p:txBody>
          <a:bodyPr wrap="square" lIns="0" tIns="0" rIns="0" bIns="0" rtlCol="0" anchor="ctr"/>
          <a:lstStyle/>
          <a:p>
            <a:pPr indent="0" marL="0">
              <a:buNone/>
            </a:pPr>
            <a:r>
              <a:rPr lang="en-US" sz="1100" dirty="0">
                <a:solidFill>
                  <a:srgbClr val="6E6961"/>
                </a:solidFill>
                <a:latin typeface="Arial" pitchFamily="34" charset="0"/>
                <a:ea typeface="Arial" pitchFamily="34" charset="-122"/>
                <a:cs typeface="Arial" pitchFamily="34" charset="-120"/>
              </a:rPr>
              <a:t>sustained, unprompted use</a:t>
            </a:r>
            <a:endParaRPr lang="en-US" sz="1100" dirty="0"/>
          </a:p>
        </p:txBody>
      </p:sp>
      <p:sp>
        <p:nvSpPr>
          <p:cNvPr id="44" name="Shape 41"/>
          <p:cNvSpPr/>
          <p:nvPr/>
        </p:nvSpPr>
        <p:spPr>
          <a:xfrm>
            <a:off x="9601200" y="4800600"/>
            <a:ext cx="2103120" cy="1005840"/>
          </a:xfrm>
          <a:prstGeom prst="roundRect">
            <a:avLst>
              <a:gd name="adj" fmla="val 7273"/>
            </a:avLst>
          </a:prstGeom>
          <a:solidFill>
            <a:srgbClr val="EAF1ED"/>
          </a:solidFill>
          <a:ln w="12700">
            <a:solidFill>
              <a:srgbClr val="2A654E"/>
            </a:solidFill>
            <a:prstDash val="solid"/>
          </a:ln>
        </p:spPr>
      </p:sp>
      <p:sp>
        <p:nvSpPr>
          <p:cNvPr id="45" name="Text 42"/>
          <p:cNvSpPr txBox="1"/>
          <p:nvPr/>
        </p:nvSpPr>
        <p:spPr>
          <a:xfrm>
            <a:off x="9738360" y="4892040"/>
            <a:ext cx="1828800" cy="365760"/>
          </a:xfrm>
          <a:prstGeom prst="rect">
            <a:avLst/>
          </a:prstGeom>
          <a:noFill/>
          <a:ln/>
        </p:spPr>
        <p:txBody>
          <a:bodyPr wrap="square" lIns="0" tIns="0" rIns="0" bIns="0" rtlCol="0" anchor="ctr"/>
          <a:lstStyle/>
          <a:p>
            <a:pPr indent="0" marL="0">
              <a:buNone/>
            </a:pPr>
            <a:r>
              <a:rPr lang="en-US" sz="1300" b="1" dirty="0">
                <a:solidFill>
                  <a:srgbClr val="113A2A"/>
                </a:solidFill>
                <a:latin typeface="Arial" pitchFamily="34" charset="0"/>
                <a:ea typeface="Arial" pitchFamily="34" charset="-122"/>
                <a:cs typeface="Arial" pitchFamily="34" charset="-120"/>
              </a:rPr>
              <a:t>Acceptable risk</a:t>
            </a:r>
            <a:endParaRPr lang="en-US" sz="1300" dirty="0"/>
          </a:p>
        </p:txBody>
      </p:sp>
      <p:sp>
        <p:nvSpPr>
          <p:cNvPr id="46" name="Text 43"/>
          <p:cNvSpPr txBox="1"/>
          <p:nvPr/>
        </p:nvSpPr>
        <p:spPr>
          <a:xfrm>
            <a:off x="9738360" y="5257800"/>
            <a:ext cx="1828800" cy="457200"/>
          </a:xfrm>
          <a:prstGeom prst="rect">
            <a:avLst/>
          </a:prstGeom>
          <a:noFill/>
          <a:ln/>
        </p:spPr>
        <p:txBody>
          <a:bodyPr wrap="square" lIns="0" tIns="0" rIns="0" bIns="0" rtlCol="0" anchor="ctr"/>
          <a:lstStyle/>
          <a:p>
            <a:pPr indent="0" marL="0">
              <a:buNone/>
            </a:pPr>
            <a:r>
              <a:rPr lang="en-US" sz="1100" dirty="0">
                <a:solidFill>
                  <a:srgbClr val="6E6961"/>
                </a:solidFill>
                <a:latin typeface="Arial" pitchFamily="34" charset="0"/>
                <a:ea typeface="Arial" pitchFamily="34" charset="-122"/>
                <a:cs typeface="Arial" pitchFamily="34" charset="-120"/>
              </a:rPr>
              <a:t>reviewed and understood</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310896" cy="310896"/>
          </a:xfrm>
          <a:prstGeom prst="rect">
            <a:avLst/>
          </a:prstGeom>
        </p:spPr>
      </p:pic>
      <p:sp>
        <p:nvSpPr>
          <p:cNvPr id="3" name="Text 0"/>
          <p:cNvSpPr txBox="1"/>
          <p:nvPr/>
        </p:nvSpPr>
        <p:spPr>
          <a:xfrm>
            <a:off x="868680" y="402336"/>
            <a:ext cx="3657600" cy="274320"/>
          </a:xfrm>
          <a:prstGeom prst="rect">
            <a:avLst/>
          </a:prstGeom>
          <a:noFill/>
          <a:ln/>
        </p:spPr>
        <p:txBody>
          <a:bodyPr wrap="square" lIns="0" tIns="0" rIns="0" bIns="0" rtlCol="0" anchor="ctr"/>
          <a:lstStyle/>
          <a:p>
            <a:pPr indent="0" marL="0">
              <a:buNone/>
            </a:pPr>
            <a:r>
              <a:rPr lang="en-US" sz="950" b="1" spc="200" kern="0" dirty="0">
                <a:solidFill>
                  <a:srgbClr val="113A2A"/>
                </a:solidFill>
                <a:latin typeface="Arial" pitchFamily="34" charset="0"/>
                <a:ea typeface="Arial" pitchFamily="34" charset="-122"/>
                <a:cs typeface="Arial" pitchFamily="34" charset="-120"/>
              </a:rPr>
              <a:t>KARTA CONSULTING GROUP</a:t>
            </a:r>
            <a:endParaRPr lang="en-US" sz="950" dirty="0"/>
          </a:p>
        </p:txBody>
      </p:sp>
      <p:sp>
        <p:nvSpPr>
          <p:cNvPr id="4" name="Text 1"/>
          <p:cNvSpPr txBox="1"/>
          <p:nvPr/>
        </p:nvSpPr>
        <p:spPr>
          <a:xfrm>
            <a:off x="6675120" y="402336"/>
            <a:ext cx="5029200" cy="274320"/>
          </a:xfrm>
          <a:prstGeom prst="rect">
            <a:avLst/>
          </a:prstGeom>
          <a:noFill/>
          <a:ln/>
        </p:spPr>
        <p:txBody>
          <a:bodyPr wrap="square" lIns="0" tIns="0" rIns="0" bIns="0" rtlCol="0" anchor="ctr"/>
          <a:lstStyle/>
          <a:p>
            <a:pPr algn="r" indent="0" marL="0">
              <a:buNone/>
            </a:pPr>
            <a:r>
              <a:rPr lang="en-US" sz="950" dirty="0">
                <a:solidFill>
                  <a:srgbClr val="979187"/>
                </a:solidFill>
                <a:latin typeface="Arial" pitchFamily="34" charset="0"/>
                <a:ea typeface="Arial" pitchFamily="34" charset="-122"/>
                <a:cs typeface="Arial" pitchFamily="34" charset="-120"/>
              </a:rPr>
              <a:t>Karta AI Engagement Workspace · September 12, 2026</a:t>
            </a:r>
            <a:endParaRPr lang="en-US" sz="950" dirty="0"/>
          </a:p>
        </p:txBody>
      </p:sp>
      <p:sp>
        <p:nvSpPr>
          <p:cNvPr id="5" name="Text 2"/>
          <p:cNvSpPr txBox="1"/>
          <p:nvPr/>
        </p:nvSpPr>
        <p:spPr>
          <a:xfrm>
            <a:off x="11430000" y="6355080"/>
            <a:ext cx="365760" cy="274320"/>
          </a:xfrm>
          <a:prstGeom prst="rect">
            <a:avLst/>
          </a:prstGeom>
          <a:noFill/>
          <a:ln/>
        </p:spPr>
        <p:txBody>
          <a:bodyPr wrap="square" lIns="0" tIns="0" rIns="0" bIns="0" rtlCol="0" anchor="ctr"/>
          <a:lstStyle/>
          <a:p>
            <a:pPr algn="r" indent="0" marL="0">
              <a:buNone/>
            </a:pPr>
            <a:r>
              <a:rPr lang="en-US" sz="900" dirty="0">
                <a:solidFill>
                  <a:srgbClr val="979187"/>
                </a:solidFill>
                <a:latin typeface="Arial" pitchFamily="34" charset="0"/>
                <a:ea typeface="Arial" pitchFamily="34" charset="-122"/>
                <a:cs typeface="Arial" pitchFamily="34" charset="-120"/>
              </a:rPr>
              <a:t>9</a:t>
            </a:r>
            <a:endParaRPr lang="en-US" sz="900" dirty="0"/>
          </a:p>
        </p:txBody>
      </p:sp>
      <p:sp>
        <p:nvSpPr>
          <p:cNvPr id="6" name="Text 3"/>
          <p:cNvSpPr txBox="1"/>
          <p:nvPr/>
        </p:nvSpPr>
        <p:spPr>
          <a:xfrm>
            <a:off x="457200" y="960120"/>
            <a:ext cx="11247120" cy="822960"/>
          </a:xfrm>
          <a:prstGeom prst="rect">
            <a:avLst/>
          </a:prstGeom>
          <a:noFill/>
          <a:ln/>
        </p:spPr>
        <p:txBody>
          <a:bodyPr wrap="square" lIns="0" tIns="0" rIns="0" bIns="0" rtlCol="0" anchor="t"/>
          <a:lstStyle/>
          <a:p>
            <a:pPr indent="0" marL="0">
              <a:buNone/>
            </a:pPr>
            <a:r>
              <a:rPr lang="en-US" sz="3000" b="1" dirty="0">
                <a:solidFill>
                  <a:srgbClr val="113A2A"/>
                </a:solidFill>
                <a:latin typeface="Arial" pitchFamily="34" charset="0"/>
                <a:ea typeface="Arial" pitchFamily="34" charset="-122"/>
                <a:cs typeface="Arial" pitchFamily="34" charset="-120"/>
              </a:rPr>
              <a:t>The workspace is where governance becomes part of everyday delivery</a:t>
            </a:r>
            <a:endParaRPr lang="en-US" sz="3000" dirty="0"/>
          </a:p>
        </p:txBody>
      </p:sp>
      <p:sp>
        <p:nvSpPr>
          <p:cNvPr id="7" name="Text 4"/>
          <p:cNvSpPr txBox="1"/>
          <p:nvPr/>
        </p:nvSpPr>
        <p:spPr>
          <a:xfrm>
            <a:off x="457200" y="1783080"/>
            <a:ext cx="9601200" cy="640080"/>
          </a:xfrm>
          <a:prstGeom prst="rect">
            <a:avLst/>
          </a:prstGeom>
          <a:noFill/>
          <a:ln/>
        </p:spPr>
        <p:txBody>
          <a:bodyPr wrap="square" lIns="0" tIns="0" rIns="0" bIns="0" rtlCol="0" anchor="t"/>
          <a:lstStyle/>
          <a:p>
            <a:pPr indent="0" marL="0">
              <a:buNone/>
            </a:pPr>
            <a:r>
              <a:rPr lang="en-US" sz="1400" dirty="0">
                <a:solidFill>
                  <a:srgbClr val="6E6961"/>
                </a:solidFill>
                <a:latin typeface="Arial" pitchFamily="34" charset="0"/>
                <a:ea typeface="Arial" pitchFamily="34" charset="-122"/>
                <a:cs typeface="Arial" pitchFamily="34" charset="-120"/>
              </a:rPr>
              <a:t>Teams should know which capabilities are available for their engagement, whether each is experimental or validated, what information it uses, and what review is required.</a:t>
            </a:r>
            <a:endParaRPr lang="en-US" sz="1400" dirty="0"/>
          </a:p>
        </p:txBody>
      </p:sp>
      <p:sp>
        <p:nvSpPr>
          <p:cNvPr id="8" name="Text 5"/>
          <p:cNvSpPr txBox="1"/>
          <p:nvPr/>
        </p:nvSpPr>
        <p:spPr>
          <a:xfrm>
            <a:off x="457200" y="2606040"/>
            <a:ext cx="5486400" cy="201168"/>
          </a:xfrm>
          <a:prstGeom prst="rect">
            <a:avLst/>
          </a:prstGeom>
          <a:noFill/>
          <a:ln/>
        </p:spPr>
        <p:txBody>
          <a:bodyPr wrap="square" lIns="0" tIns="0" rIns="0" bIns="0" rtlCol="0" anchor="ctr"/>
          <a:lstStyle/>
          <a:p>
            <a:pPr indent="0" marL="0">
              <a:buNone/>
            </a:pPr>
            <a:r>
              <a:rPr lang="en-US" sz="850" b="1" spc="150" kern="0" dirty="0">
                <a:solidFill>
                  <a:srgbClr val="2A654E"/>
                </a:solidFill>
                <a:latin typeface="Arial" pitchFamily="34" charset="0"/>
                <a:ea typeface="Arial" pitchFamily="34" charset="-122"/>
                <a:cs typeface="Arial" pitchFamily="34" charset="-120"/>
              </a:rPr>
              <a:t>ALREADY IN PLACE</a:t>
            </a:r>
            <a:endParaRPr lang="en-US" sz="850" dirty="0"/>
          </a:p>
        </p:txBody>
      </p:sp>
      <p:sp>
        <p:nvSpPr>
          <p:cNvPr id="9" name="Shape 6"/>
          <p:cNvSpPr/>
          <p:nvPr/>
        </p:nvSpPr>
        <p:spPr>
          <a:xfrm>
            <a:off x="457200" y="2852928"/>
            <a:ext cx="2743200" cy="1261872"/>
          </a:xfrm>
          <a:prstGeom prst="roundRect">
            <a:avLst>
              <a:gd name="adj" fmla="val 7246"/>
            </a:avLst>
          </a:prstGeom>
          <a:solidFill>
            <a:srgbClr val="FFFFFF"/>
          </a:solidFill>
          <a:ln w="12700">
            <a:solidFill>
              <a:srgbClr val="E4E2DE"/>
            </a:solidFill>
            <a:prstDash val="solid"/>
          </a:ln>
        </p:spPr>
      </p:sp>
      <p:sp>
        <p:nvSpPr>
          <p:cNvPr id="10" name="Text 7"/>
          <p:cNvSpPr txBox="1"/>
          <p:nvPr/>
        </p:nvSpPr>
        <p:spPr>
          <a:xfrm>
            <a:off x="658368" y="3035808"/>
            <a:ext cx="2340864" cy="365760"/>
          </a:xfrm>
          <a:prstGeom prst="rect">
            <a:avLst/>
          </a:prstGeom>
          <a:noFill/>
          <a:ln/>
        </p:spPr>
        <p:txBody>
          <a:bodyPr wrap="square" lIns="0" tIns="0" rIns="0" bIns="0" rtlCol="0" anchor="t"/>
          <a:lstStyle/>
          <a:p>
            <a:pPr indent="0" marL="0">
              <a:buNone/>
            </a:pPr>
            <a:r>
              <a:rPr lang="en-US" sz="1250" b="1" dirty="0">
                <a:solidFill>
                  <a:srgbClr val="113A2A"/>
                </a:solidFill>
                <a:latin typeface="Arial" pitchFamily="34" charset="0"/>
                <a:ea typeface="Arial" pitchFamily="34" charset="-122"/>
                <a:cs typeface="Arial" pitchFamily="34" charset="-120"/>
              </a:rPr>
              <a:t>Named approval records</a:t>
            </a:r>
            <a:endParaRPr lang="en-US" sz="1250" dirty="0"/>
          </a:p>
        </p:txBody>
      </p:sp>
      <p:sp>
        <p:nvSpPr>
          <p:cNvPr id="11" name="Text 8"/>
          <p:cNvSpPr txBox="1"/>
          <p:nvPr/>
        </p:nvSpPr>
        <p:spPr>
          <a:xfrm>
            <a:off x="658368" y="3401568"/>
            <a:ext cx="2340864" cy="576072"/>
          </a:xfrm>
          <a:prstGeom prst="rect">
            <a:avLst/>
          </a:prstGeom>
          <a:noFill/>
          <a:ln/>
        </p:spPr>
        <p:txBody>
          <a:bodyPr wrap="square" lIns="0" tIns="0" rIns="0" bIns="0" rtlCol="0" anchor="t"/>
          <a:lstStyle/>
          <a:p>
            <a:pPr indent="0" marL="0">
              <a:buNone/>
            </a:pPr>
            <a:r>
              <a:rPr lang="en-US" sz="1050" dirty="0">
                <a:solidFill>
                  <a:srgbClr val="6E6961"/>
                </a:solidFill>
                <a:latin typeface="Arial" pitchFamily="34" charset="0"/>
                <a:ea typeface="Arial" pitchFamily="34" charset="-122"/>
                <a:cs typeface="Arial" pitchFamily="34" charset="-120"/>
              </a:rPr>
              <a:t>Every approved status carries the reviewer's name, email and time.</a:t>
            </a:r>
            <a:endParaRPr lang="en-US" sz="1050" dirty="0"/>
          </a:p>
        </p:txBody>
      </p:sp>
      <p:sp>
        <p:nvSpPr>
          <p:cNvPr id="12" name="Shape 9"/>
          <p:cNvSpPr/>
          <p:nvPr/>
        </p:nvSpPr>
        <p:spPr>
          <a:xfrm>
            <a:off x="3310128" y="2852928"/>
            <a:ext cx="2743200" cy="1261872"/>
          </a:xfrm>
          <a:prstGeom prst="roundRect">
            <a:avLst>
              <a:gd name="adj" fmla="val 7246"/>
            </a:avLst>
          </a:prstGeom>
          <a:solidFill>
            <a:srgbClr val="FFFFFF"/>
          </a:solidFill>
          <a:ln w="12700">
            <a:solidFill>
              <a:srgbClr val="E4E2DE"/>
            </a:solidFill>
            <a:prstDash val="solid"/>
          </a:ln>
        </p:spPr>
      </p:sp>
      <p:sp>
        <p:nvSpPr>
          <p:cNvPr id="13" name="Text 10"/>
          <p:cNvSpPr txBox="1"/>
          <p:nvPr/>
        </p:nvSpPr>
        <p:spPr>
          <a:xfrm>
            <a:off x="3511296" y="3035808"/>
            <a:ext cx="2340864" cy="365760"/>
          </a:xfrm>
          <a:prstGeom prst="rect">
            <a:avLst/>
          </a:prstGeom>
          <a:noFill/>
          <a:ln/>
        </p:spPr>
        <p:txBody>
          <a:bodyPr wrap="square" lIns="0" tIns="0" rIns="0" bIns="0" rtlCol="0" anchor="t"/>
          <a:lstStyle/>
          <a:p>
            <a:pPr indent="0" marL="0">
              <a:buNone/>
            </a:pPr>
            <a:r>
              <a:rPr lang="en-US" sz="1250" b="1" dirty="0">
                <a:solidFill>
                  <a:srgbClr val="113A2A"/>
                </a:solidFill>
                <a:latin typeface="Arial" pitchFamily="34" charset="0"/>
                <a:ea typeface="Arial" pitchFamily="34" charset="-122"/>
                <a:cs typeface="Arial" pitchFamily="34" charset="-120"/>
              </a:rPr>
              <a:t>Visible source gaps</a:t>
            </a:r>
            <a:endParaRPr lang="en-US" sz="1250" dirty="0"/>
          </a:p>
        </p:txBody>
      </p:sp>
      <p:sp>
        <p:nvSpPr>
          <p:cNvPr id="14" name="Text 11"/>
          <p:cNvSpPr txBox="1"/>
          <p:nvPr/>
        </p:nvSpPr>
        <p:spPr>
          <a:xfrm>
            <a:off x="3511296" y="3401568"/>
            <a:ext cx="2340864" cy="576072"/>
          </a:xfrm>
          <a:prstGeom prst="rect">
            <a:avLst/>
          </a:prstGeom>
          <a:noFill/>
          <a:ln/>
        </p:spPr>
        <p:txBody>
          <a:bodyPr wrap="square" lIns="0" tIns="0" rIns="0" bIns="0" rtlCol="0" anchor="t"/>
          <a:lstStyle/>
          <a:p>
            <a:pPr indent="0" marL="0">
              <a:buNone/>
            </a:pPr>
            <a:r>
              <a:rPr lang="en-US" sz="1050" dirty="0">
                <a:solidFill>
                  <a:srgbClr val="6E6961"/>
                </a:solidFill>
                <a:latin typeface="Arial" pitchFamily="34" charset="0"/>
                <a:ea typeface="Arial" pitchFamily="34" charset="-122"/>
                <a:cs typeface="Arial" pitchFamily="34" charset="-120"/>
              </a:rPr>
              <a:t>A missing source or an unknown date is shown, recorded with the deck, and never turned Green.</a:t>
            </a:r>
            <a:endParaRPr lang="en-US" sz="1050" dirty="0"/>
          </a:p>
        </p:txBody>
      </p:sp>
      <p:sp>
        <p:nvSpPr>
          <p:cNvPr id="15" name="Shape 12"/>
          <p:cNvSpPr/>
          <p:nvPr/>
        </p:nvSpPr>
        <p:spPr>
          <a:xfrm>
            <a:off x="457200" y="4224528"/>
            <a:ext cx="2743200" cy="1261872"/>
          </a:xfrm>
          <a:prstGeom prst="roundRect">
            <a:avLst>
              <a:gd name="adj" fmla="val 7246"/>
            </a:avLst>
          </a:prstGeom>
          <a:solidFill>
            <a:srgbClr val="FFFFFF"/>
          </a:solidFill>
          <a:ln w="12700">
            <a:solidFill>
              <a:srgbClr val="E4E2DE"/>
            </a:solidFill>
            <a:prstDash val="solid"/>
          </a:ln>
        </p:spPr>
      </p:sp>
      <p:sp>
        <p:nvSpPr>
          <p:cNvPr id="16" name="Text 13"/>
          <p:cNvSpPr txBox="1"/>
          <p:nvPr/>
        </p:nvSpPr>
        <p:spPr>
          <a:xfrm>
            <a:off x="658368" y="4407408"/>
            <a:ext cx="2340864" cy="365760"/>
          </a:xfrm>
          <a:prstGeom prst="rect">
            <a:avLst/>
          </a:prstGeom>
          <a:noFill/>
          <a:ln/>
        </p:spPr>
        <p:txBody>
          <a:bodyPr wrap="square" lIns="0" tIns="0" rIns="0" bIns="0" rtlCol="0" anchor="t"/>
          <a:lstStyle/>
          <a:p>
            <a:pPr indent="0" marL="0">
              <a:buNone/>
            </a:pPr>
            <a:r>
              <a:rPr lang="en-US" sz="1250" b="1" dirty="0">
                <a:solidFill>
                  <a:srgbClr val="113A2A"/>
                </a:solidFill>
                <a:latin typeface="Arial" pitchFamily="34" charset="0"/>
                <a:ea typeface="Arial" pitchFamily="34" charset="-122"/>
                <a:cs typeface="Arial" pitchFamily="34" charset="-120"/>
              </a:rPr>
              <a:t>Readiness labels</a:t>
            </a:r>
            <a:endParaRPr lang="en-US" sz="1250" dirty="0"/>
          </a:p>
        </p:txBody>
      </p:sp>
      <p:sp>
        <p:nvSpPr>
          <p:cNvPr id="17" name="Text 14"/>
          <p:cNvSpPr txBox="1"/>
          <p:nvPr/>
        </p:nvSpPr>
        <p:spPr>
          <a:xfrm>
            <a:off x="658368" y="4773168"/>
            <a:ext cx="2340864" cy="576072"/>
          </a:xfrm>
          <a:prstGeom prst="rect">
            <a:avLst/>
          </a:prstGeom>
          <a:noFill/>
          <a:ln/>
        </p:spPr>
        <p:txBody>
          <a:bodyPr wrap="square" lIns="0" tIns="0" rIns="0" bIns="0" rtlCol="0" anchor="t"/>
          <a:lstStyle/>
          <a:p>
            <a:pPr indent="0" marL="0">
              <a:buNone/>
            </a:pPr>
            <a:r>
              <a:rPr lang="en-US" sz="1050" dirty="0">
                <a:solidFill>
                  <a:srgbClr val="6E6961"/>
                </a:solidFill>
                <a:latin typeface="Arial" pitchFamily="34" charset="0"/>
                <a:ea typeface="Arial" pitchFamily="34" charset="-122"/>
                <a:cs typeface="Arial" pitchFamily="34" charset="-120"/>
              </a:rPr>
              <a:t>Piloted, Experimental, Validated, on every capability in the catalog.</a:t>
            </a:r>
            <a:endParaRPr lang="en-US" sz="1050" dirty="0"/>
          </a:p>
        </p:txBody>
      </p:sp>
      <p:sp>
        <p:nvSpPr>
          <p:cNvPr id="18" name="Shape 15"/>
          <p:cNvSpPr/>
          <p:nvPr/>
        </p:nvSpPr>
        <p:spPr>
          <a:xfrm>
            <a:off x="3310128" y="4224528"/>
            <a:ext cx="2743200" cy="1261872"/>
          </a:xfrm>
          <a:prstGeom prst="roundRect">
            <a:avLst>
              <a:gd name="adj" fmla="val 7246"/>
            </a:avLst>
          </a:prstGeom>
          <a:solidFill>
            <a:srgbClr val="FFFFFF"/>
          </a:solidFill>
          <a:ln w="12700">
            <a:solidFill>
              <a:srgbClr val="E4E2DE"/>
            </a:solidFill>
            <a:prstDash val="solid"/>
          </a:ln>
        </p:spPr>
      </p:sp>
      <p:sp>
        <p:nvSpPr>
          <p:cNvPr id="19" name="Text 16"/>
          <p:cNvSpPr txBox="1"/>
          <p:nvPr/>
        </p:nvSpPr>
        <p:spPr>
          <a:xfrm>
            <a:off x="3511296" y="4407408"/>
            <a:ext cx="2340864" cy="365760"/>
          </a:xfrm>
          <a:prstGeom prst="rect">
            <a:avLst/>
          </a:prstGeom>
          <a:noFill/>
          <a:ln/>
        </p:spPr>
        <p:txBody>
          <a:bodyPr wrap="square" lIns="0" tIns="0" rIns="0" bIns="0" rtlCol="0" anchor="t"/>
          <a:lstStyle/>
          <a:p>
            <a:pPr indent="0" marL="0">
              <a:buNone/>
            </a:pPr>
            <a:r>
              <a:rPr lang="en-US" sz="1250" b="1" dirty="0">
                <a:solidFill>
                  <a:srgbClr val="113A2A"/>
                </a:solidFill>
                <a:latin typeface="Arial" pitchFamily="34" charset="0"/>
                <a:ea typeface="Arial" pitchFamily="34" charset="-122"/>
                <a:cs typeface="Arial" pitchFamily="34" charset="-120"/>
              </a:rPr>
              <a:t>Pilot measures</a:t>
            </a:r>
            <a:endParaRPr lang="en-US" sz="1250" dirty="0"/>
          </a:p>
        </p:txBody>
      </p:sp>
      <p:sp>
        <p:nvSpPr>
          <p:cNvPr id="20" name="Text 17"/>
          <p:cNvSpPr txBox="1"/>
          <p:nvPr/>
        </p:nvSpPr>
        <p:spPr>
          <a:xfrm>
            <a:off x="3511296" y="4773168"/>
            <a:ext cx="2340864" cy="576072"/>
          </a:xfrm>
          <a:prstGeom prst="rect">
            <a:avLst/>
          </a:prstGeom>
          <a:noFill/>
          <a:ln/>
        </p:spPr>
        <p:txBody>
          <a:bodyPr wrap="square" lIns="0" tIns="0" rIns="0" bIns="0" rtlCol="0" anchor="t"/>
          <a:lstStyle/>
          <a:p>
            <a:pPr indent="0" marL="0">
              <a:buNone/>
            </a:pPr>
            <a:r>
              <a:rPr lang="en-US" sz="1050" dirty="0">
                <a:solidFill>
                  <a:srgbClr val="6E6961"/>
                </a:solidFill>
                <a:latin typeface="Arial" pitchFamily="34" charset="0"/>
                <a:ea typeface="Arial" pitchFamily="34" charset="-122"/>
                <a:cs typeface="Arial" pitchFamily="34" charset="-120"/>
              </a:rPr>
              <a:t>Time to approval, corrections to the draft, assessments overridden, errors after approval, adoption.</a:t>
            </a:r>
            <a:endParaRPr lang="en-US" sz="1050" dirty="0"/>
          </a:p>
        </p:txBody>
      </p:sp>
      <p:sp>
        <p:nvSpPr>
          <p:cNvPr id="21" name="Text 18"/>
          <p:cNvSpPr txBox="1"/>
          <p:nvPr/>
        </p:nvSpPr>
        <p:spPr>
          <a:xfrm>
            <a:off x="6400800" y="2606040"/>
            <a:ext cx="5486400" cy="201168"/>
          </a:xfrm>
          <a:prstGeom prst="rect">
            <a:avLst/>
          </a:prstGeom>
          <a:noFill/>
          <a:ln/>
        </p:spPr>
        <p:txBody>
          <a:bodyPr wrap="square" lIns="0" tIns="0" rIns="0" bIns="0" rtlCol="0" anchor="ctr"/>
          <a:lstStyle/>
          <a:p>
            <a:pPr indent="0" marL="0">
              <a:buNone/>
            </a:pPr>
            <a:r>
              <a:rPr lang="en-US" sz="850" b="1" spc="150" kern="0" dirty="0">
                <a:solidFill>
                  <a:srgbClr val="2A654E"/>
                </a:solidFill>
                <a:latin typeface="Arial" pitchFamily="34" charset="0"/>
                <a:ea typeface="Arial" pitchFamily="34" charset="-122"/>
                <a:cs typeface="Arial" pitchFamily="34" charset="-120"/>
              </a:rPr>
              <a:t>GOVERNANCE CONTINUES AFTER RELEASE</a:t>
            </a:r>
            <a:endParaRPr lang="en-US" sz="850" dirty="0"/>
          </a:p>
        </p:txBody>
      </p:sp>
      <p:sp>
        <p:nvSpPr>
          <p:cNvPr id="22" name="Shape 19"/>
          <p:cNvSpPr/>
          <p:nvPr/>
        </p:nvSpPr>
        <p:spPr>
          <a:xfrm>
            <a:off x="6400800" y="2852928"/>
            <a:ext cx="5330952" cy="2633472"/>
          </a:xfrm>
          <a:prstGeom prst="roundRect">
            <a:avLst>
              <a:gd name="adj" fmla="val 3472"/>
            </a:avLst>
          </a:prstGeom>
          <a:solidFill>
            <a:srgbClr val="EAF1ED"/>
          </a:solidFill>
          <a:ln w="12700">
            <a:solidFill>
              <a:srgbClr val="2A654E"/>
            </a:solidFill>
            <a:prstDash val="solid"/>
          </a:ln>
        </p:spPr>
      </p:sp>
      <p:sp>
        <p:nvSpPr>
          <p:cNvPr id="23" name="Text 20"/>
          <p:cNvSpPr txBox="1"/>
          <p:nvPr/>
        </p:nvSpPr>
        <p:spPr>
          <a:xfrm>
            <a:off x="6629400" y="3017520"/>
            <a:ext cx="4937760" cy="1554480"/>
          </a:xfrm>
          <a:prstGeom prst="rect">
            <a:avLst/>
          </a:prstGeom>
          <a:noFill/>
          <a:ln/>
        </p:spPr>
        <p:txBody>
          <a:bodyPr wrap="square" rtlCol="0" anchor="t"/>
          <a:lstStyle/>
          <a:p>
            <a:pPr marL="342900" indent="-342900">
              <a:spcAft>
                <a:spcPts val="600"/>
              </a:spcAft>
              <a:buSzPct val="100000"/>
              <a:buChar char="•"/>
            </a:pPr>
            <a:r>
              <a:rPr lang="en-US" sz="1250" dirty="0">
                <a:solidFill>
                  <a:srgbClr val="113A2A"/>
                </a:solidFill>
                <a:latin typeface="Arial" pitchFamily="34" charset="0"/>
                <a:ea typeface="Arial" pitchFamily="34" charset="-122"/>
                <a:cs typeface="Arial" pitchFamily="34" charset="-120"/>
              </a:rPr>
              <a:t>Where people use a capability, and where they do not</a:t>
            </a:r>
            <a:endParaRPr lang="en-US" sz="1250" dirty="0"/>
          </a:p>
          <a:p>
            <a:pPr marL="342900" indent="-342900">
              <a:spcAft>
                <a:spcPts val="600"/>
              </a:spcAft>
              <a:buSzPct val="100000"/>
              <a:buChar char="•"/>
            </a:pPr>
            <a:r>
              <a:rPr lang="en-US" sz="1250" dirty="0">
                <a:solidFill>
                  <a:srgbClr val="113A2A"/>
                </a:solidFill>
                <a:latin typeface="Arial" pitchFamily="34" charset="0"/>
                <a:ea typeface="Arial" pitchFamily="34" charset="-122"/>
                <a:cs typeface="Arial" pitchFamily="34" charset="-120"/>
              </a:rPr>
              <a:t>What they correct, and how often</a:t>
            </a:r>
            <a:endParaRPr lang="en-US" sz="1250" dirty="0"/>
          </a:p>
          <a:p>
            <a:pPr marL="342900" indent="-342900">
              <a:spcAft>
                <a:spcPts val="600"/>
              </a:spcAft>
              <a:buSzPct val="100000"/>
              <a:buChar char="•"/>
            </a:pPr>
            <a:r>
              <a:rPr lang="en-US" sz="1250" dirty="0">
                <a:solidFill>
                  <a:srgbClr val="113A2A"/>
                </a:solidFill>
                <a:latin typeface="Arial" pitchFamily="34" charset="0"/>
                <a:ea typeface="Arial" pitchFamily="34" charset="-122"/>
                <a:cs typeface="Arial" pitchFamily="34" charset="-120"/>
              </a:rPr>
              <a:t>What issues arise after approval</a:t>
            </a:r>
            <a:endParaRPr lang="en-US" sz="1250" dirty="0"/>
          </a:p>
          <a:p>
            <a:pPr marL="342900" indent="-342900">
              <a:spcAft>
                <a:spcPts val="600"/>
              </a:spcAft>
              <a:buSzPct val="100000"/>
              <a:buChar char="•"/>
            </a:pPr>
            <a:r>
              <a:rPr lang="en-US" sz="1250" dirty="0">
                <a:solidFill>
                  <a:srgbClr val="113A2A"/>
                </a:solidFill>
                <a:latin typeface="Arial" pitchFamily="34" charset="0"/>
                <a:ea typeface="Arial" pitchFamily="34" charset="-122"/>
                <a:cs typeface="Arial" pitchFamily="34" charset="-120"/>
              </a:rPr>
              <a:t>Whether the workflow is getting better week over week</a:t>
            </a:r>
            <a:endParaRPr lang="en-US" sz="1250" dirty="0"/>
          </a:p>
        </p:txBody>
      </p:sp>
      <p:sp>
        <p:nvSpPr>
          <p:cNvPr id="24" name="Text 21"/>
          <p:cNvSpPr txBox="1"/>
          <p:nvPr/>
        </p:nvSpPr>
        <p:spPr>
          <a:xfrm>
            <a:off x="6629400" y="4572000"/>
            <a:ext cx="4937760" cy="822960"/>
          </a:xfrm>
          <a:prstGeom prst="rect">
            <a:avLst/>
          </a:prstGeom>
          <a:noFill/>
          <a:ln/>
        </p:spPr>
        <p:txBody>
          <a:bodyPr wrap="square" lIns="0" tIns="0" rIns="0" bIns="0" rtlCol="0" anchor="ctr"/>
          <a:lstStyle/>
          <a:p>
            <a:pPr indent="0" marL="0">
              <a:buNone/>
            </a:pPr>
            <a:r>
              <a:rPr lang="en-US" sz="1150" dirty="0">
                <a:solidFill>
                  <a:srgbClr val="6E6961"/>
                </a:solidFill>
                <a:latin typeface="Arial" pitchFamily="34" charset="0"/>
                <a:ea typeface="Arial" pitchFamily="34" charset="-122"/>
                <a:cs typeface="Arial" pitchFamily="34" charset="-120"/>
              </a:rPr>
              <a:t>That evidence lets us refine capabilities, expand the successful ones, or withdraw those that do not meet expectations. We will strengthen enforcement and oversight as adoption grows.</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13A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310896" cy="310896"/>
          </a:xfrm>
          <a:prstGeom prst="rect">
            <a:avLst/>
          </a:prstGeom>
        </p:spPr>
      </p:pic>
      <p:sp>
        <p:nvSpPr>
          <p:cNvPr id="3" name="Text 0"/>
          <p:cNvSpPr txBox="1"/>
          <p:nvPr/>
        </p:nvSpPr>
        <p:spPr>
          <a:xfrm>
            <a:off x="868680" y="402336"/>
            <a:ext cx="3657600" cy="274320"/>
          </a:xfrm>
          <a:prstGeom prst="rect">
            <a:avLst/>
          </a:prstGeom>
          <a:noFill/>
          <a:ln/>
        </p:spPr>
        <p:txBody>
          <a:bodyPr wrap="square" lIns="0" tIns="0" rIns="0" bIns="0" rtlCol="0" anchor="ctr"/>
          <a:lstStyle/>
          <a:p>
            <a:pPr indent="0" marL="0">
              <a:buNone/>
            </a:pPr>
            <a:r>
              <a:rPr lang="en-US" sz="950" b="1" spc="200" kern="0" dirty="0">
                <a:solidFill>
                  <a:srgbClr val="FFFFFF"/>
                </a:solidFill>
                <a:latin typeface="Arial" pitchFamily="34" charset="0"/>
                <a:ea typeface="Arial" pitchFamily="34" charset="-122"/>
                <a:cs typeface="Arial" pitchFamily="34" charset="-120"/>
              </a:rPr>
              <a:t>KARTA CONSULTING GROUP</a:t>
            </a:r>
            <a:endParaRPr lang="en-US" sz="950" dirty="0"/>
          </a:p>
        </p:txBody>
      </p:sp>
      <p:sp>
        <p:nvSpPr>
          <p:cNvPr id="4" name="Text 1"/>
          <p:cNvSpPr txBox="1"/>
          <p:nvPr/>
        </p:nvSpPr>
        <p:spPr>
          <a:xfrm>
            <a:off x="6675120" y="402336"/>
            <a:ext cx="5029200" cy="274320"/>
          </a:xfrm>
          <a:prstGeom prst="rect">
            <a:avLst/>
          </a:prstGeom>
          <a:noFill/>
          <a:ln/>
        </p:spPr>
        <p:txBody>
          <a:bodyPr wrap="square" lIns="0" tIns="0" rIns="0" bIns="0" rtlCol="0" anchor="ctr"/>
          <a:lstStyle/>
          <a:p>
            <a:pPr algn="r" indent="0" marL="0">
              <a:buNone/>
            </a:pPr>
            <a:r>
              <a:rPr lang="en-US" sz="950" dirty="0">
                <a:solidFill>
                  <a:srgbClr val="B7C9BF"/>
                </a:solidFill>
                <a:latin typeface="Arial" pitchFamily="34" charset="0"/>
                <a:ea typeface="Arial" pitchFamily="34" charset="-122"/>
                <a:cs typeface="Arial" pitchFamily="34" charset="-120"/>
              </a:rPr>
              <a:t>Karta AI Engagement Workspace · September 12, 2026</a:t>
            </a:r>
            <a:endParaRPr lang="en-US" sz="950" dirty="0"/>
          </a:p>
        </p:txBody>
      </p:sp>
      <p:sp>
        <p:nvSpPr>
          <p:cNvPr id="5" name="Text 2"/>
          <p:cNvSpPr txBox="1"/>
          <p:nvPr/>
        </p:nvSpPr>
        <p:spPr>
          <a:xfrm>
            <a:off x="11430000" y="6355080"/>
            <a:ext cx="365760" cy="274320"/>
          </a:xfrm>
          <a:prstGeom prst="rect">
            <a:avLst/>
          </a:prstGeom>
          <a:noFill/>
          <a:ln/>
        </p:spPr>
        <p:txBody>
          <a:bodyPr wrap="square" lIns="0" tIns="0" rIns="0" bIns="0" rtlCol="0" anchor="ctr"/>
          <a:lstStyle/>
          <a:p>
            <a:pPr algn="r" indent="0" marL="0">
              <a:buNone/>
            </a:pPr>
            <a:r>
              <a:rPr lang="en-US" sz="900" dirty="0">
                <a:solidFill>
                  <a:srgbClr val="B7C9BF"/>
                </a:solidFill>
                <a:latin typeface="Arial" pitchFamily="34" charset="0"/>
                <a:ea typeface="Arial" pitchFamily="34" charset="-122"/>
                <a:cs typeface="Arial" pitchFamily="34" charset="-120"/>
              </a:rPr>
              <a:t>10</a:t>
            </a:r>
            <a:endParaRPr lang="en-US" sz="900" dirty="0"/>
          </a:p>
        </p:txBody>
      </p:sp>
      <p:sp>
        <p:nvSpPr>
          <p:cNvPr id="6" name="Text 3"/>
          <p:cNvSpPr txBox="1"/>
          <p:nvPr/>
        </p:nvSpPr>
        <p:spPr>
          <a:xfrm>
            <a:off x="457200" y="960120"/>
            <a:ext cx="11247120" cy="822960"/>
          </a:xfrm>
          <a:prstGeom prst="rect">
            <a:avLst/>
          </a:prstGeom>
          <a:noFill/>
          <a:ln/>
        </p:spPr>
        <p:txBody>
          <a:bodyPr wrap="square" lIns="0" tIns="0" rIns="0" bIns="0" rtlCol="0" anchor="t"/>
          <a:lstStyle/>
          <a:p>
            <a:pPr indent="0" marL="0">
              <a:buNone/>
            </a:pPr>
            <a:r>
              <a:rPr lang="en-US" sz="3000" b="1" dirty="0">
                <a:solidFill>
                  <a:srgbClr val="FFFFFF"/>
                </a:solidFill>
                <a:latin typeface="Arial" pitchFamily="34" charset="0"/>
                <a:ea typeface="Arial" pitchFamily="34" charset="-122"/>
                <a:cs typeface="Arial" pitchFamily="34" charset="-120"/>
              </a:rPr>
              <a:t>What makes this Karta's is how we combine AI with our delivery expertise</a:t>
            </a:r>
            <a:endParaRPr lang="en-US" sz="3000" dirty="0"/>
          </a:p>
        </p:txBody>
      </p:sp>
      <p:sp>
        <p:nvSpPr>
          <p:cNvPr id="7" name="Shape 4"/>
          <p:cNvSpPr/>
          <p:nvPr/>
        </p:nvSpPr>
        <p:spPr>
          <a:xfrm>
            <a:off x="457200" y="2011680"/>
            <a:ext cx="5577840" cy="1280160"/>
          </a:xfrm>
          <a:prstGeom prst="roundRect">
            <a:avLst>
              <a:gd name="adj" fmla="val 7143"/>
            </a:avLst>
          </a:prstGeom>
          <a:solidFill>
            <a:srgbClr val="1A4A37"/>
          </a:solidFill>
          <a:ln w="12700">
            <a:solidFill>
              <a:srgbClr val="2F6B4E"/>
            </a:solidFill>
            <a:prstDash val="solid"/>
          </a:ln>
        </p:spPr>
      </p:sp>
      <p:sp>
        <p:nvSpPr>
          <p:cNvPr id="8" name="Text 5"/>
          <p:cNvSpPr txBox="1"/>
          <p:nvPr/>
        </p:nvSpPr>
        <p:spPr>
          <a:xfrm>
            <a:off x="658368" y="2176272"/>
            <a:ext cx="5212080" cy="36576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Our methodology shapes the capabilities</a:t>
            </a:r>
            <a:endParaRPr lang="en-US" sz="1400" dirty="0"/>
          </a:p>
        </p:txBody>
      </p:sp>
      <p:sp>
        <p:nvSpPr>
          <p:cNvPr id="9" name="Text 6"/>
          <p:cNvSpPr txBox="1"/>
          <p:nvPr/>
        </p:nvSpPr>
        <p:spPr>
          <a:xfrm>
            <a:off x="658368" y="2560320"/>
            <a:ext cx="5212080" cy="685800"/>
          </a:xfrm>
          <a:prstGeom prst="rect">
            <a:avLst/>
          </a:prstGeom>
          <a:noFill/>
          <a:ln/>
        </p:spPr>
        <p:txBody>
          <a:bodyPr wrap="square" lIns="0" tIns="0" rIns="0" bIns="0" rtlCol="0" anchor="ctr"/>
          <a:lstStyle/>
          <a:p>
            <a:pPr indent="0" marL="0">
              <a:buNone/>
            </a:pPr>
            <a:r>
              <a:rPr lang="en-US" sz="1150" dirty="0">
                <a:solidFill>
                  <a:srgbClr val="D6E2DB"/>
                </a:solidFill>
                <a:latin typeface="Arial" pitchFamily="34" charset="0"/>
                <a:ea typeface="Arial" pitchFamily="34" charset="-122"/>
                <a:cs typeface="Arial" pitchFamily="34" charset="-120"/>
              </a:rPr>
              <a:t>The seven-stage lifecycle, our templates and our review practices decide how each capability works, not the other way round.</a:t>
            </a:r>
            <a:endParaRPr lang="en-US" sz="1150" dirty="0"/>
          </a:p>
        </p:txBody>
      </p:sp>
      <p:sp>
        <p:nvSpPr>
          <p:cNvPr id="10" name="Shape 7"/>
          <p:cNvSpPr/>
          <p:nvPr/>
        </p:nvSpPr>
        <p:spPr>
          <a:xfrm>
            <a:off x="6126480" y="2011680"/>
            <a:ext cx="5577840" cy="1280160"/>
          </a:xfrm>
          <a:prstGeom prst="roundRect">
            <a:avLst>
              <a:gd name="adj" fmla="val 7143"/>
            </a:avLst>
          </a:prstGeom>
          <a:solidFill>
            <a:srgbClr val="1A4A37"/>
          </a:solidFill>
          <a:ln w="12700">
            <a:solidFill>
              <a:srgbClr val="2F6B4E"/>
            </a:solidFill>
            <a:prstDash val="solid"/>
          </a:ln>
        </p:spPr>
      </p:sp>
      <p:sp>
        <p:nvSpPr>
          <p:cNvPr id="11" name="Text 8"/>
          <p:cNvSpPr txBox="1"/>
          <p:nvPr/>
        </p:nvSpPr>
        <p:spPr>
          <a:xfrm>
            <a:off x="6327648" y="2176272"/>
            <a:ext cx="5212080" cy="36576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Established systems stay authoritative</a:t>
            </a:r>
            <a:endParaRPr lang="en-US" sz="1400" dirty="0"/>
          </a:p>
        </p:txBody>
      </p:sp>
      <p:sp>
        <p:nvSpPr>
          <p:cNvPr id="12" name="Text 9"/>
          <p:cNvSpPr txBox="1"/>
          <p:nvPr/>
        </p:nvSpPr>
        <p:spPr>
          <a:xfrm>
            <a:off x="6327648" y="2560320"/>
            <a:ext cx="5212080" cy="685800"/>
          </a:xfrm>
          <a:prstGeom prst="rect">
            <a:avLst/>
          </a:prstGeom>
          <a:noFill/>
          <a:ln/>
        </p:spPr>
        <p:txBody>
          <a:bodyPr wrap="square" lIns="0" tIns="0" rIns="0" bIns="0" rtlCol="0" anchor="ctr"/>
          <a:lstStyle/>
          <a:p>
            <a:pPr indent="0" marL="0">
              <a:buNone/>
            </a:pPr>
            <a:r>
              <a:rPr lang="en-US" sz="1150" dirty="0">
                <a:solidFill>
                  <a:srgbClr val="D6E2DB"/>
                </a:solidFill>
                <a:latin typeface="Arial" pitchFamily="34" charset="0"/>
                <a:ea typeface="Arial" pitchFamily="34" charset="-122"/>
                <a:cs typeface="Arial" pitchFamily="34" charset="-120"/>
              </a:rPr>
              <a:t>Asana, SharePoint and the rest remain the record. The workspace reads them as the person looking and never becomes a competing source of truth.</a:t>
            </a:r>
            <a:endParaRPr lang="en-US" sz="1150" dirty="0"/>
          </a:p>
        </p:txBody>
      </p:sp>
      <p:sp>
        <p:nvSpPr>
          <p:cNvPr id="13" name="Shape 10"/>
          <p:cNvSpPr/>
          <p:nvPr/>
        </p:nvSpPr>
        <p:spPr>
          <a:xfrm>
            <a:off x="457200" y="3429000"/>
            <a:ext cx="5577840" cy="1280160"/>
          </a:xfrm>
          <a:prstGeom prst="roundRect">
            <a:avLst>
              <a:gd name="adj" fmla="val 7143"/>
            </a:avLst>
          </a:prstGeom>
          <a:solidFill>
            <a:srgbClr val="1A4A37"/>
          </a:solidFill>
          <a:ln w="12700">
            <a:solidFill>
              <a:srgbClr val="2F6B4E"/>
            </a:solidFill>
            <a:prstDash val="solid"/>
          </a:ln>
        </p:spPr>
      </p:sp>
      <p:sp>
        <p:nvSpPr>
          <p:cNvPr id="14" name="Text 11"/>
          <p:cNvSpPr txBox="1"/>
          <p:nvPr/>
        </p:nvSpPr>
        <p:spPr>
          <a:xfrm>
            <a:off x="658368" y="3593592"/>
            <a:ext cx="5212080" cy="36576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Missing evidence stays visible</a:t>
            </a:r>
            <a:endParaRPr lang="en-US" sz="1400" dirty="0"/>
          </a:p>
        </p:txBody>
      </p:sp>
      <p:sp>
        <p:nvSpPr>
          <p:cNvPr id="15" name="Text 12"/>
          <p:cNvSpPr txBox="1"/>
          <p:nvPr/>
        </p:nvSpPr>
        <p:spPr>
          <a:xfrm>
            <a:off x="658368" y="3977640"/>
            <a:ext cx="5212080" cy="685800"/>
          </a:xfrm>
          <a:prstGeom prst="rect">
            <a:avLst/>
          </a:prstGeom>
          <a:noFill/>
          <a:ln/>
        </p:spPr>
        <p:txBody>
          <a:bodyPr wrap="square" lIns="0" tIns="0" rIns="0" bIns="0" rtlCol="0" anchor="ctr"/>
          <a:lstStyle/>
          <a:p>
            <a:pPr indent="0" marL="0">
              <a:buNone/>
            </a:pPr>
            <a:r>
              <a:rPr lang="en-US" sz="1150" dirty="0">
                <a:solidFill>
                  <a:srgbClr val="D6E2DB"/>
                </a:solidFill>
                <a:latin typeface="Arial" pitchFamily="34" charset="0"/>
                <a:ea typeface="Arial" pitchFamily="34" charset="-122"/>
                <a:cs typeface="Arial" pitchFamily="34" charset="-120"/>
              </a:rPr>
              <a:t>Unknown is a status. A gap is recorded with the deck. Nothing defaults to good news.</a:t>
            </a:r>
            <a:endParaRPr lang="en-US" sz="1150" dirty="0"/>
          </a:p>
        </p:txBody>
      </p:sp>
      <p:sp>
        <p:nvSpPr>
          <p:cNvPr id="16" name="Shape 13"/>
          <p:cNvSpPr/>
          <p:nvPr/>
        </p:nvSpPr>
        <p:spPr>
          <a:xfrm>
            <a:off x="6126480" y="3429000"/>
            <a:ext cx="5577840" cy="1280160"/>
          </a:xfrm>
          <a:prstGeom prst="roundRect">
            <a:avLst>
              <a:gd name="adj" fmla="val 7143"/>
            </a:avLst>
          </a:prstGeom>
          <a:solidFill>
            <a:srgbClr val="1A4A37"/>
          </a:solidFill>
          <a:ln w="12700">
            <a:solidFill>
              <a:srgbClr val="2F6B4E"/>
            </a:solidFill>
            <a:prstDash val="solid"/>
          </a:ln>
        </p:spPr>
      </p:sp>
      <p:sp>
        <p:nvSpPr>
          <p:cNvPr id="17" name="Text 14"/>
          <p:cNvSpPr txBox="1"/>
          <p:nvPr/>
        </p:nvSpPr>
        <p:spPr>
          <a:xfrm>
            <a:off x="6327648" y="3593592"/>
            <a:ext cx="5212080" cy="36576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People stay accountable</a:t>
            </a:r>
            <a:endParaRPr lang="en-US" sz="1400" dirty="0"/>
          </a:p>
        </p:txBody>
      </p:sp>
      <p:sp>
        <p:nvSpPr>
          <p:cNvPr id="18" name="Text 15"/>
          <p:cNvSpPr txBox="1"/>
          <p:nvPr/>
        </p:nvSpPr>
        <p:spPr>
          <a:xfrm>
            <a:off x="6327648" y="3977640"/>
            <a:ext cx="5212080" cy="685800"/>
          </a:xfrm>
          <a:prstGeom prst="rect">
            <a:avLst/>
          </a:prstGeom>
          <a:noFill/>
          <a:ln/>
        </p:spPr>
        <p:txBody>
          <a:bodyPr wrap="square" lIns="0" tIns="0" rIns="0" bIns="0" rtlCol="0" anchor="ctr"/>
          <a:lstStyle/>
          <a:p>
            <a:pPr indent="0" marL="0">
              <a:buNone/>
            </a:pPr>
            <a:r>
              <a:rPr lang="en-US" sz="1150" dirty="0">
                <a:solidFill>
                  <a:srgbClr val="D6E2DB"/>
                </a:solidFill>
                <a:latin typeface="Arial" pitchFamily="34" charset="0"/>
                <a:ea typeface="Arial" pitchFamily="34" charset="-122"/>
                <a:cs typeface="Arial" pitchFamily="34" charset="-120"/>
              </a:rPr>
              <a:t>A named reviewer approves every client-facing output. Software produces; people decide and send.</a:t>
            </a:r>
            <a:endParaRPr lang="en-US" sz="1150" dirty="0"/>
          </a:p>
        </p:txBody>
      </p:sp>
      <p:sp>
        <p:nvSpPr>
          <p:cNvPr id="19" name="Shape 16"/>
          <p:cNvSpPr/>
          <p:nvPr/>
        </p:nvSpPr>
        <p:spPr>
          <a:xfrm>
            <a:off x="457200" y="4983480"/>
            <a:ext cx="11274552" cy="1051560"/>
          </a:xfrm>
          <a:prstGeom prst="roundRect">
            <a:avLst>
              <a:gd name="adj" fmla="val 8696"/>
            </a:avLst>
          </a:prstGeom>
          <a:solidFill>
            <a:srgbClr val="6FB08D"/>
          </a:solidFill>
          <a:ln w="12700">
            <a:solidFill>
              <a:srgbClr val="6FB08D"/>
            </a:solidFill>
            <a:prstDash val="solid"/>
          </a:ln>
        </p:spPr>
      </p:sp>
      <p:sp>
        <p:nvSpPr>
          <p:cNvPr id="20" name="Text 17"/>
          <p:cNvSpPr txBox="1"/>
          <p:nvPr/>
        </p:nvSpPr>
        <p:spPr>
          <a:xfrm>
            <a:off x="685800" y="5102352"/>
            <a:ext cx="4572000" cy="228600"/>
          </a:xfrm>
          <a:prstGeom prst="rect">
            <a:avLst/>
          </a:prstGeom>
          <a:noFill/>
          <a:ln/>
        </p:spPr>
        <p:txBody>
          <a:bodyPr wrap="square" lIns="0" tIns="0" rIns="0" bIns="0" rtlCol="0" anchor="ctr"/>
          <a:lstStyle/>
          <a:p>
            <a:pPr indent="0" marL="0">
              <a:buNone/>
            </a:pPr>
            <a:r>
              <a:rPr lang="en-US" sz="850" b="1" spc="150" kern="0" dirty="0">
                <a:solidFill>
                  <a:srgbClr val="113A2A"/>
                </a:solidFill>
                <a:latin typeface="Arial" pitchFamily="34" charset="0"/>
                <a:ea typeface="Arial" pitchFamily="34" charset="-122"/>
                <a:cs typeface="Arial" pitchFamily="34" charset="-120"/>
              </a:rPr>
              <a:t>DEVELOPING OUR CONSULTANTS</a:t>
            </a:r>
            <a:endParaRPr lang="en-US" sz="850" dirty="0"/>
          </a:p>
        </p:txBody>
      </p:sp>
      <p:sp>
        <p:nvSpPr>
          <p:cNvPr id="21" name="Text 18"/>
          <p:cNvSpPr txBox="1"/>
          <p:nvPr/>
        </p:nvSpPr>
        <p:spPr>
          <a:xfrm>
            <a:off x="685800" y="5349240"/>
            <a:ext cx="10789920" cy="640080"/>
          </a:xfrm>
          <a:prstGeom prst="rect">
            <a:avLst/>
          </a:prstGeom>
          <a:noFill/>
          <a:ln/>
        </p:spPr>
        <p:txBody>
          <a:bodyPr wrap="square" lIns="0" tIns="0" rIns="0" bIns="0" rtlCol="0" anchor="ctr"/>
          <a:lstStyle/>
          <a:p>
            <a:pPr indent="0" marL="0">
              <a:buNone/>
            </a:pPr>
            <a:r>
              <a:rPr lang="en-US" sz="1300" dirty="0">
                <a:solidFill>
                  <a:srgbClr val="113A2A"/>
                </a:solidFill>
                <a:latin typeface="Arial" pitchFamily="34" charset="0"/>
                <a:ea typeface="Arial" pitchFamily="34" charset="-122"/>
                <a:cs typeface="Arial" pitchFamily="34" charset="-120"/>
              </a:rPr>
              <a:t>Experienced colleagues turn effective practices into reusable guidance. Junior colleagues apply that guidance in real work and develop their judgment through coaching and reviewer feedback.</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310896" cy="310896"/>
          </a:xfrm>
          <a:prstGeom prst="rect">
            <a:avLst/>
          </a:prstGeom>
        </p:spPr>
      </p:pic>
      <p:sp>
        <p:nvSpPr>
          <p:cNvPr id="3" name="Text 0"/>
          <p:cNvSpPr txBox="1"/>
          <p:nvPr/>
        </p:nvSpPr>
        <p:spPr>
          <a:xfrm>
            <a:off x="868680" y="402336"/>
            <a:ext cx="3657600" cy="274320"/>
          </a:xfrm>
          <a:prstGeom prst="rect">
            <a:avLst/>
          </a:prstGeom>
          <a:noFill/>
          <a:ln/>
        </p:spPr>
        <p:txBody>
          <a:bodyPr wrap="square" lIns="0" tIns="0" rIns="0" bIns="0" rtlCol="0" anchor="ctr"/>
          <a:lstStyle/>
          <a:p>
            <a:pPr indent="0" marL="0">
              <a:buNone/>
            </a:pPr>
            <a:r>
              <a:rPr lang="en-US" sz="950" b="1" spc="200" kern="0" dirty="0">
                <a:solidFill>
                  <a:srgbClr val="113A2A"/>
                </a:solidFill>
                <a:latin typeface="Arial" pitchFamily="34" charset="0"/>
                <a:ea typeface="Arial" pitchFamily="34" charset="-122"/>
                <a:cs typeface="Arial" pitchFamily="34" charset="-120"/>
              </a:rPr>
              <a:t>KARTA CONSULTING GROUP</a:t>
            </a:r>
            <a:endParaRPr lang="en-US" sz="950" dirty="0"/>
          </a:p>
        </p:txBody>
      </p:sp>
      <p:sp>
        <p:nvSpPr>
          <p:cNvPr id="4" name="Text 1"/>
          <p:cNvSpPr txBox="1"/>
          <p:nvPr/>
        </p:nvSpPr>
        <p:spPr>
          <a:xfrm>
            <a:off x="6675120" y="402336"/>
            <a:ext cx="5029200" cy="274320"/>
          </a:xfrm>
          <a:prstGeom prst="rect">
            <a:avLst/>
          </a:prstGeom>
          <a:noFill/>
          <a:ln/>
        </p:spPr>
        <p:txBody>
          <a:bodyPr wrap="square" lIns="0" tIns="0" rIns="0" bIns="0" rtlCol="0" anchor="ctr"/>
          <a:lstStyle/>
          <a:p>
            <a:pPr algn="r" indent="0" marL="0">
              <a:buNone/>
            </a:pPr>
            <a:r>
              <a:rPr lang="en-US" sz="950" dirty="0">
                <a:solidFill>
                  <a:srgbClr val="979187"/>
                </a:solidFill>
                <a:latin typeface="Arial" pitchFamily="34" charset="0"/>
                <a:ea typeface="Arial" pitchFamily="34" charset="-122"/>
                <a:cs typeface="Arial" pitchFamily="34" charset="-120"/>
              </a:rPr>
              <a:t>Karta AI Engagement Workspace · September 12, 2026</a:t>
            </a:r>
            <a:endParaRPr lang="en-US" sz="950" dirty="0"/>
          </a:p>
        </p:txBody>
      </p:sp>
      <p:sp>
        <p:nvSpPr>
          <p:cNvPr id="5" name="Text 2"/>
          <p:cNvSpPr txBox="1"/>
          <p:nvPr/>
        </p:nvSpPr>
        <p:spPr>
          <a:xfrm>
            <a:off x="11430000" y="6355080"/>
            <a:ext cx="365760" cy="274320"/>
          </a:xfrm>
          <a:prstGeom prst="rect">
            <a:avLst/>
          </a:prstGeom>
          <a:noFill/>
          <a:ln/>
        </p:spPr>
        <p:txBody>
          <a:bodyPr wrap="square" lIns="0" tIns="0" rIns="0" bIns="0" rtlCol="0" anchor="ctr"/>
          <a:lstStyle/>
          <a:p>
            <a:pPr algn="r" indent="0" marL="0">
              <a:buNone/>
            </a:pPr>
            <a:r>
              <a:rPr lang="en-US" sz="900" dirty="0">
                <a:solidFill>
                  <a:srgbClr val="979187"/>
                </a:solidFill>
                <a:latin typeface="Arial" pitchFamily="34" charset="0"/>
                <a:ea typeface="Arial" pitchFamily="34" charset="-122"/>
                <a:cs typeface="Arial" pitchFamily="34" charset="-120"/>
              </a:rPr>
              <a:t>11</a:t>
            </a:r>
            <a:endParaRPr lang="en-US" sz="900" dirty="0"/>
          </a:p>
        </p:txBody>
      </p:sp>
      <p:sp>
        <p:nvSpPr>
          <p:cNvPr id="6" name="Text 3"/>
          <p:cNvSpPr txBox="1"/>
          <p:nvPr/>
        </p:nvSpPr>
        <p:spPr>
          <a:xfrm>
            <a:off x="457200" y="960120"/>
            <a:ext cx="11247120" cy="822960"/>
          </a:xfrm>
          <a:prstGeom prst="rect">
            <a:avLst/>
          </a:prstGeom>
          <a:noFill/>
          <a:ln/>
        </p:spPr>
        <p:txBody>
          <a:bodyPr wrap="square" lIns="0" tIns="0" rIns="0" bIns="0" rtlCol="0" anchor="t"/>
          <a:lstStyle/>
          <a:p>
            <a:pPr indent="0" marL="0">
              <a:buNone/>
            </a:pPr>
            <a:r>
              <a:rPr lang="en-US" sz="3000" b="1" dirty="0">
                <a:solidFill>
                  <a:srgbClr val="113A2A"/>
                </a:solidFill>
                <a:latin typeface="Arial" pitchFamily="34" charset="0"/>
                <a:ea typeface="Arial" pitchFamily="34" charset="-122"/>
                <a:cs typeface="Arial" pitchFamily="34" charset="-120"/>
              </a:rPr>
              <a:t>The next 90 days are about proving this works beyond the initial demonstration</a:t>
            </a:r>
            <a:endParaRPr lang="en-US" sz="3000" dirty="0"/>
          </a:p>
        </p:txBody>
      </p:sp>
      <p:sp>
        <p:nvSpPr>
          <p:cNvPr id="7" name="Shape 4"/>
          <p:cNvSpPr/>
          <p:nvPr/>
        </p:nvSpPr>
        <p:spPr>
          <a:xfrm>
            <a:off x="457200" y="1965960"/>
            <a:ext cx="3611880" cy="2057400"/>
          </a:xfrm>
          <a:prstGeom prst="roundRect">
            <a:avLst>
              <a:gd name="adj" fmla="val 4444"/>
            </a:avLst>
          </a:prstGeom>
          <a:solidFill>
            <a:srgbClr val="FFFFFF"/>
          </a:solidFill>
          <a:ln w="12700">
            <a:solidFill>
              <a:srgbClr val="E4E2DE"/>
            </a:solidFill>
            <a:prstDash val="solid"/>
          </a:ln>
        </p:spPr>
      </p:sp>
      <p:sp>
        <p:nvSpPr>
          <p:cNvPr id="8" name="Shape 5"/>
          <p:cNvSpPr/>
          <p:nvPr/>
        </p:nvSpPr>
        <p:spPr>
          <a:xfrm>
            <a:off x="658368" y="2148840"/>
            <a:ext cx="329184" cy="329184"/>
          </a:xfrm>
          <a:prstGeom prst="ellipse">
            <a:avLst/>
          </a:prstGeom>
          <a:solidFill>
            <a:srgbClr val="2A654E"/>
          </a:solidFill>
          <a:ln w="12700">
            <a:solidFill>
              <a:srgbClr val="2A654E"/>
            </a:solidFill>
            <a:prstDash val="solid"/>
          </a:ln>
        </p:spPr>
      </p:sp>
      <p:sp>
        <p:nvSpPr>
          <p:cNvPr id="9" name="Text 6"/>
          <p:cNvSpPr txBox="1"/>
          <p:nvPr/>
        </p:nvSpPr>
        <p:spPr>
          <a:xfrm>
            <a:off x="658368" y="214884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0" name="Text 7"/>
          <p:cNvSpPr txBox="1"/>
          <p:nvPr/>
        </p:nvSpPr>
        <p:spPr>
          <a:xfrm>
            <a:off x="658368" y="2587752"/>
            <a:ext cx="3209544" cy="685800"/>
          </a:xfrm>
          <a:prstGeom prst="rect">
            <a:avLst/>
          </a:prstGeom>
          <a:noFill/>
          <a:ln/>
        </p:spPr>
        <p:txBody>
          <a:bodyPr wrap="square" lIns="0" tIns="0" rIns="0" bIns="0" rtlCol="0" anchor="t"/>
          <a:lstStyle/>
          <a:p>
            <a:pPr indent="0" marL="0">
              <a:buNone/>
            </a:pPr>
            <a:r>
              <a:rPr lang="en-US" sz="1400" b="1" dirty="0">
                <a:solidFill>
                  <a:srgbClr val="113A2A"/>
                </a:solidFill>
                <a:latin typeface="Arial" pitchFamily="34" charset="0"/>
                <a:ea typeface="Arial" pitchFamily="34" charset="-122"/>
                <a:cs typeface="Arial" pitchFamily="34" charset="-120"/>
              </a:rPr>
              <a:t>Validate the two priority workflows</a:t>
            </a:r>
            <a:endParaRPr lang="en-US" sz="1400" dirty="0"/>
          </a:p>
        </p:txBody>
      </p:sp>
      <p:sp>
        <p:nvSpPr>
          <p:cNvPr id="11" name="Text 8"/>
          <p:cNvSpPr txBox="1"/>
          <p:nvPr/>
        </p:nvSpPr>
        <p:spPr>
          <a:xfrm>
            <a:off x="658368" y="3273552"/>
            <a:ext cx="3209544" cy="612648"/>
          </a:xfrm>
          <a:prstGeom prst="rect">
            <a:avLst/>
          </a:prstGeom>
          <a:noFill/>
          <a:ln/>
        </p:spPr>
        <p:txBody>
          <a:bodyPr wrap="square" lIns="0" tIns="0" rIns="0" bIns="0" rtlCol="0" anchor="t"/>
          <a:lstStyle/>
          <a:p>
            <a:pPr indent="0" marL="0">
              <a:buNone/>
            </a:pPr>
            <a:r>
              <a:rPr lang="en-US" sz="1150" dirty="0">
                <a:solidFill>
                  <a:srgbClr val="6E6961"/>
                </a:solidFill>
                <a:latin typeface="Arial" pitchFamily="34" charset="0"/>
                <a:ea typeface="Arial" pitchFamily="34" charset="-122"/>
                <a:cs typeface="Arial" pitchFamily="34" charset="-120"/>
              </a:rPr>
              <a:t>Weekly Status every week on two engagements. The Foundations Package from requirements to mockups on a live engagement.</a:t>
            </a:r>
            <a:endParaRPr lang="en-US" sz="1150" dirty="0"/>
          </a:p>
        </p:txBody>
      </p:sp>
      <p:sp>
        <p:nvSpPr>
          <p:cNvPr id="12" name="Shape 9"/>
          <p:cNvSpPr/>
          <p:nvPr/>
        </p:nvSpPr>
        <p:spPr>
          <a:xfrm>
            <a:off x="4251960" y="1965960"/>
            <a:ext cx="3611880" cy="2057400"/>
          </a:xfrm>
          <a:prstGeom prst="roundRect">
            <a:avLst>
              <a:gd name="adj" fmla="val 4444"/>
            </a:avLst>
          </a:prstGeom>
          <a:solidFill>
            <a:srgbClr val="FFFFFF"/>
          </a:solidFill>
          <a:ln w="12700">
            <a:solidFill>
              <a:srgbClr val="E4E2DE"/>
            </a:solidFill>
            <a:prstDash val="solid"/>
          </a:ln>
        </p:spPr>
      </p:sp>
      <p:sp>
        <p:nvSpPr>
          <p:cNvPr id="13" name="Shape 10"/>
          <p:cNvSpPr/>
          <p:nvPr/>
        </p:nvSpPr>
        <p:spPr>
          <a:xfrm>
            <a:off x="4453128" y="2148840"/>
            <a:ext cx="329184" cy="329184"/>
          </a:xfrm>
          <a:prstGeom prst="ellipse">
            <a:avLst/>
          </a:prstGeom>
          <a:solidFill>
            <a:srgbClr val="2A654E"/>
          </a:solidFill>
          <a:ln w="12700">
            <a:solidFill>
              <a:srgbClr val="2A654E"/>
            </a:solidFill>
            <a:prstDash val="solid"/>
          </a:ln>
        </p:spPr>
      </p:sp>
      <p:sp>
        <p:nvSpPr>
          <p:cNvPr id="14" name="Text 11"/>
          <p:cNvSpPr txBox="1"/>
          <p:nvPr/>
        </p:nvSpPr>
        <p:spPr>
          <a:xfrm>
            <a:off x="4453128" y="214884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5" name="Text 12"/>
          <p:cNvSpPr txBox="1"/>
          <p:nvPr/>
        </p:nvSpPr>
        <p:spPr>
          <a:xfrm>
            <a:off x="4453128" y="2587752"/>
            <a:ext cx="3209544" cy="685800"/>
          </a:xfrm>
          <a:prstGeom prst="rect">
            <a:avLst/>
          </a:prstGeom>
          <a:noFill/>
          <a:ln/>
        </p:spPr>
        <p:txBody>
          <a:bodyPr wrap="square" lIns="0" tIns="0" rIns="0" bIns="0" rtlCol="0" anchor="t"/>
          <a:lstStyle/>
          <a:p>
            <a:pPr indent="0" marL="0">
              <a:buNone/>
            </a:pPr>
            <a:r>
              <a:rPr lang="en-US" sz="1400" b="1" dirty="0">
                <a:solidFill>
                  <a:srgbClr val="113A2A"/>
                </a:solidFill>
                <a:latin typeface="Arial" pitchFamily="34" charset="0"/>
                <a:ea typeface="Arial" pitchFamily="34" charset="-122"/>
                <a:cs typeface="Arial" pitchFamily="34" charset="-120"/>
              </a:rPr>
              <a:t>Establish the minimum governance and operating foundation</a:t>
            </a:r>
            <a:endParaRPr lang="en-US" sz="1400" dirty="0"/>
          </a:p>
        </p:txBody>
      </p:sp>
      <p:sp>
        <p:nvSpPr>
          <p:cNvPr id="16" name="Text 13"/>
          <p:cNvSpPr txBox="1"/>
          <p:nvPr/>
        </p:nvSpPr>
        <p:spPr>
          <a:xfrm>
            <a:off x="4453128" y="3273552"/>
            <a:ext cx="3209544" cy="612648"/>
          </a:xfrm>
          <a:prstGeom prst="rect">
            <a:avLst/>
          </a:prstGeom>
          <a:noFill/>
          <a:ln/>
        </p:spPr>
        <p:txBody>
          <a:bodyPr wrap="square" lIns="0" tIns="0" rIns="0" bIns="0" rtlCol="0" anchor="t"/>
          <a:lstStyle/>
          <a:p>
            <a:pPr indent="0" marL="0">
              <a:buNone/>
            </a:pPr>
            <a:r>
              <a:rPr lang="en-US" sz="1150" dirty="0">
                <a:solidFill>
                  <a:srgbClr val="6E6961"/>
                </a:solidFill>
                <a:latin typeface="Arial" pitchFamily="34" charset="0"/>
                <a:ea typeface="Arial" pitchFamily="34" charset="-122"/>
                <a:cs typeface="Arial" pitchFamily="34" charset="-120"/>
              </a:rPr>
              <a:t>The capability pipeline, owners and readiness labels in the catalog, the stand-up and onboarding processes, Karta-owned code and hosting.</a:t>
            </a:r>
            <a:endParaRPr lang="en-US" sz="1150" dirty="0"/>
          </a:p>
        </p:txBody>
      </p:sp>
      <p:sp>
        <p:nvSpPr>
          <p:cNvPr id="17" name="Shape 14"/>
          <p:cNvSpPr/>
          <p:nvPr/>
        </p:nvSpPr>
        <p:spPr>
          <a:xfrm>
            <a:off x="8046720" y="1965960"/>
            <a:ext cx="3611880" cy="2057400"/>
          </a:xfrm>
          <a:prstGeom prst="roundRect">
            <a:avLst>
              <a:gd name="adj" fmla="val 4444"/>
            </a:avLst>
          </a:prstGeom>
          <a:solidFill>
            <a:srgbClr val="FFFFFF"/>
          </a:solidFill>
          <a:ln w="12700">
            <a:solidFill>
              <a:srgbClr val="E4E2DE"/>
            </a:solidFill>
            <a:prstDash val="solid"/>
          </a:ln>
        </p:spPr>
      </p:sp>
      <p:sp>
        <p:nvSpPr>
          <p:cNvPr id="18" name="Shape 15"/>
          <p:cNvSpPr/>
          <p:nvPr/>
        </p:nvSpPr>
        <p:spPr>
          <a:xfrm>
            <a:off x="8247888" y="2148840"/>
            <a:ext cx="329184" cy="329184"/>
          </a:xfrm>
          <a:prstGeom prst="ellipse">
            <a:avLst/>
          </a:prstGeom>
          <a:solidFill>
            <a:srgbClr val="2A654E"/>
          </a:solidFill>
          <a:ln w="12700">
            <a:solidFill>
              <a:srgbClr val="2A654E"/>
            </a:solidFill>
            <a:prstDash val="solid"/>
          </a:ln>
        </p:spPr>
      </p:sp>
      <p:sp>
        <p:nvSpPr>
          <p:cNvPr id="19" name="Text 16"/>
          <p:cNvSpPr txBox="1"/>
          <p:nvPr/>
        </p:nvSpPr>
        <p:spPr>
          <a:xfrm>
            <a:off x="8247888" y="214884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0" name="Text 17"/>
          <p:cNvSpPr txBox="1"/>
          <p:nvPr/>
        </p:nvSpPr>
        <p:spPr>
          <a:xfrm>
            <a:off x="8247888" y="2587752"/>
            <a:ext cx="3209544" cy="685800"/>
          </a:xfrm>
          <a:prstGeom prst="rect">
            <a:avLst/>
          </a:prstGeom>
          <a:noFill/>
          <a:ln/>
        </p:spPr>
        <p:txBody>
          <a:bodyPr wrap="square" lIns="0" tIns="0" rIns="0" bIns="0" rtlCol="0" anchor="t"/>
          <a:lstStyle/>
          <a:p>
            <a:pPr indent="0" marL="0">
              <a:buNone/>
            </a:pPr>
            <a:r>
              <a:rPr lang="en-US" sz="1400" b="1" dirty="0">
                <a:solidFill>
                  <a:srgbClr val="113A2A"/>
                </a:solidFill>
                <a:latin typeface="Arial" pitchFamily="34" charset="0"/>
                <a:ea typeface="Arial" pitchFamily="34" charset="-122"/>
                <a:cs typeface="Arial" pitchFamily="34" charset="-120"/>
              </a:rPr>
              <a:t>Develop practitioner capability through participation</a:t>
            </a:r>
            <a:endParaRPr lang="en-US" sz="1400" dirty="0"/>
          </a:p>
        </p:txBody>
      </p:sp>
      <p:sp>
        <p:nvSpPr>
          <p:cNvPr id="21" name="Text 18"/>
          <p:cNvSpPr txBox="1"/>
          <p:nvPr/>
        </p:nvSpPr>
        <p:spPr>
          <a:xfrm>
            <a:off x="8247888" y="3273552"/>
            <a:ext cx="3209544" cy="612648"/>
          </a:xfrm>
          <a:prstGeom prst="rect">
            <a:avLst/>
          </a:prstGeom>
          <a:noFill/>
          <a:ln/>
        </p:spPr>
        <p:txBody>
          <a:bodyPr wrap="square" lIns="0" tIns="0" rIns="0" bIns="0" rtlCol="0" anchor="t"/>
          <a:lstStyle/>
          <a:p>
            <a:pPr indent="0" marL="0">
              <a:buNone/>
            </a:pPr>
            <a:r>
              <a:rPr lang="en-US" sz="1150" dirty="0">
                <a:solidFill>
                  <a:srgbClr val="6E6961"/>
                </a:solidFill>
                <a:latin typeface="Arial" pitchFamily="34" charset="0"/>
                <a:ea typeface="Arial" pitchFamily="34" charset="-122"/>
                <a:cs typeface="Arial" pitchFamily="34" charset="-120"/>
              </a:rPr>
              <a:t>Consultants run the workflows, correct the drafts, and their corrections shape the next version.</a:t>
            </a:r>
            <a:endParaRPr lang="en-US" sz="1150" dirty="0"/>
          </a:p>
        </p:txBody>
      </p:sp>
      <p:sp>
        <p:nvSpPr>
          <p:cNvPr id="22" name="Text 19"/>
          <p:cNvSpPr txBox="1"/>
          <p:nvPr/>
        </p:nvSpPr>
        <p:spPr>
          <a:xfrm>
            <a:off x="457200" y="4251960"/>
            <a:ext cx="5486400" cy="201168"/>
          </a:xfrm>
          <a:prstGeom prst="rect">
            <a:avLst/>
          </a:prstGeom>
          <a:noFill/>
          <a:ln/>
        </p:spPr>
        <p:txBody>
          <a:bodyPr wrap="square" lIns="0" tIns="0" rIns="0" bIns="0" rtlCol="0" anchor="ctr"/>
          <a:lstStyle/>
          <a:p>
            <a:pPr indent="0" marL="0">
              <a:buNone/>
            </a:pPr>
            <a:r>
              <a:rPr lang="en-US" sz="850" b="1" spc="150" kern="0" dirty="0">
                <a:solidFill>
                  <a:srgbClr val="2A654E"/>
                </a:solidFill>
                <a:latin typeface="Arial" pitchFamily="34" charset="0"/>
                <a:ea typeface="Arial" pitchFamily="34" charset="-122"/>
                <a:cs typeface="Arial" pitchFamily="34" charset="-120"/>
              </a:rPr>
              <a:t>WHAT WE WILL MEASURE</a:t>
            </a:r>
            <a:endParaRPr lang="en-US" sz="850" dirty="0"/>
          </a:p>
        </p:txBody>
      </p:sp>
      <p:sp>
        <p:nvSpPr>
          <p:cNvPr id="23" name="Shape 20"/>
          <p:cNvSpPr/>
          <p:nvPr/>
        </p:nvSpPr>
        <p:spPr>
          <a:xfrm>
            <a:off x="457200" y="4498848"/>
            <a:ext cx="2651760" cy="1051560"/>
          </a:xfrm>
          <a:prstGeom prst="roundRect">
            <a:avLst>
              <a:gd name="adj" fmla="val 6957"/>
            </a:avLst>
          </a:prstGeom>
          <a:solidFill>
            <a:srgbClr val="EAF1ED"/>
          </a:solidFill>
          <a:ln w="12700">
            <a:solidFill>
              <a:srgbClr val="2A654E"/>
            </a:solidFill>
            <a:prstDash val="solid"/>
          </a:ln>
        </p:spPr>
      </p:sp>
      <p:sp>
        <p:nvSpPr>
          <p:cNvPr id="24" name="Text 21"/>
          <p:cNvSpPr txBox="1"/>
          <p:nvPr/>
        </p:nvSpPr>
        <p:spPr>
          <a:xfrm>
            <a:off x="621792" y="4599432"/>
            <a:ext cx="2331720" cy="365760"/>
          </a:xfrm>
          <a:prstGeom prst="rect">
            <a:avLst/>
          </a:prstGeom>
          <a:noFill/>
          <a:ln/>
        </p:spPr>
        <p:txBody>
          <a:bodyPr wrap="square" lIns="0" tIns="0" rIns="0" bIns="0" rtlCol="0" anchor="ctr"/>
          <a:lstStyle/>
          <a:p>
            <a:pPr indent="0" marL="0">
              <a:buNone/>
            </a:pPr>
            <a:r>
              <a:rPr lang="en-US" sz="1350" b="1" dirty="0">
                <a:solidFill>
                  <a:srgbClr val="113A2A"/>
                </a:solidFill>
                <a:latin typeface="Arial" pitchFamily="34" charset="0"/>
                <a:ea typeface="Arial" pitchFamily="34" charset="-122"/>
                <a:cs typeface="Arial" pitchFamily="34" charset="-120"/>
              </a:rPr>
              <a:t>Preparation effort</a:t>
            </a:r>
            <a:endParaRPr lang="en-US" sz="1350" dirty="0"/>
          </a:p>
        </p:txBody>
      </p:sp>
      <p:sp>
        <p:nvSpPr>
          <p:cNvPr id="25" name="Text 22"/>
          <p:cNvSpPr txBox="1"/>
          <p:nvPr/>
        </p:nvSpPr>
        <p:spPr>
          <a:xfrm>
            <a:off x="621792" y="4983480"/>
            <a:ext cx="2331720" cy="502920"/>
          </a:xfrm>
          <a:prstGeom prst="rect">
            <a:avLst/>
          </a:prstGeom>
          <a:noFill/>
          <a:ln/>
        </p:spPr>
        <p:txBody>
          <a:bodyPr wrap="square" lIns="0" tIns="0" rIns="0" bIns="0" rtlCol="0" anchor="ctr"/>
          <a:lstStyle/>
          <a:p>
            <a:pPr indent="0" marL="0">
              <a:buNone/>
            </a:pPr>
            <a:r>
              <a:rPr lang="en-US" sz="1100" dirty="0">
                <a:solidFill>
                  <a:srgbClr val="6E6961"/>
                </a:solidFill>
                <a:latin typeface="Arial" pitchFamily="34" charset="0"/>
                <a:ea typeface="Arial" pitchFamily="34" charset="-122"/>
                <a:cs typeface="Arial" pitchFamily="34" charset="-120"/>
              </a:rPr>
              <a:t>minutes from draft to approval</a:t>
            </a:r>
            <a:endParaRPr lang="en-US" sz="1100" dirty="0"/>
          </a:p>
        </p:txBody>
      </p:sp>
      <p:sp>
        <p:nvSpPr>
          <p:cNvPr id="26" name="Shape 23"/>
          <p:cNvSpPr/>
          <p:nvPr/>
        </p:nvSpPr>
        <p:spPr>
          <a:xfrm>
            <a:off x="3291840" y="4498848"/>
            <a:ext cx="2651760" cy="1051560"/>
          </a:xfrm>
          <a:prstGeom prst="roundRect">
            <a:avLst>
              <a:gd name="adj" fmla="val 6957"/>
            </a:avLst>
          </a:prstGeom>
          <a:solidFill>
            <a:srgbClr val="EAF1ED"/>
          </a:solidFill>
          <a:ln w="12700">
            <a:solidFill>
              <a:srgbClr val="2A654E"/>
            </a:solidFill>
            <a:prstDash val="solid"/>
          </a:ln>
        </p:spPr>
      </p:sp>
      <p:sp>
        <p:nvSpPr>
          <p:cNvPr id="27" name="Text 24"/>
          <p:cNvSpPr txBox="1"/>
          <p:nvPr/>
        </p:nvSpPr>
        <p:spPr>
          <a:xfrm>
            <a:off x="3456432" y="4599432"/>
            <a:ext cx="2331720" cy="365760"/>
          </a:xfrm>
          <a:prstGeom prst="rect">
            <a:avLst/>
          </a:prstGeom>
          <a:noFill/>
          <a:ln/>
        </p:spPr>
        <p:txBody>
          <a:bodyPr wrap="square" lIns="0" tIns="0" rIns="0" bIns="0" rtlCol="0" anchor="ctr"/>
          <a:lstStyle/>
          <a:p>
            <a:pPr indent="0" marL="0">
              <a:buNone/>
            </a:pPr>
            <a:r>
              <a:rPr lang="en-US" sz="1350" b="1" dirty="0">
                <a:solidFill>
                  <a:srgbClr val="113A2A"/>
                </a:solidFill>
                <a:latin typeface="Arial" pitchFamily="34" charset="0"/>
                <a:ea typeface="Arial" pitchFamily="34" charset="-122"/>
                <a:cs typeface="Arial" pitchFamily="34" charset="-120"/>
              </a:rPr>
              <a:t>Output quality</a:t>
            </a:r>
            <a:endParaRPr lang="en-US" sz="1350" dirty="0"/>
          </a:p>
        </p:txBody>
      </p:sp>
      <p:sp>
        <p:nvSpPr>
          <p:cNvPr id="28" name="Text 25"/>
          <p:cNvSpPr txBox="1"/>
          <p:nvPr/>
        </p:nvSpPr>
        <p:spPr>
          <a:xfrm>
            <a:off x="3456432" y="4983480"/>
            <a:ext cx="2331720" cy="502920"/>
          </a:xfrm>
          <a:prstGeom prst="rect">
            <a:avLst/>
          </a:prstGeom>
          <a:noFill/>
          <a:ln/>
        </p:spPr>
        <p:txBody>
          <a:bodyPr wrap="square" lIns="0" tIns="0" rIns="0" bIns="0" rtlCol="0" anchor="ctr"/>
          <a:lstStyle/>
          <a:p>
            <a:pPr indent="0" marL="0">
              <a:buNone/>
            </a:pPr>
            <a:r>
              <a:rPr lang="en-US" sz="1100" dirty="0">
                <a:solidFill>
                  <a:srgbClr val="6E6961"/>
                </a:solidFill>
                <a:latin typeface="Arial" pitchFamily="34" charset="0"/>
                <a:ea typeface="Arial" pitchFamily="34" charset="-122"/>
                <a:cs typeface="Arial" pitchFamily="34" charset="-120"/>
              </a:rPr>
              <a:t>errors found after approval</a:t>
            </a:r>
            <a:endParaRPr lang="en-US" sz="1100" dirty="0"/>
          </a:p>
        </p:txBody>
      </p:sp>
      <p:sp>
        <p:nvSpPr>
          <p:cNvPr id="29" name="Shape 26"/>
          <p:cNvSpPr/>
          <p:nvPr/>
        </p:nvSpPr>
        <p:spPr>
          <a:xfrm>
            <a:off x="6126480" y="4498848"/>
            <a:ext cx="2651760" cy="1051560"/>
          </a:xfrm>
          <a:prstGeom prst="roundRect">
            <a:avLst>
              <a:gd name="adj" fmla="val 6957"/>
            </a:avLst>
          </a:prstGeom>
          <a:solidFill>
            <a:srgbClr val="EAF1ED"/>
          </a:solidFill>
          <a:ln w="12700">
            <a:solidFill>
              <a:srgbClr val="2A654E"/>
            </a:solidFill>
            <a:prstDash val="solid"/>
          </a:ln>
        </p:spPr>
      </p:sp>
      <p:sp>
        <p:nvSpPr>
          <p:cNvPr id="30" name="Text 27"/>
          <p:cNvSpPr txBox="1"/>
          <p:nvPr/>
        </p:nvSpPr>
        <p:spPr>
          <a:xfrm>
            <a:off x="6291072" y="4599432"/>
            <a:ext cx="2331720" cy="365760"/>
          </a:xfrm>
          <a:prstGeom prst="rect">
            <a:avLst/>
          </a:prstGeom>
          <a:noFill/>
          <a:ln/>
        </p:spPr>
        <p:txBody>
          <a:bodyPr wrap="square" lIns="0" tIns="0" rIns="0" bIns="0" rtlCol="0" anchor="ctr"/>
          <a:lstStyle/>
          <a:p>
            <a:pPr indent="0" marL="0">
              <a:buNone/>
            </a:pPr>
            <a:r>
              <a:rPr lang="en-US" sz="1350" b="1" dirty="0">
                <a:solidFill>
                  <a:srgbClr val="113A2A"/>
                </a:solidFill>
                <a:latin typeface="Arial" pitchFamily="34" charset="0"/>
                <a:ea typeface="Arial" pitchFamily="34" charset="-122"/>
                <a:cs typeface="Arial" pitchFamily="34" charset="-120"/>
              </a:rPr>
              <a:t>Corrections</a:t>
            </a:r>
            <a:endParaRPr lang="en-US" sz="1350" dirty="0"/>
          </a:p>
        </p:txBody>
      </p:sp>
      <p:sp>
        <p:nvSpPr>
          <p:cNvPr id="31" name="Text 28"/>
          <p:cNvSpPr txBox="1"/>
          <p:nvPr/>
        </p:nvSpPr>
        <p:spPr>
          <a:xfrm>
            <a:off x="6291072" y="4983480"/>
            <a:ext cx="2331720" cy="502920"/>
          </a:xfrm>
          <a:prstGeom prst="rect">
            <a:avLst/>
          </a:prstGeom>
          <a:noFill/>
          <a:ln/>
        </p:spPr>
        <p:txBody>
          <a:bodyPr wrap="square" lIns="0" tIns="0" rIns="0" bIns="0" rtlCol="0" anchor="ctr"/>
          <a:lstStyle/>
          <a:p>
            <a:pPr indent="0" marL="0">
              <a:buNone/>
            </a:pPr>
            <a:r>
              <a:rPr lang="en-US" sz="1100" dirty="0">
                <a:solidFill>
                  <a:srgbClr val="6E6961"/>
                </a:solidFill>
                <a:latin typeface="Arial" pitchFamily="34" charset="0"/>
                <a:ea typeface="Arial" pitchFamily="34" charset="-122"/>
                <a:cs typeface="Arial" pitchFamily="34" charset="-120"/>
              </a:rPr>
              <a:t>how much of the draft a reviewer changed</a:t>
            </a:r>
            <a:endParaRPr lang="en-US" sz="1100" dirty="0"/>
          </a:p>
        </p:txBody>
      </p:sp>
      <p:sp>
        <p:nvSpPr>
          <p:cNvPr id="32" name="Shape 29"/>
          <p:cNvSpPr/>
          <p:nvPr/>
        </p:nvSpPr>
        <p:spPr>
          <a:xfrm>
            <a:off x="8961120" y="4498848"/>
            <a:ext cx="2651760" cy="1051560"/>
          </a:xfrm>
          <a:prstGeom prst="roundRect">
            <a:avLst>
              <a:gd name="adj" fmla="val 6957"/>
            </a:avLst>
          </a:prstGeom>
          <a:solidFill>
            <a:srgbClr val="EAF1ED"/>
          </a:solidFill>
          <a:ln w="12700">
            <a:solidFill>
              <a:srgbClr val="2A654E"/>
            </a:solidFill>
            <a:prstDash val="solid"/>
          </a:ln>
        </p:spPr>
      </p:sp>
      <p:sp>
        <p:nvSpPr>
          <p:cNvPr id="33" name="Text 30"/>
          <p:cNvSpPr txBox="1"/>
          <p:nvPr/>
        </p:nvSpPr>
        <p:spPr>
          <a:xfrm>
            <a:off x="9125712" y="4599432"/>
            <a:ext cx="2331720" cy="365760"/>
          </a:xfrm>
          <a:prstGeom prst="rect">
            <a:avLst/>
          </a:prstGeom>
          <a:noFill/>
          <a:ln/>
        </p:spPr>
        <p:txBody>
          <a:bodyPr wrap="square" lIns="0" tIns="0" rIns="0" bIns="0" rtlCol="0" anchor="ctr"/>
          <a:lstStyle/>
          <a:p>
            <a:pPr indent="0" marL="0">
              <a:buNone/>
            </a:pPr>
            <a:r>
              <a:rPr lang="en-US" sz="1350" b="1" dirty="0">
                <a:solidFill>
                  <a:srgbClr val="113A2A"/>
                </a:solidFill>
                <a:latin typeface="Arial" pitchFamily="34" charset="0"/>
                <a:ea typeface="Arial" pitchFamily="34" charset="-122"/>
                <a:cs typeface="Arial" pitchFamily="34" charset="-120"/>
              </a:rPr>
              <a:t>Sustained use</a:t>
            </a:r>
            <a:endParaRPr lang="en-US" sz="1350" dirty="0"/>
          </a:p>
        </p:txBody>
      </p:sp>
      <p:sp>
        <p:nvSpPr>
          <p:cNvPr id="34" name="Text 31"/>
          <p:cNvSpPr txBox="1"/>
          <p:nvPr/>
        </p:nvSpPr>
        <p:spPr>
          <a:xfrm>
            <a:off x="9125712" y="4983480"/>
            <a:ext cx="2331720" cy="502920"/>
          </a:xfrm>
          <a:prstGeom prst="rect">
            <a:avLst/>
          </a:prstGeom>
          <a:noFill/>
          <a:ln/>
        </p:spPr>
        <p:txBody>
          <a:bodyPr wrap="square" lIns="0" tIns="0" rIns="0" bIns="0" rtlCol="0" anchor="ctr"/>
          <a:lstStyle/>
          <a:p>
            <a:pPr indent="0" marL="0">
              <a:buNone/>
            </a:pPr>
            <a:r>
              <a:rPr lang="en-US" sz="1100" dirty="0">
                <a:solidFill>
                  <a:srgbClr val="6E6961"/>
                </a:solidFill>
                <a:latin typeface="Arial" pitchFamily="34" charset="0"/>
                <a:ea typeface="Arial" pitchFamily="34" charset="-122"/>
                <a:cs typeface="Arial" pitchFamily="34" charset="-120"/>
              </a:rPr>
              <a:t>approvals and distinct reviewers, week over week</a:t>
            </a:r>
            <a:endParaRPr lang="en-US" sz="1100" dirty="0"/>
          </a:p>
        </p:txBody>
      </p:sp>
      <p:sp>
        <p:nvSpPr>
          <p:cNvPr id="35" name="Text 32"/>
          <p:cNvSpPr txBox="1"/>
          <p:nvPr/>
        </p:nvSpPr>
        <p:spPr>
          <a:xfrm>
            <a:off x="457200" y="5715000"/>
            <a:ext cx="11274552" cy="411480"/>
          </a:xfrm>
          <a:prstGeom prst="rect">
            <a:avLst/>
          </a:prstGeom>
          <a:noFill/>
          <a:ln/>
        </p:spPr>
        <p:txBody>
          <a:bodyPr wrap="square" lIns="0" tIns="0" rIns="0" bIns="0" rtlCol="0" anchor="ctr"/>
          <a:lstStyle/>
          <a:p>
            <a:pPr indent="0" marL="0">
              <a:buNone/>
            </a:pPr>
            <a:r>
              <a:rPr lang="en-US" sz="1250" i="1" dirty="0">
                <a:solidFill>
                  <a:srgbClr val="6E6961"/>
                </a:solidFill>
                <a:latin typeface="Arial" pitchFamily="34" charset="0"/>
                <a:ea typeface="Arial" pitchFamily="34" charset="-122"/>
                <a:cs typeface="Arial" pitchFamily="34" charset="-120"/>
              </a:rPr>
              <a:t>Those results tell us what to scale, what to change, and where to focus next. The workspace records them automatically; nobody keeps a spreadsheet.</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13A2A"/>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310896" cy="310896"/>
          </a:xfrm>
          <a:prstGeom prst="rect">
            <a:avLst/>
          </a:prstGeom>
        </p:spPr>
      </p:pic>
      <p:sp>
        <p:nvSpPr>
          <p:cNvPr id="3" name="Text 0"/>
          <p:cNvSpPr txBox="1"/>
          <p:nvPr/>
        </p:nvSpPr>
        <p:spPr>
          <a:xfrm>
            <a:off x="868680" y="402336"/>
            <a:ext cx="3657600" cy="274320"/>
          </a:xfrm>
          <a:prstGeom prst="rect">
            <a:avLst/>
          </a:prstGeom>
          <a:noFill/>
          <a:ln/>
        </p:spPr>
        <p:txBody>
          <a:bodyPr wrap="square" lIns="0" tIns="0" rIns="0" bIns="0" rtlCol="0" anchor="ctr"/>
          <a:lstStyle/>
          <a:p>
            <a:pPr indent="0" marL="0">
              <a:buNone/>
            </a:pPr>
            <a:r>
              <a:rPr lang="en-US" sz="950" b="1" spc="200" kern="0" dirty="0">
                <a:solidFill>
                  <a:srgbClr val="FFFFFF"/>
                </a:solidFill>
                <a:latin typeface="Arial" pitchFamily="34" charset="0"/>
                <a:ea typeface="Arial" pitchFamily="34" charset="-122"/>
                <a:cs typeface="Arial" pitchFamily="34" charset="-120"/>
              </a:rPr>
              <a:t>KARTA CONSULTING GROUP</a:t>
            </a:r>
            <a:endParaRPr lang="en-US" sz="950" dirty="0"/>
          </a:p>
        </p:txBody>
      </p:sp>
      <p:sp>
        <p:nvSpPr>
          <p:cNvPr id="4" name="Text 1"/>
          <p:cNvSpPr txBox="1"/>
          <p:nvPr/>
        </p:nvSpPr>
        <p:spPr>
          <a:xfrm>
            <a:off x="6675120" y="402336"/>
            <a:ext cx="5029200" cy="274320"/>
          </a:xfrm>
          <a:prstGeom prst="rect">
            <a:avLst/>
          </a:prstGeom>
          <a:noFill/>
          <a:ln/>
        </p:spPr>
        <p:txBody>
          <a:bodyPr wrap="square" lIns="0" tIns="0" rIns="0" bIns="0" rtlCol="0" anchor="ctr"/>
          <a:lstStyle/>
          <a:p>
            <a:pPr algn="r" indent="0" marL="0">
              <a:buNone/>
            </a:pPr>
            <a:r>
              <a:rPr lang="en-US" sz="950" dirty="0">
                <a:solidFill>
                  <a:srgbClr val="B7C9BF"/>
                </a:solidFill>
                <a:latin typeface="Arial" pitchFamily="34" charset="0"/>
                <a:ea typeface="Arial" pitchFamily="34" charset="-122"/>
                <a:cs typeface="Arial" pitchFamily="34" charset="-120"/>
              </a:rPr>
              <a:t>Karta AI Engagement Workspace · September 12, 2026</a:t>
            </a:r>
            <a:endParaRPr lang="en-US" sz="950" dirty="0"/>
          </a:p>
        </p:txBody>
      </p:sp>
      <p:sp>
        <p:nvSpPr>
          <p:cNvPr id="5" name="Text 2"/>
          <p:cNvSpPr txBox="1"/>
          <p:nvPr/>
        </p:nvSpPr>
        <p:spPr>
          <a:xfrm>
            <a:off x="11430000" y="6355080"/>
            <a:ext cx="365760" cy="274320"/>
          </a:xfrm>
          <a:prstGeom prst="rect">
            <a:avLst/>
          </a:prstGeom>
          <a:noFill/>
          <a:ln/>
        </p:spPr>
        <p:txBody>
          <a:bodyPr wrap="square" lIns="0" tIns="0" rIns="0" bIns="0" rtlCol="0" anchor="ctr"/>
          <a:lstStyle/>
          <a:p>
            <a:pPr algn="r" indent="0" marL="0">
              <a:buNone/>
            </a:pPr>
            <a:r>
              <a:rPr lang="en-US" sz="900" dirty="0">
                <a:solidFill>
                  <a:srgbClr val="B7C9BF"/>
                </a:solidFill>
                <a:latin typeface="Arial" pitchFamily="34" charset="0"/>
                <a:ea typeface="Arial" pitchFamily="34" charset="-122"/>
                <a:cs typeface="Arial" pitchFamily="34" charset="-120"/>
              </a:rPr>
              <a:t>12</a:t>
            </a:r>
            <a:endParaRPr lang="en-US" sz="900" dirty="0"/>
          </a:p>
        </p:txBody>
      </p:sp>
      <p:sp>
        <p:nvSpPr>
          <p:cNvPr id="6" name="Text 3"/>
          <p:cNvSpPr txBox="1"/>
          <p:nvPr/>
        </p:nvSpPr>
        <p:spPr>
          <a:xfrm>
            <a:off x="457200" y="1920240"/>
            <a:ext cx="11247120" cy="1463040"/>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A common place for our consultants to apply AI.</a:t>
            </a:r>
            <a:endParaRPr lang="en-US" sz="2800" dirty="0"/>
          </a:p>
          <a:p>
            <a:pPr indent="0" marL="0">
              <a:buNone/>
            </a:pPr>
            <a:r>
              <a:rPr lang="en-US" sz="2800" b="1" dirty="0">
                <a:solidFill>
                  <a:srgbClr val="FFFFFF"/>
                </a:solidFill>
                <a:latin typeface="Arial" pitchFamily="34" charset="0"/>
                <a:ea typeface="Arial" pitchFamily="34" charset="-122"/>
                <a:cs typeface="Arial" pitchFamily="34" charset="-120"/>
              </a:rPr>
              <a:t>A consistent way for Karta to introduce, govern and improve it.</a:t>
            </a:r>
            <a:endParaRPr lang="en-US" sz="2800" dirty="0"/>
          </a:p>
        </p:txBody>
      </p:sp>
      <p:sp>
        <p:nvSpPr>
          <p:cNvPr id="7" name="Text 4"/>
          <p:cNvSpPr txBox="1"/>
          <p:nvPr/>
        </p:nvSpPr>
        <p:spPr>
          <a:xfrm>
            <a:off x="457200" y="3566160"/>
            <a:ext cx="9601200" cy="822960"/>
          </a:xfrm>
          <a:prstGeom prst="rect">
            <a:avLst/>
          </a:prstGeom>
          <a:noFill/>
          <a:ln/>
        </p:spPr>
        <p:txBody>
          <a:bodyPr wrap="square" lIns="0" tIns="0" rIns="0" bIns="0" rtlCol="0" anchor="ctr"/>
          <a:lstStyle/>
          <a:p>
            <a:pPr indent="0" marL="0">
              <a:buNone/>
            </a:pPr>
            <a:r>
              <a:rPr lang="en-US" sz="1700" dirty="0">
                <a:solidFill>
                  <a:srgbClr val="D6E2DB"/>
                </a:solidFill>
                <a:latin typeface="Arial" pitchFamily="34" charset="0"/>
                <a:ea typeface="Arial" pitchFamily="34" charset="-122"/>
                <a:cs typeface="Arial" pitchFamily="34" charset="-120"/>
              </a:rPr>
              <a:t>Our ambition is for every engagement to benefit from Karta's collective expertise, supported by AI and accountable human judgment.</a:t>
            </a:r>
            <a:endParaRPr lang="en-US" sz="1700" dirty="0"/>
          </a:p>
        </p:txBody>
      </p:sp>
      <p:sp>
        <p:nvSpPr>
          <p:cNvPr id="8" name="Text 5"/>
          <p:cNvSpPr txBox="1"/>
          <p:nvPr/>
        </p:nvSpPr>
        <p:spPr>
          <a:xfrm>
            <a:off x="457200" y="4754880"/>
            <a:ext cx="3657600" cy="228600"/>
          </a:xfrm>
          <a:prstGeom prst="rect">
            <a:avLst/>
          </a:prstGeom>
          <a:noFill/>
          <a:ln/>
        </p:spPr>
        <p:txBody>
          <a:bodyPr wrap="square" lIns="0" tIns="0" rIns="0" bIns="0" rtlCol="0" anchor="ctr"/>
          <a:lstStyle/>
          <a:p>
            <a:pPr indent="0" marL="0">
              <a:buNone/>
            </a:pPr>
            <a:r>
              <a:rPr lang="en-US" sz="850" b="1" spc="150" kern="0" dirty="0">
                <a:solidFill>
                  <a:srgbClr val="6FB08D"/>
                </a:solidFill>
                <a:latin typeface="Arial" pitchFamily="34" charset="0"/>
                <a:ea typeface="Arial" pitchFamily="34" charset="-122"/>
                <a:cs typeface="Arial" pitchFamily="34" charset="-120"/>
              </a:rPr>
              <a:t>THIS MONTH</a:t>
            </a:r>
            <a:endParaRPr lang="en-US" sz="850" dirty="0"/>
          </a:p>
        </p:txBody>
      </p:sp>
      <p:sp>
        <p:nvSpPr>
          <p:cNvPr id="9" name="Text 6"/>
          <p:cNvSpPr txBox="1"/>
          <p:nvPr/>
        </p:nvSpPr>
        <p:spPr>
          <a:xfrm>
            <a:off x="457200" y="4983480"/>
            <a:ext cx="10972800" cy="1097280"/>
          </a:xfrm>
          <a:prstGeom prst="rect">
            <a:avLst/>
          </a:prstGeom>
          <a:noFill/>
          <a:ln/>
        </p:spPr>
        <p:txBody>
          <a:bodyPr wrap="square" rtlCol="0" anchor="t"/>
          <a:lstStyle/>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Weekly Status every week on Legend and the second engagement</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IT consent, so decks save to SharePoint on their own and new members connect without a prompt</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Karta-owned GitHub and Google Cloud accounts, approved September 9, set up with Marianna</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2026-09-10T21:55:12Z</dcterms:created>
  <dcterms:modified xsi:type="dcterms:W3CDTF">2026-09-10T21:55:12Z</dcterms:modified>
</cp:coreProperties>
</file>